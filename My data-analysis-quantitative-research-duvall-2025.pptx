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60"/>
  </p:notesMasterIdLst>
  <p:sldIdLst>
    <p:sldId id="309" r:id="rId2"/>
    <p:sldId id="310" r:id="rId3"/>
    <p:sldId id="312" r:id="rId4"/>
    <p:sldId id="313" r:id="rId5"/>
    <p:sldId id="314" r:id="rId6"/>
    <p:sldId id="315" r:id="rId7"/>
    <p:sldId id="317" r:id="rId8"/>
    <p:sldId id="316" r:id="rId9"/>
    <p:sldId id="318" r:id="rId10"/>
    <p:sldId id="319" r:id="rId11"/>
    <p:sldId id="321" r:id="rId12"/>
    <p:sldId id="262" r:id="rId13"/>
    <p:sldId id="323" r:id="rId14"/>
    <p:sldId id="322" r:id="rId15"/>
    <p:sldId id="324" r:id="rId16"/>
    <p:sldId id="349" r:id="rId17"/>
    <p:sldId id="351" r:id="rId18"/>
    <p:sldId id="352" r:id="rId19"/>
    <p:sldId id="353" r:id="rId20"/>
    <p:sldId id="354" r:id="rId21"/>
    <p:sldId id="355" r:id="rId22"/>
    <p:sldId id="356" r:id="rId23"/>
    <p:sldId id="357" r:id="rId24"/>
    <p:sldId id="358" r:id="rId25"/>
    <p:sldId id="359" r:id="rId26"/>
    <p:sldId id="350" r:id="rId27"/>
    <p:sldId id="348" r:id="rId28"/>
    <p:sldId id="360" r:id="rId29"/>
    <p:sldId id="361" r:id="rId30"/>
    <p:sldId id="362" r:id="rId31"/>
    <p:sldId id="363" r:id="rId32"/>
    <p:sldId id="364" r:id="rId33"/>
    <p:sldId id="365" r:id="rId34"/>
    <p:sldId id="367" r:id="rId35"/>
    <p:sldId id="368" r:id="rId36"/>
    <p:sldId id="369" r:id="rId37"/>
    <p:sldId id="320" r:id="rId38"/>
    <p:sldId id="260" r:id="rId39"/>
    <p:sldId id="333" r:id="rId40"/>
    <p:sldId id="332" r:id="rId41"/>
    <p:sldId id="334" r:id="rId42"/>
    <p:sldId id="275" r:id="rId43"/>
    <p:sldId id="325" r:id="rId44"/>
    <p:sldId id="277" r:id="rId45"/>
    <p:sldId id="326" r:id="rId46"/>
    <p:sldId id="278" r:id="rId47"/>
    <p:sldId id="327" r:id="rId48"/>
    <p:sldId id="328" r:id="rId49"/>
    <p:sldId id="329" r:id="rId50"/>
    <p:sldId id="279" r:id="rId51"/>
    <p:sldId id="330" r:id="rId52"/>
    <p:sldId id="273" r:id="rId53"/>
    <p:sldId id="331" r:id="rId54"/>
    <p:sldId id="311" r:id="rId55"/>
    <p:sldId id="335" r:id="rId56"/>
    <p:sldId id="336" r:id="rId57"/>
    <p:sldId id="337" r:id="rId58"/>
    <p:sldId id="347" r:id="rId59"/>
  </p:sldIdLst>
  <p:sldSz cx="9144000" cy="5143500" type="screen16x9"/>
  <p:notesSz cx="6858000" cy="9144000"/>
  <p:embeddedFontLst>
    <p:embeddedFont>
      <p:font typeface="Barlow" panose="00000500000000000000" pitchFamily="2" charset="77"/>
      <p:regular r:id="rId61"/>
      <p:bold r:id="rId62"/>
      <p:italic r:id="rId63"/>
      <p:boldItalic r:id="rId64"/>
    </p:embeddedFont>
    <p:embeddedFont>
      <p:font typeface="Cambria Math" panose="02040503050406030204" pitchFamily="18" charset="0"/>
      <p:regular r:id="rId65"/>
    </p:embeddedFont>
    <p:embeddedFont>
      <p:font typeface="Montserrat" pitchFamily="2" charset="77"/>
      <p:regular r:id="rId66"/>
      <p:bold r:id="rId67"/>
      <p:italic r:id="rId68"/>
      <p:boldItalic r:id="rId6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8263A4-ACD1-0497-AAA5-01803979A2B5}" name="Raqibat Idris" initials="RI" userId="146d762bbc74e79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AAE7D96-29D0-42AF-9B61-008C0A79E2E8}">
  <a:tblStyle styleId="{EAAE7D96-29D0-42AF-9B61-008C0A79E2E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92"/>
    <p:restoredTop sz="93447" autoAdjust="0"/>
  </p:normalViewPr>
  <p:slideViewPr>
    <p:cSldViewPr snapToGrid="0">
      <p:cViewPr varScale="1">
        <p:scale>
          <a:sx n="170" d="100"/>
          <a:sy n="170" d="100"/>
        </p:scale>
        <p:origin x="76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microsoft.com/office/2018/10/relationships/authors" Target="authors.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1E5CD5-2D75-4D9C-B334-A2E713C05515}"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7ABF1B9E-CBDE-48EB-8FF7-C8E3602D7867}">
      <dgm:prSet/>
      <dgm:spPr>
        <a:solidFill>
          <a:schemeClr val="bg2">
            <a:lumMod val="75000"/>
          </a:schemeClr>
        </a:solidFill>
      </dgm:spPr>
      <dgm:t>
        <a:bodyPr/>
        <a:lstStyle/>
        <a:p>
          <a:r>
            <a:rPr lang="en-US" b="1" dirty="0"/>
            <a:t>Central Tendency</a:t>
          </a:r>
        </a:p>
      </dgm:t>
    </dgm:pt>
    <dgm:pt modelId="{8A167362-7DAF-40C5-BBCB-0CABC600B25D}" type="parTrans" cxnId="{81A1BDD0-4227-4C78-A03C-4E3EB53ADF86}">
      <dgm:prSet/>
      <dgm:spPr/>
      <dgm:t>
        <a:bodyPr/>
        <a:lstStyle/>
        <a:p>
          <a:endParaRPr lang="en-US"/>
        </a:p>
      </dgm:t>
    </dgm:pt>
    <dgm:pt modelId="{50D27EE1-6C56-4C07-9FB6-ED4BBE564E0E}" type="sibTrans" cxnId="{81A1BDD0-4227-4C78-A03C-4E3EB53ADF86}">
      <dgm:prSet/>
      <dgm:spPr/>
      <dgm:t>
        <a:bodyPr/>
        <a:lstStyle/>
        <a:p>
          <a:endParaRPr lang="en-US"/>
        </a:p>
      </dgm:t>
    </dgm:pt>
    <dgm:pt modelId="{7944AD0D-AAC4-428C-A000-0BC8AA148AFE}">
      <dgm:prSet/>
      <dgm:spPr/>
      <dgm:t>
        <a:bodyPr/>
        <a:lstStyle/>
        <a:p>
          <a:r>
            <a:rPr lang="en-US" dirty="0"/>
            <a:t>Describes the “center” of data</a:t>
          </a:r>
        </a:p>
      </dgm:t>
    </dgm:pt>
    <dgm:pt modelId="{DF95FE5D-007B-469C-9EE5-5536CE26CF74}" type="parTrans" cxnId="{02959A40-6199-4308-AF8B-361769998FDC}">
      <dgm:prSet/>
      <dgm:spPr/>
      <dgm:t>
        <a:bodyPr/>
        <a:lstStyle/>
        <a:p>
          <a:endParaRPr lang="en-US"/>
        </a:p>
      </dgm:t>
    </dgm:pt>
    <dgm:pt modelId="{0627CDEB-9E7A-4853-87E1-0386D0A5D9B8}" type="sibTrans" cxnId="{02959A40-6199-4308-AF8B-361769998FDC}">
      <dgm:prSet/>
      <dgm:spPr/>
      <dgm:t>
        <a:bodyPr/>
        <a:lstStyle/>
        <a:p>
          <a:endParaRPr lang="en-US"/>
        </a:p>
      </dgm:t>
    </dgm:pt>
    <dgm:pt modelId="{D9493069-0069-43A3-8453-111EC7DADD45}">
      <dgm:prSet/>
      <dgm:spPr/>
      <dgm:t>
        <a:bodyPr/>
        <a:lstStyle/>
        <a:p>
          <a:r>
            <a:rPr lang="en-US" dirty="0"/>
            <a:t>Mean, median and mode</a:t>
          </a:r>
        </a:p>
      </dgm:t>
    </dgm:pt>
    <dgm:pt modelId="{E285C8E5-6851-44C6-ACFF-18C271BE1BBA}" type="parTrans" cxnId="{FB997F34-2889-4251-8591-0BD4F7CFD1C1}">
      <dgm:prSet/>
      <dgm:spPr/>
      <dgm:t>
        <a:bodyPr/>
        <a:lstStyle/>
        <a:p>
          <a:endParaRPr lang="en-US"/>
        </a:p>
      </dgm:t>
    </dgm:pt>
    <dgm:pt modelId="{EE449E5C-008A-4B22-BB5A-268A2B4ECAC1}" type="sibTrans" cxnId="{FB997F34-2889-4251-8591-0BD4F7CFD1C1}">
      <dgm:prSet/>
      <dgm:spPr/>
      <dgm:t>
        <a:bodyPr/>
        <a:lstStyle/>
        <a:p>
          <a:endParaRPr lang="en-US"/>
        </a:p>
      </dgm:t>
    </dgm:pt>
    <dgm:pt modelId="{E8A13F82-502B-426E-92B3-3CD339869380}">
      <dgm:prSet/>
      <dgm:spPr>
        <a:solidFill>
          <a:schemeClr val="bg2">
            <a:lumMod val="75000"/>
          </a:schemeClr>
        </a:solidFill>
      </dgm:spPr>
      <dgm:t>
        <a:bodyPr/>
        <a:lstStyle/>
        <a:p>
          <a:r>
            <a:rPr lang="en-US" b="1" dirty="0"/>
            <a:t>Dispersion</a:t>
          </a:r>
        </a:p>
      </dgm:t>
    </dgm:pt>
    <dgm:pt modelId="{98D1EDE9-8B9A-4A52-A1A3-E300F77997FF}" type="parTrans" cxnId="{F3EC2034-AC41-4546-A343-D116DD94E288}">
      <dgm:prSet/>
      <dgm:spPr/>
      <dgm:t>
        <a:bodyPr/>
        <a:lstStyle/>
        <a:p>
          <a:endParaRPr lang="en-US"/>
        </a:p>
      </dgm:t>
    </dgm:pt>
    <dgm:pt modelId="{6CBA00BB-6DA2-44E8-BB7C-324E2D5C3406}" type="sibTrans" cxnId="{F3EC2034-AC41-4546-A343-D116DD94E288}">
      <dgm:prSet/>
      <dgm:spPr/>
      <dgm:t>
        <a:bodyPr/>
        <a:lstStyle/>
        <a:p>
          <a:endParaRPr lang="en-US"/>
        </a:p>
      </dgm:t>
    </dgm:pt>
    <dgm:pt modelId="{B93B339D-8FC5-40E4-A231-502129D4381F}">
      <dgm:prSet/>
      <dgm:spPr/>
      <dgm:t>
        <a:bodyPr/>
        <a:lstStyle/>
        <a:p>
          <a:r>
            <a:rPr lang="en-US" dirty="0"/>
            <a:t>Spread of values in the dataset</a:t>
          </a:r>
        </a:p>
      </dgm:t>
    </dgm:pt>
    <dgm:pt modelId="{E4D10441-A7B7-43E2-9DF9-302F6B13080E}" type="parTrans" cxnId="{528095CD-8B5B-465E-AAAF-CAEBC2619A7C}">
      <dgm:prSet/>
      <dgm:spPr/>
      <dgm:t>
        <a:bodyPr/>
        <a:lstStyle/>
        <a:p>
          <a:endParaRPr lang="en-US"/>
        </a:p>
      </dgm:t>
    </dgm:pt>
    <dgm:pt modelId="{2730FD12-D3F6-4C85-BCA2-ED71406F72BC}" type="sibTrans" cxnId="{528095CD-8B5B-465E-AAAF-CAEBC2619A7C}">
      <dgm:prSet/>
      <dgm:spPr/>
      <dgm:t>
        <a:bodyPr/>
        <a:lstStyle/>
        <a:p>
          <a:endParaRPr lang="en-US"/>
        </a:p>
      </dgm:t>
    </dgm:pt>
    <dgm:pt modelId="{FD96AEF4-17D0-49F5-8F71-98C44EA90F54}">
      <dgm:prSet/>
      <dgm:spPr/>
      <dgm:t>
        <a:bodyPr/>
        <a:lstStyle/>
        <a:p>
          <a:r>
            <a:rPr lang="en-US" dirty="0"/>
            <a:t>Range, variance, and standard deviation</a:t>
          </a:r>
        </a:p>
      </dgm:t>
    </dgm:pt>
    <dgm:pt modelId="{7BB6FE5F-42EA-4C52-BC05-F34EABD86A75}" type="parTrans" cxnId="{BA400C7C-1F17-400C-8F5A-54635DFCC0D0}">
      <dgm:prSet/>
      <dgm:spPr/>
      <dgm:t>
        <a:bodyPr/>
        <a:lstStyle/>
        <a:p>
          <a:endParaRPr lang="en-US"/>
        </a:p>
      </dgm:t>
    </dgm:pt>
    <dgm:pt modelId="{5A4DAD87-9CC1-4202-839F-38B3D2F55618}" type="sibTrans" cxnId="{BA400C7C-1F17-400C-8F5A-54635DFCC0D0}">
      <dgm:prSet/>
      <dgm:spPr/>
      <dgm:t>
        <a:bodyPr/>
        <a:lstStyle/>
        <a:p>
          <a:endParaRPr lang="en-US"/>
        </a:p>
      </dgm:t>
    </dgm:pt>
    <dgm:pt modelId="{96DC1B36-F380-4D32-A455-7B8C8C286115}">
      <dgm:prSet/>
      <dgm:spPr>
        <a:solidFill>
          <a:schemeClr val="bg2">
            <a:lumMod val="75000"/>
          </a:schemeClr>
        </a:solidFill>
      </dgm:spPr>
      <dgm:t>
        <a:bodyPr/>
        <a:lstStyle/>
        <a:p>
          <a:r>
            <a:rPr lang="en-US" b="1" dirty="0"/>
            <a:t>Location</a:t>
          </a:r>
        </a:p>
      </dgm:t>
    </dgm:pt>
    <dgm:pt modelId="{5606133F-311B-4D8C-93FE-35E2BDEBC598}" type="parTrans" cxnId="{F7CEA56B-989F-4AAC-9A4A-87C6671D36C0}">
      <dgm:prSet/>
      <dgm:spPr/>
      <dgm:t>
        <a:bodyPr/>
        <a:lstStyle/>
        <a:p>
          <a:endParaRPr lang="en-US"/>
        </a:p>
      </dgm:t>
    </dgm:pt>
    <dgm:pt modelId="{0D6B1CE9-D3A1-4ECB-97B7-AD211D633F35}" type="sibTrans" cxnId="{F7CEA56B-989F-4AAC-9A4A-87C6671D36C0}">
      <dgm:prSet/>
      <dgm:spPr/>
      <dgm:t>
        <a:bodyPr/>
        <a:lstStyle/>
        <a:p>
          <a:endParaRPr lang="en-US"/>
        </a:p>
      </dgm:t>
    </dgm:pt>
    <dgm:pt modelId="{09CA88CF-0CD2-4CBB-966D-B4DA43F3584F}">
      <dgm:prSet/>
      <dgm:spPr/>
      <dgm:t>
        <a:bodyPr/>
        <a:lstStyle/>
        <a:p>
          <a:r>
            <a:rPr lang="en-US" dirty="0"/>
            <a:t>Indicates where a specific data point falls in the distribution</a:t>
          </a:r>
        </a:p>
      </dgm:t>
    </dgm:pt>
    <dgm:pt modelId="{96C2E2FA-1474-4D94-94A4-19DFC82B6B5D}" type="parTrans" cxnId="{D2837228-21E3-4B8F-B9D6-817F26818161}">
      <dgm:prSet/>
      <dgm:spPr/>
      <dgm:t>
        <a:bodyPr/>
        <a:lstStyle/>
        <a:p>
          <a:endParaRPr lang="en-US"/>
        </a:p>
      </dgm:t>
    </dgm:pt>
    <dgm:pt modelId="{D4E59B26-3145-429D-B31A-D49E6E954B11}" type="sibTrans" cxnId="{D2837228-21E3-4B8F-B9D6-817F26818161}">
      <dgm:prSet/>
      <dgm:spPr/>
      <dgm:t>
        <a:bodyPr/>
        <a:lstStyle/>
        <a:p>
          <a:endParaRPr lang="en-US"/>
        </a:p>
      </dgm:t>
    </dgm:pt>
    <dgm:pt modelId="{E58D0643-A4D9-43EB-A8E9-E2CDF46F67E6}">
      <dgm:prSet/>
      <dgm:spPr/>
      <dgm:t>
        <a:bodyPr/>
        <a:lstStyle/>
        <a:p>
          <a:r>
            <a:rPr lang="en-US" dirty="0"/>
            <a:t>Quartile, decile, and percentile</a:t>
          </a:r>
        </a:p>
      </dgm:t>
    </dgm:pt>
    <dgm:pt modelId="{F849BB13-6B31-4714-87C3-D8BEBCBAC249}" type="parTrans" cxnId="{83BBA5C2-86A8-44AE-87B9-39B68D632B2F}">
      <dgm:prSet/>
      <dgm:spPr/>
      <dgm:t>
        <a:bodyPr/>
        <a:lstStyle/>
        <a:p>
          <a:endParaRPr lang="en-US"/>
        </a:p>
      </dgm:t>
    </dgm:pt>
    <dgm:pt modelId="{BF127DDE-B243-469D-AACE-A3B72FCEDF7C}" type="sibTrans" cxnId="{83BBA5C2-86A8-44AE-87B9-39B68D632B2F}">
      <dgm:prSet/>
      <dgm:spPr/>
      <dgm:t>
        <a:bodyPr/>
        <a:lstStyle/>
        <a:p>
          <a:endParaRPr lang="en-US"/>
        </a:p>
      </dgm:t>
    </dgm:pt>
    <dgm:pt modelId="{059DE675-AC03-4A41-B516-C4DF1061CC1D}">
      <dgm:prSet/>
      <dgm:spPr>
        <a:solidFill>
          <a:schemeClr val="bg2">
            <a:lumMod val="75000"/>
          </a:schemeClr>
        </a:solidFill>
      </dgm:spPr>
      <dgm:t>
        <a:bodyPr/>
        <a:lstStyle/>
        <a:p>
          <a:r>
            <a:rPr lang="en-US" b="1" dirty="0"/>
            <a:t>Proportions and Rates</a:t>
          </a:r>
        </a:p>
      </dgm:t>
    </dgm:pt>
    <dgm:pt modelId="{05D960BD-06A2-4A44-A412-853D826D8012}" type="parTrans" cxnId="{4D4AF2E8-9F31-435C-BFC6-5D0E90DBEA0C}">
      <dgm:prSet/>
      <dgm:spPr/>
      <dgm:t>
        <a:bodyPr/>
        <a:lstStyle/>
        <a:p>
          <a:endParaRPr lang="en-US"/>
        </a:p>
      </dgm:t>
    </dgm:pt>
    <dgm:pt modelId="{B80B5F05-DD51-4A40-A7CB-B8BC459B3471}" type="sibTrans" cxnId="{4D4AF2E8-9F31-435C-BFC6-5D0E90DBEA0C}">
      <dgm:prSet/>
      <dgm:spPr/>
      <dgm:t>
        <a:bodyPr/>
        <a:lstStyle/>
        <a:p>
          <a:endParaRPr lang="en-US"/>
        </a:p>
      </dgm:t>
    </dgm:pt>
    <dgm:pt modelId="{A2430E3C-7BAA-45D4-93E8-9FFCBDD291C3}">
      <dgm:prSet/>
      <dgm:spPr/>
      <dgm:t>
        <a:bodyPr/>
        <a:lstStyle/>
        <a:p>
          <a:r>
            <a:rPr lang="en-US" dirty="0"/>
            <a:t>Summarizes how often something happens</a:t>
          </a:r>
        </a:p>
      </dgm:t>
    </dgm:pt>
    <dgm:pt modelId="{A4E476A7-E87E-4659-B129-C5A792AA5377}" type="parTrans" cxnId="{B5B99BD9-71B4-4F94-B423-428AFDEC5DC6}">
      <dgm:prSet/>
      <dgm:spPr/>
      <dgm:t>
        <a:bodyPr/>
        <a:lstStyle/>
        <a:p>
          <a:endParaRPr lang="en-US"/>
        </a:p>
      </dgm:t>
    </dgm:pt>
    <dgm:pt modelId="{64DF505F-95EE-4F48-9B28-66CFD752FBE6}" type="sibTrans" cxnId="{B5B99BD9-71B4-4F94-B423-428AFDEC5DC6}">
      <dgm:prSet/>
      <dgm:spPr/>
      <dgm:t>
        <a:bodyPr/>
        <a:lstStyle/>
        <a:p>
          <a:endParaRPr lang="en-US"/>
        </a:p>
      </dgm:t>
    </dgm:pt>
    <dgm:pt modelId="{F2CDEC89-CDEB-41B4-8AF0-50A280FD3C50}">
      <dgm:prSet/>
      <dgm:spPr/>
      <dgm:t>
        <a:bodyPr/>
        <a:lstStyle/>
        <a:p>
          <a:r>
            <a:rPr lang="en-US" dirty="0"/>
            <a:t>Proportion, rate, prevalence, incidence, odds ratio (OR), and relative risk (RR)</a:t>
          </a:r>
        </a:p>
      </dgm:t>
    </dgm:pt>
    <dgm:pt modelId="{FFC30B5A-2D4F-43C5-9768-41CB87ED98D9}" type="parTrans" cxnId="{4FC2C0BD-B424-4EF5-917A-A239D681F068}">
      <dgm:prSet/>
      <dgm:spPr/>
      <dgm:t>
        <a:bodyPr/>
        <a:lstStyle/>
        <a:p>
          <a:endParaRPr lang="en-US"/>
        </a:p>
      </dgm:t>
    </dgm:pt>
    <dgm:pt modelId="{50FB178B-2DAE-46BC-BA79-3C5C0B4305B5}" type="sibTrans" cxnId="{4FC2C0BD-B424-4EF5-917A-A239D681F068}">
      <dgm:prSet/>
      <dgm:spPr/>
      <dgm:t>
        <a:bodyPr/>
        <a:lstStyle/>
        <a:p>
          <a:endParaRPr lang="en-US"/>
        </a:p>
      </dgm:t>
    </dgm:pt>
    <dgm:pt modelId="{79BE3BBC-51A6-EA44-AD5C-81AA39A053CC}" type="pres">
      <dgm:prSet presAssocID="{441E5CD5-2D75-4D9C-B334-A2E713C05515}" presName="Name0" presStyleCnt="0">
        <dgm:presLayoutVars>
          <dgm:dir/>
          <dgm:animLvl val="lvl"/>
          <dgm:resizeHandles val="exact"/>
        </dgm:presLayoutVars>
      </dgm:prSet>
      <dgm:spPr/>
    </dgm:pt>
    <dgm:pt modelId="{F58B6720-49D1-304E-84C7-75F7B4645280}" type="pres">
      <dgm:prSet presAssocID="{7ABF1B9E-CBDE-48EB-8FF7-C8E3602D7867}" presName="linNode" presStyleCnt="0"/>
      <dgm:spPr/>
    </dgm:pt>
    <dgm:pt modelId="{11611927-A370-E34B-BE53-7D106623A031}" type="pres">
      <dgm:prSet presAssocID="{7ABF1B9E-CBDE-48EB-8FF7-C8E3602D7867}" presName="parentText" presStyleLbl="node1" presStyleIdx="0" presStyleCnt="4">
        <dgm:presLayoutVars>
          <dgm:chMax val="1"/>
          <dgm:bulletEnabled val="1"/>
        </dgm:presLayoutVars>
      </dgm:prSet>
      <dgm:spPr/>
    </dgm:pt>
    <dgm:pt modelId="{5B2CDBBC-89F2-4E42-A414-AC8456BD0891}" type="pres">
      <dgm:prSet presAssocID="{7ABF1B9E-CBDE-48EB-8FF7-C8E3602D7867}" presName="descendantText" presStyleLbl="alignAccFollowNode1" presStyleIdx="0" presStyleCnt="4">
        <dgm:presLayoutVars>
          <dgm:bulletEnabled val="1"/>
        </dgm:presLayoutVars>
      </dgm:prSet>
      <dgm:spPr/>
    </dgm:pt>
    <dgm:pt modelId="{96F734AB-C3C3-0B41-A47F-C47FA8CC4A03}" type="pres">
      <dgm:prSet presAssocID="{50D27EE1-6C56-4C07-9FB6-ED4BBE564E0E}" presName="sp" presStyleCnt="0"/>
      <dgm:spPr/>
    </dgm:pt>
    <dgm:pt modelId="{0E74DA14-CD91-F941-B39D-B2DCF640C691}" type="pres">
      <dgm:prSet presAssocID="{E8A13F82-502B-426E-92B3-3CD339869380}" presName="linNode" presStyleCnt="0"/>
      <dgm:spPr/>
    </dgm:pt>
    <dgm:pt modelId="{233B1177-3F28-E644-9F5F-539017FB5E6B}" type="pres">
      <dgm:prSet presAssocID="{E8A13F82-502B-426E-92B3-3CD339869380}" presName="parentText" presStyleLbl="node1" presStyleIdx="1" presStyleCnt="4">
        <dgm:presLayoutVars>
          <dgm:chMax val="1"/>
          <dgm:bulletEnabled val="1"/>
        </dgm:presLayoutVars>
      </dgm:prSet>
      <dgm:spPr/>
    </dgm:pt>
    <dgm:pt modelId="{554136CA-DFE7-4242-BF68-5F65F8229EFB}" type="pres">
      <dgm:prSet presAssocID="{E8A13F82-502B-426E-92B3-3CD339869380}" presName="descendantText" presStyleLbl="alignAccFollowNode1" presStyleIdx="1" presStyleCnt="4">
        <dgm:presLayoutVars>
          <dgm:bulletEnabled val="1"/>
        </dgm:presLayoutVars>
      </dgm:prSet>
      <dgm:spPr/>
    </dgm:pt>
    <dgm:pt modelId="{3021304F-6F09-6947-B63F-47C10B505FED}" type="pres">
      <dgm:prSet presAssocID="{6CBA00BB-6DA2-44E8-BB7C-324E2D5C3406}" presName="sp" presStyleCnt="0"/>
      <dgm:spPr/>
    </dgm:pt>
    <dgm:pt modelId="{D0B5DE1A-5C68-BE49-8C6D-3FD9AAAB1F10}" type="pres">
      <dgm:prSet presAssocID="{96DC1B36-F380-4D32-A455-7B8C8C286115}" presName="linNode" presStyleCnt="0"/>
      <dgm:spPr/>
    </dgm:pt>
    <dgm:pt modelId="{6A9B44A6-A721-934E-9647-7CB398169533}" type="pres">
      <dgm:prSet presAssocID="{96DC1B36-F380-4D32-A455-7B8C8C286115}" presName="parentText" presStyleLbl="node1" presStyleIdx="2" presStyleCnt="4" custLinFactNeighborX="-14581">
        <dgm:presLayoutVars>
          <dgm:chMax val="1"/>
          <dgm:bulletEnabled val="1"/>
        </dgm:presLayoutVars>
      </dgm:prSet>
      <dgm:spPr/>
    </dgm:pt>
    <dgm:pt modelId="{37607759-5BB7-3546-B1A8-05837709D5EC}" type="pres">
      <dgm:prSet presAssocID="{96DC1B36-F380-4D32-A455-7B8C8C286115}" presName="descendantText" presStyleLbl="alignAccFollowNode1" presStyleIdx="2" presStyleCnt="4">
        <dgm:presLayoutVars>
          <dgm:bulletEnabled val="1"/>
        </dgm:presLayoutVars>
      </dgm:prSet>
      <dgm:spPr/>
    </dgm:pt>
    <dgm:pt modelId="{102041C0-EFE9-AE44-9192-D6BF13E73D0C}" type="pres">
      <dgm:prSet presAssocID="{0D6B1CE9-D3A1-4ECB-97B7-AD211D633F35}" presName="sp" presStyleCnt="0"/>
      <dgm:spPr/>
    </dgm:pt>
    <dgm:pt modelId="{39BE7244-E5F8-AD42-A3E6-96FCDBADD0FE}" type="pres">
      <dgm:prSet presAssocID="{059DE675-AC03-4A41-B516-C4DF1061CC1D}" presName="linNode" presStyleCnt="0"/>
      <dgm:spPr/>
    </dgm:pt>
    <dgm:pt modelId="{C1767A7A-5B2A-3E4A-980A-B9EBA80DA6B3}" type="pres">
      <dgm:prSet presAssocID="{059DE675-AC03-4A41-B516-C4DF1061CC1D}" presName="parentText" presStyleLbl="node1" presStyleIdx="3" presStyleCnt="4">
        <dgm:presLayoutVars>
          <dgm:chMax val="1"/>
          <dgm:bulletEnabled val="1"/>
        </dgm:presLayoutVars>
      </dgm:prSet>
      <dgm:spPr/>
    </dgm:pt>
    <dgm:pt modelId="{4D6ED2EE-F3AD-1441-99B1-23C58CBB05BD}" type="pres">
      <dgm:prSet presAssocID="{059DE675-AC03-4A41-B516-C4DF1061CC1D}" presName="descendantText" presStyleLbl="alignAccFollowNode1" presStyleIdx="3" presStyleCnt="4">
        <dgm:presLayoutVars>
          <dgm:bulletEnabled val="1"/>
        </dgm:presLayoutVars>
      </dgm:prSet>
      <dgm:spPr/>
    </dgm:pt>
  </dgm:ptLst>
  <dgm:cxnLst>
    <dgm:cxn modelId="{31372611-C3B6-4A4C-B519-26623550FD3E}" type="presOf" srcId="{7944AD0D-AAC4-428C-A000-0BC8AA148AFE}" destId="{5B2CDBBC-89F2-4E42-A414-AC8456BD0891}" srcOrd="0" destOrd="0" presId="urn:microsoft.com/office/officeart/2005/8/layout/vList5"/>
    <dgm:cxn modelId="{E48E3311-627F-C744-A346-6C33953E8156}" type="presOf" srcId="{E8A13F82-502B-426E-92B3-3CD339869380}" destId="{233B1177-3F28-E644-9F5F-539017FB5E6B}" srcOrd="0" destOrd="0" presId="urn:microsoft.com/office/officeart/2005/8/layout/vList5"/>
    <dgm:cxn modelId="{8CE90C15-4FD3-BD43-AC3C-92BB6D3792BD}" type="presOf" srcId="{059DE675-AC03-4A41-B516-C4DF1061CC1D}" destId="{C1767A7A-5B2A-3E4A-980A-B9EBA80DA6B3}" srcOrd="0" destOrd="0" presId="urn:microsoft.com/office/officeart/2005/8/layout/vList5"/>
    <dgm:cxn modelId="{1A4B6119-D5E3-A24D-9117-012F9B6169AC}" type="presOf" srcId="{96DC1B36-F380-4D32-A455-7B8C8C286115}" destId="{6A9B44A6-A721-934E-9647-7CB398169533}" srcOrd="0" destOrd="0" presId="urn:microsoft.com/office/officeart/2005/8/layout/vList5"/>
    <dgm:cxn modelId="{D2837228-21E3-4B8F-B9D6-817F26818161}" srcId="{96DC1B36-F380-4D32-A455-7B8C8C286115}" destId="{09CA88CF-0CD2-4CBB-966D-B4DA43F3584F}" srcOrd="0" destOrd="0" parTransId="{96C2E2FA-1474-4D94-94A4-19DFC82B6B5D}" sibTransId="{D4E59B26-3145-429D-B31A-D49E6E954B11}"/>
    <dgm:cxn modelId="{F3EC2034-AC41-4546-A343-D116DD94E288}" srcId="{441E5CD5-2D75-4D9C-B334-A2E713C05515}" destId="{E8A13F82-502B-426E-92B3-3CD339869380}" srcOrd="1" destOrd="0" parTransId="{98D1EDE9-8B9A-4A52-A1A3-E300F77997FF}" sibTransId="{6CBA00BB-6DA2-44E8-BB7C-324E2D5C3406}"/>
    <dgm:cxn modelId="{FB997F34-2889-4251-8591-0BD4F7CFD1C1}" srcId="{7ABF1B9E-CBDE-48EB-8FF7-C8E3602D7867}" destId="{D9493069-0069-43A3-8453-111EC7DADD45}" srcOrd="1" destOrd="0" parTransId="{E285C8E5-6851-44C6-ACFF-18C271BE1BBA}" sibTransId="{EE449E5C-008A-4B22-BB5A-268A2B4ECAC1}"/>
    <dgm:cxn modelId="{02959A40-6199-4308-AF8B-361769998FDC}" srcId="{7ABF1B9E-CBDE-48EB-8FF7-C8E3602D7867}" destId="{7944AD0D-AAC4-428C-A000-0BC8AA148AFE}" srcOrd="0" destOrd="0" parTransId="{DF95FE5D-007B-469C-9EE5-5536CE26CF74}" sibTransId="{0627CDEB-9E7A-4853-87E1-0386D0A5D9B8}"/>
    <dgm:cxn modelId="{7831064A-4645-784F-8FC5-58F7E6B6EC18}" type="presOf" srcId="{7ABF1B9E-CBDE-48EB-8FF7-C8E3602D7867}" destId="{11611927-A370-E34B-BE53-7D106623A031}" srcOrd="0" destOrd="0" presId="urn:microsoft.com/office/officeart/2005/8/layout/vList5"/>
    <dgm:cxn modelId="{F7CEA56B-989F-4AAC-9A4A-87C6671D36C0}" srcId="{441E5CD5-2D75-4D9C-B334-A2E713C05515}" destId="{96DC1B36-F380-4D32-A455-7B8C8C286115}" srcOrd="2" destOrd="0" parTransId="{5606133F-311B-4D8C-93FE-35E2BDEBC598}" sibTransId="{0D6B1CE9-D3A1-4ECB-97B7-AD211D633F35}"/>
    <dgm:cxn modelId="{BA400C7C-1F17-400C-8F5A-54635DFCC0D0}" srcId="{E8A13F82-502B-426E-92B3-3CD339869380}" destId="{FD96AEF4-17D0-49F5-8F71-98C44EA90F54}" srcOrd="1" destOrd="0" parTransId="{7BB6FE5F-42EA-4C52-BC05-F34EABD86A75}" sibTransId="{5A4DAD87-9CC1-4202-839F-38B3D2F55618}"/>
    <dgm:cxn modelId="{AB9CBA8F-44EF-A641-B99F-44D1A2F5C6F0}" type="presOf" srcId="{F2CDEC89-CDEB-41B4-8AF0-50A280FD3C50}" destId="{4D6ED2EE-F3AD-1441-99B1-23C58CBB05BD}" srcOrd="0" destOrd="1" presId="urn:microsoft.com/office/officeart/2005/8/layout/vList5"/>
    <dgm:cxn modelId="{F826DB93-2934-FA47-90EE-50EC0A12AF57}" type="presOf" srcId="{E58D0643-A4D9-43EB-A8E9-E2CDF46F67E6}" destId="{37607759-5BB7-3546-B1A8-05837709D5EC}" srcOrd="0" destOrd="1" presId="urn:microsoft.com/office/officeart/2005/8/layout/vList5"/>
    <dgm:cxn modelId="{A00EAC96-EEA6-5D4C-BF15-C465346BBB2E}" type="presOf" srcId="{09CA88CF-0CD2-4CBB-966D-B4DA43F3584F}" destId="{37607759-5BB7-3546-B1A8-05837709D5EC}" srcOrd="0" destOrd="0" presId="urn:microsoft.com/office/officeart/2005/8/layout/vList5"/>
    <dgm:cxn modelId="{1AF5269D-BD94-5C49-AC6E-572CB00F7C28}" type="presOf" srcId="{FD96AEF4-17D0-49F5-8F71-98C44EA90F54}" destId="{554136CA-DFE7-4242-BF68-5F65F8229EFB}" srcOrd="0" destOrd="1" presId="urn:microsoft.com/office/officeart/2005/8/layout/vList5"/>
    <dgm:cxn modelId="{6705CBBA-33D4-D64A-9714-8CFB134D3F51}" type="presOf" srcId="{D9493069-0069-43A3-8453-111EC7DADD45}" destId="{5B2CDBBC-89F2-4E42-A414-AC8456BD0891}" srcOrd="0" destOrd="1" presId="urn:microsoft.com/office/officeart/2005/8/layout/vList5"/>
    <dgm:cxn modelId="{4FC2C0BD-B424-4EF5-917A-A239D681F068}" srcId="{059DE675-AC03-4A41-B516-C4DF1061CC1D}" destId="{F2CDEC89-CDEB-41B4-8AF0-50A280FD3C50}" srcOrd="1" destOrd="0" parTransId="{FFC30B5A-2D4F-43C5-9768-41CB87ED98D9}" sibTransId="{50FB178B-2DAE-46BC-BA79-3C5C0B4305B5}"/>
    <dgm:cxn modelId="{83BBA5C2-86A8-44AE-87B9-39B68D632B2F}" srcId="{96DC1B36-F380-4D32-A455-7B8C8C286115}" destId="{E58D0643-A4D9-43EB-A8E9-E2CDF46F67E6}" srcOrd="1" destOrd="0" parTransId="{F849BB13-6B31-4714-87C3-D8BEBCBAC249}" sibTransId="{BF127DDE-B243-469D-AACE-A3B72FCEDF7C}"/>
    <dgm:cxn modelId="{528095CD-8B5B-465E-AAAF-CAEBC2619A7C}" srcId="{E8A13F82-502B-426E-92B3-3CD339869380}" destId="{B93B339D-8FC5-40E4-A231-502129D4381F}" srcOrd="0" destOrd="0" parTransId="{E4D10441-A7B7-43E2-9DF9-302F6B13080E}" sibTransId="{2730FD12-D3F6-4C85-BCA2-ED71406F72BC}"/>
    <dgm:cxn modelId="{81A1BDD0-4227-4C78-A03C-4E3EB53ADF86}" srcId="{441E5CD5-2D75-4D9C-B334-A2E713C05515}" destId="{7ABF1B9E-CBDE-48EB-8FF7-C8E3602D7867}" srcOrd="0" destOrd="0" parTransId="{8A167362-7DAF-40C5-BBCB-0CABC600B25D}" sibTransId="{50D27EE1-6C56-4C07-9FB6-ED4BBE564E0E}"/>
    <dgm:cxn modelId="{F20D9ED5-8AD2-2D43-B7DD-4970693E95E0}" type="presOf" srcId="{441E5CD5-2D75-4D9C-B334-A2E713C05515}" destId="{79BE3BBC-51A6-EA44-AD5C-81AA39A053CC}" srcOrd="0" destOrd="0" presId="urn:microsoft.com/office/officeart/2005/8/layout/vList5"/>
    <dgm:cxn modelId="{B5B99BD9-71B4-4F94-B423-428AFDEC5DC6}" srcId="{059DE675-AC03-4A41-B516-C4DF1061CC1D}" destId="{A2430E3C-7BAA-45D4-93E8-9FFCBDD291C3}" srcOrd="0" destOrd="0" parTransId="{A4E476A7-E87E-4659-B129-C5A792AA5377}" sibTransId="{64DF505F-95EE-4F48-9B28-66CFD752FBE6}"/>
    <dgm:cxn modelId="{2B7EC0E2-5C57-8641-AC36-98A30B33A949}" type="presOf" srcId="{B93B339D-8FC5-40E4-A231-502129D4381F}" destId="{554136CA-DFE7-4242-BF68-5F65F8229EFB}" srcOrd="0" destOrd="0" presId="urn:microsoft.com/office/officeart/2005/8/layout/vList5"/>
    <dgm:cxn modelId="{4D4AF2E8-9F31-435C-BFC6-5D0E90DBEA0C}" srcId="{441E5CD5-2D75-4D9C-B334-A2E713C05515}" destId="{059DE675-AC03-4A41-B516-C4DF1061CC1D}" srcOrd="3" destOrd="0" parTransId="{05D960BD-06A2-4A44-A412-853D826D8012}" sibTransId="{B80B5F05-DD51-4A40-A7CB-B8BC459B3471}"/>
    <dgm:cxn modelId="{0D7F98F3-C654-6E42-95E4-9B90742780A9}" type="presOf" srcId="{A2430E3C-7BAA-45D4-93E8-9FFCBDD291C3}" destId="{4D6ED2EE-F3AD-1441-99B1-23C58CBB05BD}" srcOrd="0" destOrd="0" presId="urn:microsoft.com/office/officeart/2005/8/layout/vList5"/>
    <dgm:cxn modelId="{84960171-02CE-7046-8833-D8D89A299DBB}" type="presParOf" srcId="{79BE3BBC-51A6-EA44-AD5C-81AA39A053CC}" destId="{F58B6720-49D1-304E-84C7-75F7B4645280}" srcOrd="0" destOrd="0" presId="urn:microsoft.com/office/officeart/2005/8/layout/vList5"/>
    <dgm:cxn modelId="{685B3970-7E8B-354D-A639-03D791FDE7B5}" type="presParOf" srcId="{F58B6720-49D1-304E-84C7-75F7B4645280}" destId="{11611927-A370-E34B-BE53-7D106623A031}" srcOrd="0" destOrd="0" presId="urn:microsoft.com/office/officeart/2005/8/layout/vList5"/>
    <dgm:cxn modelId="{63898610-08F1-9D40-8621-640B3EAC157C}" type="presParOf" srcId="{F58B6720-49D1-304E-84C7-75F7B4645280}" destId="{5B2CDBBC-89F2-4E42-A414-AC8456BD0891}" srcOrd="1" destOrd="0" presId="urn:microsoft.com/office/officeart/2005/8/layout/vList5"/>
    <dgm:cxn modelId="{AE47896C-8E65-2A4E-86CF-F7027FA68BB6}" type="presParOf" srcId="{79BE3BBC-51A6-EA44-AD5C-81AA39A053CC}" destId="{96F734AB-C3C3-0B41-A47F-C47FA8CC4A03}" srcOrd="1" destOrd="0" presId="urn:microsoft.com/office/officeart/2005/8/layout/vList5"/>
    <dgm:cxn modelId="{47B0EE50-3230-5347-8663-38CB2BE90415}" type="presParOf" srcId="{79BE3BBC-51A6-EA44-AD5C-81AA39A053CC}" destId="{0E74DA14-CD91-F941-B39D-B2DCF640C691}" srcOrd="2" destOrd="0" presId="urn:microsoft.com/office/officeart/2005/8/layout/vList5"/>
    <dgm:cxn modelId="{A1F09F6A-5546-9A41-B68A-9E3A8AC4EB2C}" type="presParOf" srcId="{0E74DA14-CD91-F941-B39D-B2DCF640C691}" destId="{233B1177-3F28-E644-9F5F-539017FB5E6B}" srcOrd="0" destOrd="0" presId="urn:microsoft.com/office/officeart/2005/8/layout/vList5"/>
    <dgm:cxn modelId="{B40E7C5E-CEF0-A442-8918-2B53DE048294}" type="presParOf" srcId="{0E74DA14-CD91-F941-B39D-B2DCF640C691}" destId="{554136CA-DFE7-4242-BF68-5F65F8229EFB}" srcOrd="1" destOrd="0" presId="urn:microsoft.com/office/officeart/2005/8/layout/vList5"/>
    <dgm:cxn modelId="{073F9ADB-976E-7944-8220-91CF3201CD83}" type="presParOf" srcId="{79BE3BBC-51A6-EA44-AD5C-81AA39A053CC}" destId="{3021304F-6F09-6947-B63F-47C10B505FED}" srcOrd="3" destOrd="0" presId="urn:microsoft.com/office/officeart/2005/8/layout/vList5"/>
    <dgm:cxn modelId="{FB766E57-8F90-FB4B-BC2D-04AA0CC1278F}" type="presParOf" srcId="{79BE3BBC-51A6-EA44-AD5C-81AA39A053CC}" destId="{D0B5DE1A-5C68-BE49-8C6D-3FD9AAAB1F10}" srcOrd="4" destOrd="0" presId="urn:microsoft.com/office/officeart/2005/8/layout/vList5"/>
    <dgm:cxn modelId="{CF9DE995-EDA7-2041-B65E-4BFFC9282161}" type="presParOf" srcId="{D0B5DE1A-5C68-BE49-8C6D-3FD9AAAB1F10}" destId="{6A9B44A6-A721-934E-9647-7CB398169533}" srcOrd="0" destOrd="0" presId="urn:microsoft.com/office/officeart/2005/8/layout/vList5"/>
    <dgm:cxn modelId="{56B11D8F-4B59-4244-8912-AF49D5CD7F01}" type="presParOf" srcId="{D0B5DE1A-5C68-BE49-8C6D-3FD9AAAB1F10}" destId="{37607759-5BB7-3546-B1A8-05837709D5EC}" srcOrd="1" destOrd="0" presId="urn:microsoft.com/office/officeart/2005/8/layout/vList5"/>
    <dgm:cxn modelId="{6068D2B6-650D-754F-941D-88DB2F96E1A5}" type="presParOf" srcId="{79BE3BBC-51A6-EA44-AD5C-81AA39A053CC}" destId="{102041C0-EFE9-AE44-9192-D6BF13E73D0C}" srcOrd="5" destOrd="0" presId="urn:microsoft.com/office/officeart/2005/8/layout/vList5"/>
    <dgm:cxn modelId="{CDBC09FD-455A-3C4F-AE29-B84ACE9E6E06}" type="presParOf" srcId="{79BE3BBC-51A6-EA44-AD5C-81AA39A053CC}" destId="{39BE7244-E5F8-AD42-A3E6-96FCDBADD0FE}" srcOrd="6" destOrd="0" presId="urn:microsoft.com/office/officeart/2005/8/layout/vList5"/>
    <dgm:cxn modelId="{B2FD190C-DC0B-F643-AA7B-32FA10EC710A}" type="presParOf" srcId="{39BE7244-E5F8-AD42-A3E6-96FCDBADD0FE}" destId="{C1767A7A-5B2A-3E4A-980A-B9EBA80DA6B3}" srcOrd="0" destOrd="0" presId="urn:microsoft.com/office/officeart/2005/8/layout/vList5"/>
    <dgm:cxn modelId="{A67303A7-25FC-834B-B9F7-FF29E92C33A6}" type="presParOf" srcId="{39BE7244-E5F8-AD42-A3E6-96FCDBADD0FE}" destId="{4D6ED2EE-F3AD-1441-99B1-23C58CBB05BD}"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1E5CD5-2D75-4D9C-B334-A2E713C05515}"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7ABF1B9E-CBDE-48EB-8FF7-C8E3602D7867}">
      <dgm:prSet/>
      <dgm:spPr>
        <a:solidFill>
          <a:schemeClr val="bg2">
            <a:lumMod val="75000"/>
          </a:schemeClr>
        </a:solidFill>
      </dgm:spPr>
      <dgm:t>
        <a:bodyPr/>
        <a:lstStyle/>
        <a:p>
          <a:r>
            <a:rPr lang="en-US" b="1" dirty="0"/>
            <a:t>Hypothesis Testing</a:t>
          </a:r>
        </a:p>
      </dgm:t>
    </dgm:pt>
    <dgm:pt modelId="{8A167362-7DAF-40C5-BBCB-0CABC600B25D}" type="parTrans" cxnId="{81A1BDD0-4227-4C78-A03C-4E3EB53ADF86}">
      <dgm:prSet/>
      <dgm:spPr/>
      <dgm:t>
        <a:bodyPr/>
        <a:lstStyle/>
        <a:p>
          <a:endParaRPr lang="en-US"/>
        </a:p>
      </dgm:t>
    </dgm:pt>
    <dgm:pt modelId="{50D27EE1-6C56-4C07-9FB6-ED4BBE564E0E}" type="sibTrans" cxnId="{81A1BDD0-4227-4C78-A03C-4E3EB53ADF86}">
      <dgm:prSet/>
      <dgm:spPr/>
      <dgm:t>
        <a:bodyPr/>
        <a:lstStyle/>
        <a:p>
          <a:endParaRPr lang="en-US"/>
        </a:p>
      </dgm:t>
    </dgm:pt>
    <dgm:pt modelId="{7944AD0D-AAC4-428C-A000-0BC8AA148AFE}">
      <dgm:prSet/>
      <dgm:spPr/>
      <dgm:t>
        <a:bodyPr/>
        <a:lstStyle/>
        <a:p>
          <a:r>
            <a:rPr lang="en-US" dirty="0">
              <a:solidFill>
                <a:schemeClr val="tx1"/>
              </a:solidFill>
            </a:rPr>
            <a:t>Used to assess if there is enough evidence to reject the null hypothesis. </a:t>
          </a:r>
          <a:endParaRPr lang="en-US" dirty="0"/>
        </a:p>
      </dgm:t>
    </dgm:pt>
    <dgm:pt modelId="{DF95FE5D-007B-469C-9EE5-5536CE26CF74}" type="parTrans" cxnId="{02959A40-6199-4308-AF8B-361769998FDC}">
      <dgm:prSet/>
      <dgm:spPr/>
      <dgm:t>
        <a:bodyPr/>
        <a:lstStyle/>
        <a:p>
          <a:endParaRPr lang="en-US"/>
        </a:p>
      </dgm:t>
    </dgm:pt>
    <dgm:pt modelId="{0627CDEB-9E7A-4853-87E1-0386D0A5D9B8}" type="sibTrans" cxnId="{02959A40-6199-4308-AF8B-361769998FDC}">
      <dgm:prSet/>
      <dgm:spPr/>
      <dgm:t>
        <a:bodyPr/>
        <a:lstStyle/>
        <a:p>
          <a:endParaRPr lang="en-US"/>
        </a:p>
      </dgm:t>
    </dgm:pt>
    <dgm:pt modelId="{E8A13F82-502B-426E-92B3-3CD339869380}">
      <dgm:prSet/>
      <dgm:spPr>
        <a:solidFill>
          <a:schemeClr val="bg2">
            <a:lumMod val="75000"/>
          </a:schemeClr>
        </a:solidFill>
      </dgm:spPr>
      <dgm:t>
        <a:bodyPr/>
        <a:lstStyle/>
        <a:p>
          <a:r>
            <a:rPr lang="en-US" b="1" dirty="0"/>
            <a:t>Estimation</a:t>
          </a:r>
        </a:p>
      </dgm:t>
    </dgm:pt>
    <dgm:pt modelId="{98D1EDE9-8B9A-4A52-A1A3-E300F77997FF}" type="parTrans" cxnId="{F3EC2034-AC41-4546-A343-D116DD94E288}">
      <dgm:prSet/>
      <dgm:spPr/>
      <dgm:t>
        <a:bodyPr/>
        <a:lstStyle/>
        <a:p>
          <a:endParaRPr lang="en-US"/>
        </a:p>
      </dgm:t>
    </dgm:pt>
    <dgm:pt modelId="{6CBA00BB-6DA2-44E8-BB7C-324E2D5C3406}" type="sibTrans" cxnId="{F3EC2034-AC41-4546-A343-D116DD94E288}">
      <dgm:prSet/>
      <dgm:spPr/>
      <dgm:t>
        <a:bodyPr/>
        <a:lstStyle/>
        <a:p>
          <a:endParaRPr lang="en-US"/>
        </a:p>
      </dgm:t>
    </dgm:pt>
    <dgm:pt modelId="{B93B339D-8FC5-40E4-A231-502129D4381F}">
      <dgm:prSet/>
      <dgm:spPr/>
      <dgm:t>
        <a:bodyPr/>
        <a:lstStyle/>
        <a:p>
          <a:r>
            <a:rPr lang="en-US" b="0" i="0" u="none" dirty="0"/>
            <a:t>Using sample data to estimate population parameters</a:t>
          </a:r>
          <a:endParaRPr lang="en-US" dirty="0"/>
        </a:p>
      </dgm:t>
    </dgm:pt>
    <dgm:pt modelId="{E4D10441-A7B7-43E2-9DF9-302F6B13080E}" type="parTrans" cxnId="{528095CD-8B5B-465E-AAAF-CAEBC2619A7C}">
      <dgm:prSet/>
      <dgm:spPr/>
      <dgm:t>
        <a:bodyPr/>
        <a:lstStyle/>
        <a:p>
          <a:endParaRPr lang="en-US"/>
        </a:p>
      </dgm:t>
    </dgm:pt>
    <dgm:pt modelId="{2730FD12-D3F6-4C85-BCA2-ED71406F72BC}" type="sibTrans" cxnId="{528095CD-8B5B-465E-AAAF-CAEBC2619A7C}">
      <dgm:prSet/>
      <dgm:spPr/>
      <dgm:t>
        <a:bodyPr/>
        <a:lstStyle/>
        <a:p>
          <a:endParaRPr lang="en-US"/>
        </a:p>
      </dgm:t>
    </dgm:pt>
    <dgm:pt modelId="{291AA0D1-027D-3B47-889B-0A9A69485EFC}">
      <dgm:prSet/>
      <dgm:spPr/>
      <dgm:t>
        <a:bodyPr/>
        <a:lstStyle/>
        <a:p>
          <a:r>
            <a:rPr lang="en-US" b="0" dirty="0"/>
            <a:t>The n</a:t>
          </a:r>
          <a:r>
            <a:rPr lang="en-US" b="0" i="0" u="none" dirty="0"/>
            <a:t>ull hypothesis (H₀) is a statement that there is no effect or difference. It represents the assumption a researcher is trying to test against.</a:t>
          </a:r>
          <a:endParaRPr lang="en-US" dirty="0"/>
        </a:p>
      </dgm:t>
    </dgm:pt>
    <dgm:pt modelId="{62C6DCE4-8776-0344-A337-C8E3D399DAFD}" type="parTrans" cxnId="{E12321E0-158F-4444-A3EE-68D64A6E344A}">
      <dgm:prSet/>
      <dgm:spPr/>
      <dgm:t>
        <a:bodyPr/>
        <a:lstStyle/>
        <a:p>
          <a:endParaRPr lang="en-US"/>
        </a:p>
      </dgm:t>
    </dgm:pt>
    <dgm:pt modelId="{4BC23422-0B45-6841-AB4F-3A8A7BC7377E}" type="sibTrans" cxnId="{E12321E0-158F-4444-A3EE-68D64A6E344A}">
      <dgm:prSet/>
      <dgm:spPr/>
      <dgm:t>
        <a:bodyPr/>
        <a:lstStyle/>
        <a:p>
          <a:endParaRPr lang="en-US"/>
        </a:p>
      </dgm:t>
    </dgm:pt>
    <dgm:pt modelId="{79BE3BBC-51A6-EA44-AD5C-81AA39A053CC}" type="pres">
      <dgm:prSet presAssocID="{441E5CD5-2D75-4D9C-B334-A2E713C05515}" presName="Name0" presStyleCnt="0">
        <dgm:presLayoutVars>
          <dgm:dir/>
          <dgm:animLvl val="lvl"/>
          <dgm:resizeHandles val="exact"/>
        </dgm:presLayoutVars>
      </dgm:prSet>
      <dgm:spPr/>
    </dgm:pt>
    <dgm:pt modelId="{F58B6720-49D1-304E-84C7-75F7B4645280}" type="pres">
      <dgm:prSet presAssocID="{7ABF1B9E-CBDE-48EB-8FF7-C8E3602D7867}" presName="linNode" presStyleCnt="0"/>
      <dgm:spPr/>
    </dgm:pt>
    <dgm:pt modelId="{11611927-A370-E34B-BE53-7D106623A031}" type="pres">
      <dgm:prSet presAssocID="{7ABF1B9E-CBDE-48EB-8FF7-C8E3602D7867}" presName="parentText" presStyleLbl="node1" presStyleIdx="0" presStyleCnt="2" custLinFactNeighborX="-18405" custLinFactNeighborY="-208">
        <dgm:presLayoutVars>
          <dgm:chMax val="1"/>
          <dgm:bulletEnabled val="1"/>
        </dgm:presLayoutVars>
      </dgm:prSet>
      <dgm:spPr/>
    </dgm:pt>
    <dgm:pt modelId="{5B2CDBBC-89F2-4E42-A414-AC8456BD0891}" type="pres">
      <dgm:prSet presAssocID="{7ABF1B9E-CBDE-48EB-8FF7-C8E3602D7867}" presName="descendantText" presStyleLbl="alignAccFollowNode1" presStyleIdx="0" presStyleCnt="2">
        <dgm:presLayoutVars>
          <dgm:bulletEnabled val="1"/>
        </dgm:presLayoutVars>
      </dgm:prSet>
      <dgm:spPr/>
    </dgm:pt>
    <dgm:pt modelId="{96F734AB-C3C3-0B41-A47F-C47FA8CC4A03}" type="pres">
      <dgm:prSet presAssocID="{50D27EE1-6C56-4C07-9FB6-ED4BBE564E0E}" presName="sp" presStyleCnt="0"/>
      <dgm:spPr/>
    </dgm:pt>
    <dgm:pt modelId="{0E74DA14-CD91-F941-B39D-B2DCF640C691}" type="pres">
      <dgm:prSet presAssocID="{E8A13F82-502B-426E-92B3-3CD339869380}" presName="linNode" presStyleCnt="0"/>
      <dgm:spPr/>
    </dgm:pt>
    <dgm:pt modelId="{233B1177-3F28-E644-9F5F-539017FB5E6B}" type="pres">
      <dgm:prSet presAssocID="{E8A13F82-502B-426E-92B3-3CD339869380}" presName="parentText" presStyleLbl="node1" presStyleIdx="1" presStyleCnt="2">
        <dgm:presLayoutVars>
          <dgm:chMax val="1"/>
          <dgm:bulletEnabled val="1"/>
        </dgm:presLayoutVars>
      </dgm:prSet>
      <dgm:spPr/>
    </dgm:pt>
    <dgm:pt modelId="{554136CA-DFE7-4242-BF68-5F65F8229EFB}" type="pres">
      <dgm:prSet presAssocID="{E8A13F82-502B-426E-92B3-3CD339869380}" presName="descendantText" presStyleLbl="alignAccFollowNode1" presStyleIdx="1" presStyleCnt="2">
        <dgm:presLayoutVars>
          <dgm:bulletEnabled val="1"/>
        </dgm:presLayoutVars>
      </dgm:prSet>
      <dgm:spPr/>
    </dgm:pt>
  </dgm:ptLst>
  <dgm:cxnLst>
    <dgm:cxn modelId="{31372611-C3B6-4A4C-B519-26623550FD3E}" type="presOf" srcId="{7944AD0D-AAC4-428C-A000-0BC8AA148AFE}" destId="{5B2CDBBC-89F2-4E42-A414-AC8456BD0891}" srcOrd="0" destOrd="0" presId="urn:microsoft.com/office/officeart/2005/8/layout/vList5"/>
    <dgm:cxn modelId="{E48E3311-627F-C744-A346-6C33953E8156}" type="presOf" srcId="{E8A13F82-502B-426E-92B3-3CD339869380}" destId="{233B1177-3F28-E644-9F5F-539017FB5E6B}" srcOrd="0" destOrd="0" presId="urn:microsoft.com/office/officeart/2005/8/layout/vList5"/>
    <dgm:cxn modelId="{F3EC2034-AC41-4546-A343-D116DD94E288}" srcId="{441E5CD5-2D75-4D9C-B334-A2E713C05515}" destId="{E8A13F82-502B-426E-92B3-3CD339869380}" srcOrd="1" destOrd="0" parTransId="{98D1EDE9-8B9A-4A52-A1A3-E300F77997FF}" sibTransId="{6CBA00BB-6DA2-44E8-BB7C-324E2D5C3406}"/>
    <dgm:cxn modelId="{02959A40-6199-4308-AF8B-361769998FDC}" srcId="{7ABF1B9E-CBDE-48EB-8FF7-C8E3602D7867}" destId="{7944AD0D-AAC4-428C-A000-0BC8AA148AFE}" srcOrd="0" destOrd="0" parTransId="{DF95FE5D-007B-469C-9EE5-5536CE26CF74}" sibTransId="{0627CDEB-9E7A-4853-87E1-0386D0A5D9B8}"/>
    <dgm:cxn modelId="{7831064A-4645-784F-8FC5-58F7E6B6EC18}" type="presOf" srcId="{7ABF1B9E-CBDE-48EB-8FF7-C8E3602D7867}" destId="{11611927-A370-E34B-BE53-7D106623A031}" srcOrd="0" destOrd="0" presId="urn:microsoft.com/office/officeart/2005/8/layout/vList5"/>
    <dgm:cxn modelId="{227F6880-B5B4-AB4E-B1F2-09FAC7C3CF3E}" type="presOf" srcId="{291AA0D1-027D-3B47-889B-0A9A69485EFC}" destId="{5B2CDBBC-89F2-4E42-A414-AC8456BD0891}" srcOrd="0" destOrd="1" presId="urn:microsoft.com/office/officeart/2005/8/layout/vList5"/>
    <dgm:cxn modelId="{528095CD-8B5B-465E-AAAF-CAEBC2619A7C}" srcId="{E8A13F82-502B-426E-92B3-3CD339869380}" destId="{B93B339D-8FC5-40E4-A231-502129D4381F}" srcOrd="0" destOrd="0" parTransId="{E4D10441-A7B7-43E2-9DF9-302F6B13080E}" sibTransId="{2730FD12-D3F6-4C85-BCA2-ED71406F72BC}"/>
    <dgm:cxn modelId="{81A1BDD0-4227-4C78-A03C-4E3EB53ADF86}" srcId="{441E5CD5-2D75-4D9C-B334-A2E713C05515}" destId="{7ABF1B9E-CBDE-48EB-8FF7-C8E3602D7867}" srcOrd="0" destOrd="0" parTransId="{8A167362-7DAF-40C5-BBCB-0CABC600B25D}" sibTransId="{50D27EE1-6C56-4C07-9FB6-ED4BBE564E0E}"/>
    <dgm:cxn modelId="{F20D9ED5-8AD2-2D43-B7DD-4970693E95E0}" type="presOf" srcId="{441E5CD5-2D75-4D9C-B334-A2E713C05515}" destId="{79BE3BBC-51A6-EA44-AD5C-81AA39A053CC}" srcOrd="0" destOrd="0" presId="urn:microsoft.com/office/officeart/2005/8/layout/vList5"/>
    <dgm:cxn modelId="{E12321E0-158F-4444-A3EE-68D64A6E344A}" srcId="{7ABF1B9E-CBDE-48EB-8FF7-C8E3602D7867}" destId="{291AA0D1-027D-3B47-889B-0A9A69485EFC}" srcOrd="1" destOrd="0" parTransId="{62C6DCE4-8776-0344-A337-C8E3D399DAFD}" sibTransId="{4BC23422-0B45-6841-AB4F-3A8A7BC7377E}"/>
    <dgm:cxn modelId="{2B7EC0E2-5C57-8641-AC36-98A30B33A949}" type="presOf" srcId="{B93B339D-8FC5-40E4-A231-502129D4381F}" destId="{554136CA-DFE7-4242-BF68-5F65F8229EFB}" srcOrd="0" destOrd="0" presId="urn:microsoft.com/office/officeart/2005/8/layout/vList5"/>
    <dgm:cxn modelId="{84960171-02CE-7046-8833-D8D89A299DBB}" type="presParOf" srcId="{79BE3BBC-51A6-EA44-AD5C-81AA39A053CC}" destId="{F58B6720-49D1-304E-84C7-75F7B4645280}" srcOrd="0" destOrd="0" presId="urn:microsoft.com/office/officeart/2005/8/layout/vList5"/>
    <dgm:cxn modelId="{685B3970-7E8B-354D-A639-03D791FDE7B5}" type="presParOf" srcId="{F58B6720-49D1-304E-84C7-75F7B4645280}" destId="{11611927-A370-E34B-BE53-7D106623A031}" srcOrd="0" destOrd="0" presId="urn:microsoft.com/office/officeart/2005/8/layout/vList5"/>
    <dgm:cxn modelId="{63898610-08F1-9D40-8621-640B3EAC157C}" type="presParOf" srcId="{F58B6720-49D1-304E-84C7-75F7B4645280}" destId="{5B2CDBBC-89F2-4E42-A414-AC8456BD0891}" srcOrd="1" destOrd="0" presId="urn:microsoft.com/office/officeart/2005/8/layout/vList5"/>
    <dgm:cxn modelId="{AE47896C-8E65-2A4E-86CF-F7027FA68BB6}" type="presParOf" srcId="{79BE3BBC-51A6-EA44-AD5C-81AA39A053CC}" destId="{96F734AB-C3C3-0B41-A47F-C47FA8CC4A03}" srcOrd="1" destOrd="0" presId="urn:microsoft.com/office/officeart/2005/8/layout/vList5"/>
    <dgm:cxn modelId="{47B0EE50-3230-5347-8663-38CB2BE90415}" type="presParOf" srcId="{79BE3BBC-51A6-EA44-AD5C-81AA39A053CC}" destId="{0E74DA14-CD91-F941-B39D-B2DCF640C691}" srcOrd="2" destOrd="0" presId="urn:microsoft.com/office/officeart/2005/8/layout/vList5"/>
    <dgm:cxn modelId="{A1F09F6A-5546-9A41-B68A-9E3A8AC4EB2C}" type="presParOf" srcId="{0E74DA14-CD91-F941-B39D-B2DCF640C691}" destId="{233B1177-3F28-E644-9F5F-539017FB5E6B}" srcOrd="0" destOrd="0" presId="urn:microsoft.com/office/officeart/2005/8/layout/vList5"/>
    <dgm:cxn modelId="{B40E7C5E-CEF0-A442-8918-2B53DE048294}" type="presParOf" srcId="{0E74DA14-CD91-F941-B39D-B2DCF640C691}" destId="{554136CA-DFE7-4242-BF68-5F65F8229EFB}"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5224A6-AA92-8641-A9C5-C8021E2AC8BE}" type="doc">
      <dgm:prSet loTypeId="urn:microsoft.com/office/officeart/2005/8/layout/vList2" loCatId="list" qsTypeId="urn:microsoft.com/office/officeart/2005/8/quickstyle/simple2" qsCatId="simple" csTypeId="urn:microsoft.com/office/officeart/2005/8/colors/accent3_2" csCatId="accent3" phldr="1"/>
      <dgm:spPr/>
      <dgm:t>
        <a:bodyPr/>
        <a:lstStyle/>
        <a:p>
          <a:endParaRPr lang="en-US"/>
        </a:p>
      </dgm:t>
    </dgm:pt>
    <dgm:pt modelId="{3271FDE6-BF0C-A24D-8BD9-F7EC1BD0471C}">
      <dgm:prSet/>
      <dgm:spPr>
        <a:ln>
          <a:noFill/>
        </a:ln>
      </dgm:spPr>
      <dgm:t>
        <a:bodyPr/>
        <a:lstStyle/>
        <a:p>
          <a:r>
            <a:rPr lang="en-US" b="0" i="0" dirty="0"/>
            <a:t>Types of t-tests:</a:t>
          </a:r>
          <a:endParaRPr lang="en-US" dirty="0"/>
        </a:p>
      </dgm:t>
    </dgm:pt>
    <dgm:pt modelId="{9C00CE56-06B8-1447-BC40-5CC86C542306}" type="parTrans" cxnId="{42B860D4-09B8-294B-9F31-F42D62A05F40}">
      <dgm:prSet/>
      <dgm:spPr/>
      <dgm:t>
        <a:bodyPr/>
        <a:lstStyle/>
        <a:p>
          <a:endParaRPr lang="en-US"/>
        </a:p>
      </dgm:t>
    </dgm:pt>
    <dgm:pt modelId="{04272241-DF18-244B-9DCD-72879BC1901D}" type="sibTrans" cxnId="{42B860D4-09B8-294B-9F31-F42D62A05F40}">
      <dgm:prSet/>
      <dgm:spPr/>
      <dgm:t>
        <a:bodyPr/>
        <a:lstStyle/>
        <a:p>
          <a:endParaRPr lang="en-US"/>
        </a:p>
      </dgm:t>
    </dgm:pt>
    <dgm:pt modelId="{F7B4DC9A-A0C4-3342-9E59-E1A6AF5C93FA}">
      <dgm:prSet/>
      <dgm:spPr>
        <a:ln>
          <a:noFill/>
        </a:ln>
      </dgm:spPr>
      <dgm:t>
        <a:bodyPr/>
        <a:lstStyle/>
        <a:p>
          <a:r>
            <a:rPr lang="en-US" b="0" i="0" dirty="0"/>
            <a:t>1-sample t-test: comparing the mean of one group to a known value </a:t>
          </a:r>
          <a:endParaRPr lang="en-US" dirty="0"/>
        </a:p>
      </dgm:t>
    </dgm:pt>
    <dgm:pt modelId="{8A0FCF7B-539A-824B-A4F0-B20922AD54F4}" type="parTrans" cxnId="{6923A060-653A-8E41-8FFC-7D955D945032}">
      <dgm:prSet/>
      <dgm:spPr/>
      <dgm:t>
        <a:bodyPr/>
        <a:lstStyle/>
        <a:p>
          <a:endParaRPr lang="en-US"/>
        </a:p>
      </dgm:t>
    </dgm:pt>
    <dgm:pt modelId="{6AA0CD16-C5D1-A543-A740-F440AC55BA85}" type="sibTrans" cxnId="{6923A060-653A-8E41-8FFC-7D955D945032}">
      <dgm:prSet/>
      <dgm:spPr/>
      <dgm:t>
        <a:bodyPr/>
        <a:lstStyle/>
        <a:p>
          <a:endParaRPr lang="en-US"/>
        </a:p>
      </dgm:t>
    </dgm:pt>
    <dgm:pt modelId="{A45696D6-B3B8-5149-AE68-DE1FA017F96A}">
      <dgm:prSet/>
      <dgm:spPr>
        <a:ln>
          <a:noFill/>
        </a:ln>
      </dgm:spPr>
      <dgm:t>
        <a:bodyPr/>
        <a:lstStyle/>
        <a:p>
          <a:r>
            <a:rPr lang="en-US" b="0" i="0" dirty="0"/>
            <a:t>2-sample t-test: evaluating two independent groups</a:t>
          </a:r>
          <a:endParaRPr lang="en-US" dirty="0"/>
        </a:p>
      </dgm:t>
    </dgm:pt>
    <dgm:pt modelId="{644A795B-F154-984A-8AED-31E35EE1773F}" type="parTrans" cxnId="{91CF8EE3-CAF9-E049-84C4-1B960E3A86FA}">
      <dgm:prSet/>
      <dgm:spPr/>
      <dgm:t>
        <a:bodyPr/>
        <a:lstStyle/>
        <a:p>
          <a:endParaRPr lang="en-US"/>
        </a:p>
      </dgm:t>
    </dgm:pt>
    <dgm:pt modelId="{62B332CE-674F-C04E-85CB-771B611D15A0}" type="sibTrans" cxnId="{91CF8EE3-CAF9-E049-84C4-1B960E3A86FA}">
      <dgm:prSet/>
      <dgm:spPr/>
      <dgm:t>
        <a:bodyPr/>
        <a:lstStyle/>
        <a:p>
          <a:endParaRPr lang="en-US"/>
        </a:p>
      </dgm:t>
    </dgm:pt>
    <dgm:pt modelId="{BE273C33-7733-BA48-8645-FB4E56BA48CC}">
      <dgm:prSet/>
      <dgm:spPr>
        <a:ln>
          <a:noFill/>
        </a:ln>
      </dgm:spPr>
      <dgm:t>
        <a:bodyPr/>
        <a:lstStyle/>
        <a:p>
          <a:r>
            <a:rPr lang="en-US" b="0" i="0" dirty="0"/>
            <a:t>2-sample paired t-test: using the same group at two different time points</a:t>
          </a:r>
          <a:endParaRPr lang="en-US" dirty="0"/>
        </a:p>
      </dgm:t>
    </dgm:pt>
    <dgm:pt modelId="{E0510952-3B74-3C41-8A2B-6432EA2C0711}" type="parTrans" cxnId="{D3397D09-7BB2-2744-94FB-33BA55F02988}">
      <dgm:prSet/>
      <dgm:spPr/>
      <dgm:t>
        <a:bodyPr/>
        <a:lstStyle/>
        <a:p>
          <a:endParaRPr lang="en-US"/>
        </a:p>
      </dgm:t>
    </dgm:pt>
    <dgm:pt modelId="{B1619DFB-FE73-F644-8FD6-87F30C4988B5}" type="sibTrans" cxnId="{D3397D09-7BB2-2744-94FB-33BA55F02988}">
      <dgm:prSet/>
      <dgm:spPr/>
      <dgm:t>
        <a:bodyPr/>
        <a:lstStyle/>
        <a:p>
          <a:endParaRPr lang="en-US"/>
        </a:p>
      </dgm:t>
    </dgm:pt>
    <dgm:pt modelId="{7F8701DB-32B1-794E-A8EC-1FF15690E066}">
      <dgm:prSet/>
      <dgm:spPr>
        <a:ln>
          <a:noFill/>
        </a:ln>
      </dgm:spPr>
      <dgm:t>
        <a:bodyPr/>
        <a:lstStyle/>
        <a:p>
          <a:r>
            <a:rPr lang="en-US" b="0" i="0" dirty="0"/>
            <a:t>Outputs from a t-test:</a:t>
          </a:r>
          <a:endParaRPr lang="en-US" dirty="0"/>
        </a:p>
      </dgm:t>
    </dgm:pt>
    <dgm:pt modelId="{6AFB9C78-811E-E14D-8B95-432321654F86}" type="parTrans" cxnId="{95A3D06C-36A5-B841-8F07-4DBA63789C03}">
      <dgm:prSet/>
      <dgm:spPr/>
      <dgm:t>
        <a:bodyPr/>
        <a:lstStyle/>
        <a:p>
          <a:endParaRPr lang="en-US"/>
        </a:p>
      </dgm:t>
    </dgm:pt>
    <dgm:pt modelId="{CE4F0D75-5C0F-CB4E-B78B-92A0423E26CE}" type="sibTrans" cxnId="{95A3D06C-36A5-B841-8F07-4DBA63789C03}">
      <dgm:prSet/>
      <dgm:spPr/>
      <dgm:t>
        <a:bodyPr/>
        <a:lstStyle/>
        <a:p>
          <a:endParaRPr lang="en-US"/>
        </a:p>
      </dgm:t>
    </dgm:pt>
    <dgm:pt modelId="{034F2EB3-D4D4-B34A-9064-44BBCE530924}">
      <dgm:prSet/>
      <dgm:spPr/>
      <dgm:t>
        <a:bodyPr/>
        <a:lstStyle/>
        <a:p>
          <a:r>
            <a:rPr lang="en-US" b="0" i="0" dirty="0"/>
            <a:t>t-value: Size of the difference relative to variability in the sample data. A larger value indicates that there is a greater difference between groups.</a:t>
          </a:r>
          <a:endParaRPr lang="en-US" dirty="0"/>
        </a:p>
      </dgm:t>
    </dgm:pt>
    <dgm:pt modelId="{81A1AAAD-5FE2-1448-8E89-D410B249947A}" type="parTrans" cxnId="{6DBD2AA5-C034-0D4A-A3E0-B45344316DE7}">
      <dgm:prSet/>
      <dgm:spPr/>
      <dgm:t>
        <a:bodyPr/>
        <a:lstStyle/>
        <a:p>
          <a:endParaRPr lang="en-US"/>
        </a:p>
      </dgm:t>
    </dgm:pt>
    <dgm:pt modelId="{8584A22A-B582-6249-82E0-119F46672E63}" type="sibTrans" cxnId="{6DBD2AA5-C034-0D4A-A3E0-B45344316DE7}">
      <dgm:prSet/>
      <dgm:spPr/>
      <dgm:t>
        <a:bodyPr/>
        <a:lstStyle/>
        <a:p>
          <a:endParaRPr lang="en-US"/>
        </a:p>
      </dgm:t>
    </dgm:pt>
    <dgm:pt modelId="{A7DFF8C3-9E06-5546-A965-02BC161D6708}">
      <dgm:prSet/>
      <dgm:spPr/>
      <dgm:t>
        <a:bodyPr/>
        <a:lstStyle/>
        <a:p>
          <a:r>
            <a:rPr lang="en-US" b="0" i="0" dirty="0"/>
            <a:t>Degrees of freedom (df): Number of independent variables that vary with respect to a given analysis. Affects the shape of t-distribution.</a:t>
          </a:r>
          <a:endParaRPr lang="en-US" dirty="0"/>
        </a:p>
      </dgm:t>
    </dgm:pt>
    <dgm:pt modelId="{7D9C35CE-F1CE-3F4D-91FE-51726CA3DD6C}" type="parTrans" cxnId="{FC2B5177-E56D-D74A-B22D-0A25E3D6B448}">
      <dgm:prSet/>
      <dgm:spPr/>
      <dgm:t>
        <a:bodyPr/>
        <a:lstStyle/>
        <a:p>
          <a:endParaRPr lang="en-US"/>
        </a:p>
      </dgm:t>
    </dgm:pt>
    <dgm:pt modelId="{1CC853A1-F958-D744-B17C-B63A52CFABC3}" type="sibTrans" cxnId="{FC2B5177-E56D-D74A-B22D-0A25E3D6B448}">
      <dgm:prSet/>
      <dgm:spPr/>
      <dgm:t>
        <a:bodyPr/>
        <a:lstStyle/>
        <a:p>
          <a:endParaRPr lang="en-US"/>
        </a:p>
      </dgm:t>
    </dgm:pt>
    <dgm:pt modelId="{382B7E28-FA91-084A-BC93-374E4487C7D1}">
      <dgm:prSet/>
      <dgm:spPr/>
      <dgm:t>
        <a:bodyPr/>
        <a:lstStyle/>
        <a:p>
          <a:r>
            <a:rPr lang="en-US" b="0" i="0" dirty="0"/>
            <a:t>p-value: Shows the probability that the observed difference is due to chance (if p &lt; 0.05)</a:t>
          </a:r>
          <a:endParaRPr lang="en-US" dirty="0"/>
        </a:p>
      </dgm:t>
    </dgm:pt>
    <dgm:pt modelId="{EBFAD567-060B-2940-8CFE-931F6CC9E314}" type="parTrans" cxnId="{B27D89C0-16E6-B347-B904-453663AC28DB}">
      <dgm:prSet/>
      <dgm:spPr/>
      <dgm:t>
        <a:bodyPr/>
        <a:lstStyle/>
        <a:p>
          <a:endParaRPr lang="en-US"/>
        </a:p>
      </dgm:t>
    </dgm:pt>
    <dgm:pt modelId="{C981982E-7C61-6C48-8153-224F200D771B}" type="sibTrans" cxnId="{B27D89C0-16E6-B347-B904-453663AC28DB}">
      <dgm:prSet/>
      <dgm:spPr/>
      <dgm:t>
        <a:bodyPr/>
        <a:lstStyle/>
        <a:p>
          <a:endParaRPr lang="en-US"/>
        </a:p>
      </dgm:t>
    </dgm:pt>
    <dgm:pt modelId="{E3A0D8B5-0A57-8744-802B-131428187187}" type="pres">
      <dgm:prSet presAssocID="{305224A6-AA92-8641-A9C5-C8021E2AC8BE}" presName="linear" presStyleCnt="0">
        <dgm:presLayoutVars>
          <dgm:animLvl val="lvl"/>
          <dgm:resizeHandles val="exact"/>
        </dgm:presLayoutVars>
      </dgm:prSet>
      <dgm:spPr/>
    </dgm:pt>
    <dgm:pt modelId="{ECBE5CC9-50A2-6F4E-B05F-C0BA1059CD88}" type="pres">
      <dgm:prSet presAssocID="{3271FDE6-BF0C-A24D-8BD9-F7EC1BD0471C}" presName="parentText" presStyleLbl="node1" presStyleIdx="0" presStyleCnt="2" custLinFactNeighborX="0" custLinFactNeighborY="-79839">
        <dgm:presLayoutVars>
          <dgm:chMax val="0"/>
          <dgm:bulletEnabled val="1"/>
        </dgm:presLayoutVars>
      </dgm:prSet>
      <dgm:spPr/>
    </dgm:pt>
    <dgm:pt modelId="{CB6A639B-B51B-BF43-B5E8-D7B5B1779F2E}" type="pres">
      <dgm:prSet presAssocID="{3271FDE6-BF0C-A24D-8BD9-F7EC1BD0471C}" presName="childText" presStyleLbl="revTx" presStyleIdx="0" presStyleCnt="2">
        <dgm:presLayoutVars>
          <dgm:bulletEnabled val="1"/>
        </dgm:presLayoutVars>
      </dgm:prSet>
      <dgm:spPr/>
    </dgm:pt>
    <dgm:pt modelId="{2B9DB98A-5E02-D645-9DFF-257951119E12}" type="pres">
      <dgm:prSet presAssocID="{7F8701DB-32B1-794E-A8EC-1FF15690E066}" presName="parentText" presStyleLbl="node1" presStyleIdx="1" presStyleCnt="2">
        <dgm:presLayoutVars>
          <dgm:chMax val="0"/>
          <dgm:bulletEnabled val="1"/>
        </dgm:presLayoutVars>
      </dgm:prSet>
      <dgm:spPr/>
    </dgm:pt>
    <dgm:pt modelId="{CA527A0C-8B01-A048-A49A-7BC87B4B3538}" type="pres">
      <dgm:prSet presAssocID="{7F8701DB-32B1-794E-A8EC-1FF15690E066}" presName="childText" presStyleLbl="revTx" presStyleIdx="1" presStyleCnt="2">
        <dgm:presLayoutVars>
          <dgm:bulletEnabled val="1"/>
        </dgm:presLayoutVars>
      </dgm:prSet>
      <dgm:spPr/>
    </dgm:pt>
  </dgm:ptLst>
  <dgm:cxnLst>
    <dgm:cxn modelId="{D3397D09-7BB2-2744-94FB-33BA55F02988}" srcId="{3271FDE6-BF0C-A24D-8BD9-F7EC1BD0471C}" destId="{BE273C33-7733-BA48-8645-FB4E56BA48CC}" srcOrd="2" destOrd="0" parTransId="{E0510952-3B74-3C41-8A2B-6432EA2C0711}" sibTransId="{B1619DFB-FE73-F644-8FD6-87F30C4988B5}"/>
    <dgm:cxn modelId="{8A71E31F-DE16-F647-A442-C4DF71E9B63B}" type="presOf" srcId="{A7DFF8C3-9E06-5546-A965-02BC161D6708}" destId="{CA527A0C-8B01-A048-A49A-7BC87B4B3538}" srcOrd="0" destOrd="1" presId="urn:microsoft.com/office/officeart/2005/8/layout/vList2"/>
    <dgm:cxn modelId="{B584FB26-0A3D-5B43-8D11-D731B65BD392}" type="presOf" srcId="{F7B4DC9A-A0C4-3342-9E59-E1A6AF5C93FA}" destId="{CB6A639B-B51B-BF43-B5E8-D7B5B1779F2E}" srcOrd="0" destOrd="0" presId="urn:microsoft.com/office/officeart/2005/8/layout/vList2"/>
    <dgm:cxn modelId="{C6D9CD4F-4A18-C348-8243-77F8096BC1B2}" type="presOf" srcId="{BE273C33-7733-BA48-8645-FB4E56BA48CC}" destId="{CB6A639B-B51B-BF43-B5E8-D7B5B1779F2E}" srcOrd="0" destOrd="2" presId="urn:microsoft.com/office/officeart/2005/8/layout/vList2"/>
    <dgm:cxn modelId="{6923A060-653A-8E41-8FFC-7D955D945032}" srcId="{3271FDE6-BF0C-A24D-8BD9-F7EC1BD0471C}" destId="{F7B4DC9A-A0C4-3342-9E59-E1A6AF5C93FA}" srcOrd="0" destOrd="0" parTransId="{8A0FCF7B-539A-824B-A4F0-B20922AD54F4}" sibTransId="{6AA0CD16-C5D1-A543-A740-F440AC55BA85}"/>
    <dgm:cxn modelId="{95A3D06C-36A5-B841-8F07-4DBA63789C03}" srcId="{305224A6-AA92-8641-A9C5-C8021E2AC8BE}" destId="{7F8701DB-32B1-794E-A8EC-1FF15690E066}" srcOrd="1" destOrd="0" parTransId="{6AFB9C78-811E-E14D-8B95-432321654F86}" sibTransId="{CE4F0D75-5C0F-CB4E-B78B-92A0423E26CE}"/>
    <dgm:cxn modelId="{FC2B5177-E56D-D74A-B22D-0A25E3D6B448}" srcId="{7F8701DB-32B1-794E-A8EC-1FF15690E066}" destId="{A7DFF8C3-9E06-5546-A965-02BC161D6708}" srcOrd="1" destOrd="0" parTransId="{7D9C35CE-F1CE-3F4D-91FE-51726CA3DD6C}" sibTransId="{1CC853A1-F958-D744-B17C-B63A52CFABC3}"/>
    <dgm:cxn modelId="{C39BE1A3-38BE-4A48-8224-6EBE15368ABD}" type="presOf" srcId="{3271FDE6-BF0C-A24D-8BD9-F7EC1BD0471C}" destId="{ECBE5CC9-50A2-6F4E-B05F-C0BA1059CD88}" srcOrd="0" destOrd="0" presId="urn:microsoft.com/office/officeart/2005/8/layout/vList2"/>
    <dgm:cxn modelId="{6DBD2AA5-C034-0D4A-A3E0-B45344316DE7}" srcId="{7F8701DB-32B1-794E-A8EC-1FF15690E066}" destId="{034F2EB3-D4D4-B34A-9064-44BBCE530924}" srcOrd="0" destOrd="0" parTransId="{81A1AAAD-5FE2-1448-8E89-D410B249947A}" sibTransId="{8584A22A-B582-6249-82E0-119F46672E63}"/>
    <dgm:cxn modelId="{BC6B74C0-83D5-E248-AF04-2A11200BC702}" type="presOf" srcId="{A45696D6-B3B8-5149-AE68-DE1FA017F96A}" destId="{CB6A639B-B51B-BF43-B5E8-D7B5B1779F2E}" srcOrd="0" destOrd="1" presId="urn:microsoft.com/office/officeart/2005/8/layout/vList2"/>
    <dgm:cxn modelId="{B27D89C0-16E6-B347-B904-453663AC28DB}" srcId="{7F8701DB-32B1-794E-A8EC-1FF15690E066}" destId="{382B7E28-FA91-084A-BC93-374E4487C7D1}" srcOrd="2" destOrd="0" parTransId="{EBFAD567-060B-2940-8CFE-931F6CC9E314}" sibTransId="{C981982E-7C61-6C48-8153-224F200D771B}"/>
    <dgm:cxn modelId="{E61F5ECD-C0BA-4F4E-93B9-1D69C227E642}" type="presOf" srcId="{7F8701DB-32B1-794E-A8EC-1FF15690E066}" destId="{2B9DB98A-5E02-D645-9DFF-257951119E12}" srcOrd="0" destOrd="0" presId="urn:microsoft.com/office/officeart/2005/8/layout/vList2"/>
    <dgm:cxn modelId="{F90205D3-FB91-1742-8EB3-26726967FD37}" type="presOf" srcId="{382B7E28-FA91-084A-BC93-374E4487C7D1}" destId="{CA527A0C-8B01-A048-A49A-7BC87B4B3538}" srcOrd="0" destOrd="2" presId="urn:microsoft.com/office/officeart/2005/8/layout/vList2"/>
    <dgm:cxn modelId="{42B860D4-09B8-294B-9F31-F42D62A05F40}" srcId="{305224A6-AA92-8641-A9C5-C8021E2AC8BE}" destId="{3271FDE6-BF0C-A24D-8BD9-F7EC1BD0471C}" srcOrd="0" destOrd="0" parTransId="{9C00CE56-06B8-1447-BC40-5CC86C542306}" sibTransId="{04272241-DF18-244B-9DCD-72879BC1901D}"/>
    <dgm:cxn modelId="{73C074DD-99C6-F34B-9915-7E320AD50265}" type="presOf" srcId="{034F2EB3-D4D4-B34A-9064-44BBCE530924}" destId="{CA527A0C-8B01-A048-A49A-7BC87B4B3538}" srcOrd="0" destOrd="0" presId="urn:microsoft.com/office/officeart/2005/8/layout/vList2"/>
    <dgm:cxn modelId="{8414C4E2-048D-9949-BE45-29D46B638AE2}" type="presOf" srcId="{305224A6-AA92-8641-A9C5-C8021E2AC8BE}" destId="{E3A0D8B5-0A57-8744-802B-131428187187}" srcOrd="0" destOrd="0" presId="urn:microsoft.com/office/officeart/2005/8/layout/vList2"/>
    <dgm:cxn modelId="{91CF8EE3-CAF9-E049-84C4-1B960E3A86FA}" srcId="{3271FDE6-BF0C-A24D-8BD9-F7EC1BD0471C}" destId="{A45696D6-B3B8-5149-AE68-DE1FA017F96A}" srcOrd="1" destOrd="0" parTransId="{644A795B-F154-984A-8AED-31E35EE1773F}" sibTransId="{62B332CE-674F-C04E-85CB-771B611D15A0}"/>
    <dgm:cxn modelId="{41D14D84-019D-9F4A-83E6-031329D9D9EE}" type="presParOf" srcId="{E3A0D8B5-0A57-8744-802B-131428187187}" destId="{ECBE5CC9-50A2-6F4E-B05F-C0BA1059CD88}" srcOrd="0" destOrd="0" presId="urn:microsoft.com/office/officeart/2005/8/layout/vList2"/>
    <dgm:cxn modelId="{8118A772-A99C-674A-82F7-FB6D41CB9C05}" type="presParOf" srcId="{E3A0D8B5-0A57-8744-802B-131428187187}" destId="{CB6A639B-B51B-BF43-B5E8-D7B5B1779F2E}" srcOrd="1" destOrd="0" presId="urn:microsoft.com/office/officeart/2005/8/layout/vList2"/>
    <dgm:cxn modelId="{1C5CE1D1-3261-8841-8D07-E85D3CDACAA6}" type="presParOf" srcId="{E3A0D8B5-0A57-8744-802B-131428187187}" destId="{2B9DB98A-5E02-D645-9DFF-257951119E12}" srcOrd="2" destOrd="0" presId="urn:microsoft.com/office/officeart/2005/8/layout/vList2"/>
    <dgm:cxn modelId="{27414AB8-05E6-ED4E-B55D-269579C17F4C}" type="presParOf" srcId="{E3A0D8B5-0A57-8744-802B-131428187187}" destId="{CA527A0C-8B01-A048-A49A-7BC87B4B353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2CDBBC-89F2-4E42-A414-AC8456BD0891}">
      <dsp:nvSpPr>
        <dsp:cNvPr id="0" name=""/>
        <dsp:cNvSpPr/>
      </dsp:nvSpPr>
      <dsp:spPr>
        <a:xfrm rot="5400000">
          <a:off x="5126072" y="-2209762"/>
          <a:ext cx="516198" cy="506745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Describes the “center” of data</a:t>
          </a:r>
        </a:p>
        <a:p>
          <a:pPr marL="57150" lvl="1" indent="-57150" algn="l" defTabSz="488950">
            <a:lnSpc>
              <a:spcPct val="90000"/>
            </a:lnSpc>
            <a:spcBef>
              <a:spcPct val="0"/>
            </a:spcBef>
            <a:spcAft>
              <a:spcPct val="15000"/>
            </a:spcAft>
            <a:buChar char="•"/>
          </a:pPr>
          <a:r>
            <a:rPr lang="en-US" sz="1100" kern="1200" dirty="0"/>
            <a:t>Mean, median and mode</a:t>
          </a:r>
        </a:p>
      </dsp:txBody>
      <dsp:txXfrm rot="-5400000">
        <a:off x="2850444" y="91065"/>
        <a:ext cx="5042257" cy="465800"/>
      </dsp:txXfrm>
    </dsp:sp>
    <dsp:sp modelId="{11611927-A370-E34B-BE53-7D106623A031}">
      <dsp:nvSpPr>
        <dsp:cNvPr id="0" name=""/>
        <dsp:cNvSpPr/>
      </dsp:nvSpPr>
      <dsp:spPr>
        <a:xfrm>
          <a:off x="0" y="1341"/>
          <a:ext cx="2850444" cy="645248"/>
        </a:xfrm>
        <a:prstGeom prst="roundRect">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t>Central Tendency</a:t>
          </a:r>
        </a:p>
      </dsp:txBody>
      <dsp:txXfrm>
        <a:off x="31498" y="32839"/>
        <a:ext cx="2787448" cy="582252"/>
      </dsp:txXfrm>
    </dsp:sp>
    <dsp:sp modelId="{554136CA-DFE7-4242-BF68-5F65F8229EFB}">
      <dsp:nvSpPr>
        <dsp:cNvPr id="0" name=""/>
        <dsp:cNvSpPr/>
      </dsp:nvSpPr>
      <dsp:spPr>
        <a:xfrm rot="5400000">
          <a:off x="5126072" y="-1532251"/>
          <a:ext cx="516198" cy="506745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Spread of values in the dataset</a:t>
          </a:r>
        </a:p>
        <a:p>
          <a:pPr marL="57150" lvl="1" indent="-57150" algn="l" defTabSz="488950">
            <a:lnSpc>
              <a:spcPct val="90000"/>
            </a:lnSpc>
            <a:spcBef>
              <a:spcPct val="0"/>
            </a:spcBef>
            <a:spcAft>
              <a:spcPct val="15000"/>
            </a:spcAft>
            <a:buChar char="•"/>
          </a:pPr>
          <a:r>
            <a:rPr lang="en-US" sz="1100" kern="1200" dirty="0"/>
            <a:t>Range, variance, and standard deviation</a:t>
          </a:r>
        </a:p>
      </dsp:txBody>
      <dsp:txXfrm rot="-5400000">
        <a:off x="2850444" y="768576"/>
        <a:ext cx="5042257" cy="465800"/>
      </dsp:txXfrm>
    </dsp:sp>
    <dsp:sp modelId="{233B1177-3F28-E644-9F5F-539017FB5E6B}">
      <dsp:nvSpPr>
        <dsp:cNvPr id="0" name=""/>
        <dsp:cNvSpPr/>
      </dsp:nvSpPr>
      <dsp:spPr>
        <a:xfrm>
          <a:off x="0" y="678852"/>
          <a:ext cx="2850444" cy="645248"/>
        </a:xfrm>
        <a:prstGeom prst="roundRect">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t>Dispersion</a:t>
          </a:r>
        </a:p>
      </dsp:txBody>
      <dsp:txXfrm>
        <a:off x="31498" y="710350"/>
        <a:ext cx="2787448" cy="582252"/>
      </dsp:txXfrm>
    </dsp:sp>
    <dsp:sp modelId="{37607759-5BB7-3546-B1A8-05837709D5EC}">
      <dsp:nvSpPr>
        <dsp:cNvPr id="0" name=""/>
        <dsp:cNvSpPr/>
      </dsp:nvSpPr>
      <dsp:spPr>
        <a:xfrm rot="5400000">
          <a:off x="5126072" y="-854739"/>
          <a:ext cx="516198" cy="506745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Indicates where a specific data point falls in the distribution</a:t>
          </a:r>
        </a:p>
        <a:p>
          <a:pPr marL="57150" lvl="1" indent="-57150" algn="l" defTabSz="488950">
            <a:lnSpc>
              <a:spcPct val="90000"/>
            </a:lnSpc>
            <a:spcBef>
              <a:spcPct val="0"/>
            </a:spcBef>
            <a:spcAft>
              <a:spcPct val="15000"/>
            </a:spcAft>
            <a:buChar char="•"/>
          </a:pPr>
          <a:r>
            <a:rPr lang="en-US" sz="1100" kern="1200" dirty="0"/>
            <a:t>Quartile, decile, and percentile</a:t>
          </a:r>
        </a:p>
      </dsp:txBody>
      <dsp:txXfrm rot="-5400000">
        <a:off x="2850444" y="1446088"/>
        <a:ext cx="5042257" cy="465800"/>
      </dsp:txXfrm>
    </dsp:sp>
    <dsp:sp modelId="{6A9B44A6-A721-934E-9647-7CB398169533}">
      <dsp:nvSpPr>
        <dsp:cNvPr id="0" name=""/>
        <dsp:cNvSpPr/>
      </dsp:nvSpPr>
      <dsp:spPr>
        <a:xfrm>
          <a:off x="0" y="1356363"/>
          <a:ext cx="2850444" cy="645248"/>
        </a:xfrm>
        <a:prstGeom prst="roundRect">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t>Location</a:t>
          </a:r>
        </a:p>
      </dsp:txBody>
      <dsp:txXfrm>
        <a:off x="31498" y="1387861"/>
        <a:ext cx="2787448" cy="582252"/>
      </dsp:txXfrm>
    </dsp:sp>
    <dsp:sp modelId="{4D6ED2EE-F3AD-1441-99B1-23C58CBB05BD}">
      <dsp:nvSpPr>
        <dsp:cNvPr id="0" name=""/>
        <dsp:cNvSpPr/>
      </dsp:nvSpPr>
      <dsp:spPr>
        <a:xfrm rot="5400000">
          <a:off x="5126072" y="-177228"/>
          <a:ext cx="516198" cy="506745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20955" rIns="41910" bIns="2095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Summarizes how often something happens</a:t>
          </a:r>
        </a:p>
        <a:p>
          <a:pPr marL="57150" lvl="1" indent="-57150" algn="l" defTabSz="488950">
            <a:lnSpc>
              <a:spcPct val="90000"/>
            </a:lnSpc>
            <a:spcBef>
              <a:spcPct val="0"/>
            </a:spcBef>
            <a:spcAft>
              <a:spcPct val="15000"/>
            </a:spcAft>
            <a:buChar char="•"/>
          </a:pPr>
          <a:r>
            <a:rPr lang="en-US" sz="1100" kern="1200" dirty="0"/>
            <a:t>Proportion, rate, prevalence, incidence, odds ratio (OR), and relative risk (RR)</a:t>
          </a:r>
        </a:p>
      </dsp:txBody>
      <dsp:txXfrm rot="-5400000">
        <a:off x="2850444" y="2123599"/>
        <a:ext cx="5042257" cy="465800"/>
      </dsp:txXfrm>
    </dsp:sp>
    <dsp:sp modelId="{C1767A7A-5B2A-3E4A-980A-B9EBA80DA6B3}">
      <dsp:nvSpPr>
        <dsp:cNvPr id="0" name=""/>
        <dsp:cNvSpPr/>
      </dsp:nvSpPr>
      <dsp:spPr>
        <a:xfrm>
          <a:off x="0" y="2033874"/>
          <a:ext cx="2850444" cy="645248"/>
        </a:xfrm>
        <a:prstGeom prst="roundRect">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72390" tIns="36195" rIns="72390" bIns="36195" numCol="1" spcCol="1270" anchor="ctr" anchorCtr="0">
          <a:noAutofit/>
        </a:bodyPr>
        <a:lstStyle/>
        <a:p>
          <a:pPr marL="0" lvl="0" indent="0" algn="ctr" defTabSz="844550">
            <a:lnSpc>
              <a:spcPct val="90000"/>
            </a:lnSpc>
            <a:spcBef>
              <a:spcPct val="0"/>
            </a:spcBef>
            <a:spcAft>
              <a:spcPct val="35000"/>
            </a:spcAft>
            <a:buNone/>
          </a:pPr>
          <a:r>
            <a:rPr lang="en-US" sz="1900" b="1" kern="1200" dirty="0"/>
            <a:t>Proportions and Rates</a:t>
          </a:r>
        </a:p>
      </dsp:txBody>
      <dsp:txXfrm>
        <a:off x="31498" y="2065372"/>
        <a:ext cx="2787448" cy="5822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2CDBBC-89F2-4E42-A414-AC8456BD0891}">
      <dsp:nvSpPr>
        <dsp:cNvPr id="0" name=""/>
        <dsp:cNvSpPr/>
      </dsp:nvSpPr>
      <dsp:spPr>
        <a:xfrm rot="5400000">
          <a:off x="4861167" y="-1879939"/>
          <a:ext cx="1046009" cy="506745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kern="1200" dirty="0">
              <a:solidFill>
                <a:schemeClr val="tx1"/>
              </a:solidFill>
            </a:rPr>
            <a:t>Used to assess if there is enough evidence to reject the null hypothesis. </a:t>
          </a:r>
          <a:endParaRPr lang="en-US" sz="1300" kern="1200" dirty="0"/>
        </a:p>
        <a:p>
          <a:pPr marL="114300" lvl="1" indent="-114300" algn="l" defTabSz="577850">
            <a:lnSpc>
              <a:spcPct val="90000"/>
            </a:lnSpc>
            <a:spcBef>
              <a:spcPct val="0"/>
            </a:spcBef>
            <a:spcAft>
              <a:spcPct val="15000"/>
            </a:spcAft>
            <a:buChar char="•"/>
          </a:pPr>
          <a:r>
            <a:rPr lang="en-US" sz="1300" b="0" kern="1200" dirty="0"/>
            <a:t>The n</a:t>
          </a:r>
          <a:r>
            <a:rPr lang="en-US" sz="1300" b="0" i="0" u="none" kern="1200" dirty="0"/>
            <a:t>ull hypothesis (H₀) is a statement that there is no effect or difference. It represents the assumption a researcher is trying to test against.</a:t>
          </a:r>
          <a:endParaRPr lang="en-US" sz="1300" kern="1200" dirty="0"/>
        </a:p>
      </dsp:txBody>
      <dsp:txXfrm rot="-5400000">
        <a:off x="2850444" y="181846"/>
        <a:ext cx="5016394" cy="943885"/>
      </dsp:txXfrm>
    </dsp:sp>
    <dsp:sp modelId="{11611927-A370-E34B-BE53-7D106623A031}">
      <dsp:nvSpPr>
        <dsp:cNvPr id="0" name=""/>
        <dsp:cNvSpPr/>
      </dsp:nvSpPr>
      <dsp:spPr>
        <a:xfrm>
          <a:off x="0" y="0"/>
          <a:ext cx="2850444" cy="1307511"/>
        </a:xfrm>
        <a:prstGeom prst="roundRect">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b="1" kern="1200" dirty="0"/>
            <a:t>Hypothesis Testing</a:t>
          </a:r>
        </a:p>
      </dsp:txBody>
      <dsp:txXfrm>
        <a:off x="63827" y="63827"/>
        <a:ext cx="2722790" cy="1179857"/>
      </dsp:txXfrm>
    </dsp:sp>
    <dsp:sp modelId="{554136CA-DFE7-4242-BF68-5F65F8229EFB}">
      <dsp:nvSpPr>
        <dsp:cNvPr id="0" name=""/>
        <dsp:cNvSpPr/>
      </dsp:nvSpPr>
      <dsp:spPr>
        <a:xfrm rot="5400000">
          <a:off x="4861167" y="-507051"/>
          <a:ext cx="1046009" cy="5067456"/>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9530" tIns="24765" rIns="49530" bIns="24765" numCol="1" spcCol="1270" anchor="ctr" anchorCtr="0">
          <a:noAutofit/>
        </a:bodyPr>
        <a:lstStyle/>
        <a:p>
          <a:pPr marL="114300" lvl="1" indent="-114300" algn="l" defTabSz="577850">
            <a:lnSpc>
              <a:spcPct val="90000"/>
            </a:lnSpc>
            <a:spcBef>
              <a:spcPct val="0"/>
            </a:spcBef>
            <a:spcAft>
              <a:spcPct val="15000"/>
            </a:spcAft>
            <a:buChar char="•"/>
          </a:pPr>
          <a:r>
            <a:rPr lang="en-US" sz="1300" b="0" i="0" u="none" kern="1200" dirty="0"/>
            <a:t>Using sample data to estimate population parameters</a:t>
          </a:r>
          <a:endParaRPr lang="en-US" sz="1300" kern="1200" dirty="0"/>
        </a:p>
      </dsp:txBody>
      <dsp:txXfrm rot="-5400000">
        <a:off x="2850444" y="1554734"/>
        <a:ext cx="5016394" cy="943885"/>
      </dsp:txXfrm>
    </dsp:sp>
    <dsp:sp modelId="{233B1177-3F28-E644-9F5F-539017FB5E6B}">
      <dsp:nvSpPr>
        <dsp:cNvPr id="0" name=""/>
        <dsp:cNvSpPr/>
      </dsp:nvSpPr>
      <dsp:spPr>
        <a:xfrm>
          <a:off x="0" y="1372920"/>
          <a:ext cx="2850444" cy="1307511"/>
        </a:xfrm>
        <a:prstGeom prst="roundRect">
          <a:avLst/>
        </a:prstGeom>
        <a:solidFill>
          <a:schemeClr val="bg2">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64770" rIns="129540" bIns="64770" numCol="1" spcCol="1270" anchor="ctr" anchorCtr="0">
          <a:noAutofit/>
        </a:bodyPr>
        <a:lstStyle/>
        <a:p>
          <a:pPr marL="0" lvl="0" indent="0" algn="ctr" defTabSz="1511300">
            <a:lnSpc>
              <a:spcPct val="90000"/>
            </a:lnSpc>
            <a:spcBef>
              <a:spcPct val="0"/>
            </a:spcBef>
            <a:spcAft>
              <a:spcPct val="35000"/>
            </a:spcAft>
            <a:buNone/>
          </a:pPr>
          <a:r>
            <a:rPr lang="en-US" sz="3400" b="1" kern="1200" dirty="0"/>
            <a:t>Estimation</a:t>
          </a:r>
        </a:p>
      </dsp:txBody>
      <dsp:txXfrm>
        <a:off x="63827" y="1436747"/>
        <a:ext cx="2722790" cy="11798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BE5CC9-50A2-6F4E-B05F-C0BA1059CD88}">
      <dsp:nvSpPr>
        <dsp:cNvPr id="0" name=""/>
        <dsp:cNvSpPr/>
      </dsp:nvSpPr>
      <dsp:spPr>
        <a:xfrm>
          <a:off x="0" y="0"/>
          <a:ext cx="8406998" cy="444600"/>
        </a:xfrm>
        <a:prstGeom prst="roundRect">
          <a:avLst/>
        </a:prstGeom>
        <a:solidFill>
          <a:schemeClr val="accent3">
            <a:hueOff val="0"/>
            <a:satOff val="0"/>
            <a:lumOff val="0"/>
            <a:alphaOff val="0"/>
          </a:schemeClr>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Types of t-tests:</a:t>
          </a:r>
          <a:endParaRPr lang="en-US" sz="1900" kern="1200" dirty="0"/>
        </a:p>
      </dsp:txBody>
      <dsp:txXfrm>
        <a:off x="21704" y="21704"/>
        <a:ext cx="8363590" cy="401192"/>
      </dsp:txXfrm>
    </dsp:sp>
    <dsp:sp modelId="{CB6A639B-B51B-BF43-B5E8-D7B5B1779F2E}">
      <dsp:nvSpPr>
        <dsp:cNvPr id="0" name=""/>
        <dsp:cNvSpPr/>
      </dsp:nvSpPr>
      <dsp:spPr>
        <a:xfrm>
          <a:off x="0" y="527185"/>
          <a:ext cx="8406998" cy="7276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92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dirty="0"/>
            <a:t>1-sample t-test: comparing the mean of one group to a known value </a:t>
          </a:r>
          <a:endParaRPr lang="en-US" sz="1500" kern="1200" dirty="0"/>
        </a:p>
        <a:p>
          <a:pPr marL="114300" lvl="1" indent="-114300" algn="l" defTabSz="666750">
            <a:lnSpc>
              <a:spcPct val="90000"/>
            </a:lnSpc>
            <a:spcBef>
              <a:spcPct val="0"/>
            </a:spcBef>
            <a:spcAft>
              <a:spcPct val="20000"/>
            </a:spcAft>
            <a:buChar char="•"/>
          </a:pPr>
          <a:r>
            <a:rPr lang="en-US" sz="1500" b="0" i="0" kern="1200" dirty="0"/>
            <a:t>2-sample t-test: evaluating two independent groups</a:t>
          </a:r>
          <a:endParaRPr lang="en-US" sz="1500" kern="1200" dirty="0"/>
        </a:p>
        <a:p>
          <a:pPr marL="114300" lvl="1" indent="-114300" algn="l" defTabSz="666750">
            <a:lnSpc>
              <a:spcPct val="90000"/>
            </a:lnSpc>
            <a:spcBef>
              <a:spcPct val="0"/>
            </a:spcBef>
            <a:spcAft>
              <a:spcPct val="20000"/>
            </a:spcAft>
            <a:buChar char="•"/>
          </a:pPr>
          <a:r>
            <a:rPr lang="en-US" sz="1500" b="0" i="0" kern="1200" dirty="0"/>
            <a:t>2-sample paired t-test: using the same group at two different time points</a:t>
          </a:r>
          <a:endParaRPr lang="en-US" sz="1500" kern="1200" dirty="0"/>
        </a:p>
      </dsp:txBody>
      <dsp:txXfrm>
        <a:off x="0" y="527185"/>
        <a:ext cx="8406998" cy="727605"/>
      </dsp:txXfrm>
    </dsp:sp>
    <dsp:sp modelId="{2B9DB98A-5E02-D645-9DFF-257951119E12}">
      <dsp:nvSpPr>
        <dsp:cNvPr id="0" name=""/>
        <dsp:cNvSpPr/>
      </dsp:nvSpPr>
      <dsp:spPr>
        <a:xfrm>
          <a:off x="0" y="1254790"/>
          <a:ext cx="8406998" cy="444600"/>
        </a:xfrm>
        <a:prstGeom prst="roundRect">
          <a:avLst/>
        </a:prstGeom>
        <a:solidFill>
          <a:schemeClr val="accent3">
            <a:hueOff val="0"/>
            <a:satOff val="0"/>
            <a:lumOff val="0"/>
            <a:alphaOff val="0"/>
          </a:schemeClr>
        </a:solidFill>
        <a:ln w="38100" cap="flat" cmpd="sng" algn="ctr">
          <a:no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b="0" i="0" kern="1200" dirty="0"/>
            <a:t>Outputs from a t-test:</a:t>
          </a:r>
          <a:endParaRPr lang="en-US" sz="1900" kern="1200" dirty="0"/>
        </a:p>
      </dsp:txBody>
      <dsp:txXfrm>
        <a:off x="21704" y="1276494"/>
        <a:ext cx="8363590" cy="401192"/>
      </dsp:txXfrm>
    </dsp:sp>
    <dsp:sp modelId="{CA527A0C-8B01-A048-A49A-7BC87B4B3538}">
      <dsp:nvSpPr>
        <dsp:cNvPr id="0" name=""/>
        <dsp:cNvSpPr/>
      </dsp:nvSpPr>
      <dsp:spPr>
        <a:xfrm>
          <a:off x="0" y="1699390"/>
          <a:ext cx="8406998" cy="1140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6922"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US" sz="1500" b="0" i="0" kern="1200" dirty="0"/>
            <a:t>t-value: Size of the difference relative to variability in the sample data. A larger value indicates that there is a greater difference between groups.</a:t>
          </a:r>
          <a:endParaRPr lang="en-US" sz="1500" kern="1200" dirty="0"/>
        </a:p>
        <a:p>
          <a:pPr marL="114300" lvl="1" indent="-114300" algn="l" defTabSz="666750">
            <a:lnSpc>
              <a:spcPct val="90000"/>
            </a:lnSpc>
            <a:spcBef>
              <a:spcPct val="0"/>
            </a:spcBef>
            <a:spcAft>
              <a:spcPct val="20000"/>
            </a:spcAft>
            <a:buChar char="•"/>
          </a:pPr>
          <a:r>
            <a:rPr lang="en-US" sz="1500" b="0" i="0" kern="1200" dirty="0"/>
            <a:t>Degrees of freedom (df): Number of independent variables that vary with respect to a given analysis. Affects the shape of t-distribution.</a:t>
          </a:r>
          <a:endParaRPr lang="en-US" sz="1500" kern="1200" dirty="0"/>
        </a:p>
        <a:p>
          <a:pPr marL="114300" lvl="1" indent="-114300" algn="l" defTabSz="666750">
            <a:lnSpc>
              <a:spcPct val="90000"/>
            </a:lnSpc>
            <a:spcBef>
              <a:spcPct val="0"/>
            </a:spcBef>
            <a:spcAft>
              <a:spcPct val="20000"/>
            </a:spcAft>
            <a:buChar char="•"/>
          </a:pPr>
          <a:r>
            <a:rPr lang="en-US" sz="1500" b="0" i="0" kern="1200" dirty="0"/>
            <a:t>p-value: Shows the probability that the observed difference is due to chance (if p &lt; 0.05)</a:t>
          </a:r>
          <a:endParaRPr lang="en-US" sz="1500" kern="1200" dirty="0"/>
        </a:p>
      </dsp:txBody>
      <dsp:txXfrm>
        <a:off x="0" y="1699390"/>
        <a:ext cx="8406998" cy="114057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indent="-298450"/>
            <a:endParaRPr lang="en-US" dirty="0"/>
          </a:p>
        </p:txBody>
      </p:sp>
    </p:spTree>
    <p:extLst>
      <p:ext uri="{BB962C8B-B14F-4D97-AF65-F5344CB8AC3E}">
        <p14:creationId xmlns:p14="http://schemas.microsoft.com/office/powerpoint/2010/main" val="3184134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a9fa940987_3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a9fa940987_3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954AA59-8BBD-8A47-A50B-89EB55046D83}" type="slidenum">
              <a:rPr lang="en-US" smtClean="0"/>
              <a:t>3</a:t>
            </a:fld>
            <a:endParaRPr lang="en-US" dirty="0"/>
          </a:p>
        </p:txBody>
      </p:sp>
    </p:spTree>
    <p:extLst>
      <p:ext uri="{BB962C8B-B14F-4D97-AF65-F5344CB8AC3E}">
        <p14:creationId xmlns:p14="http://schemas.microsoft.com/office/powerpoint/2010/main" val="2639795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79071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E25AE-E01A-B195-9937-4A1DDB4E2B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B28EF-6171-F2FD-4534-EFE31CCD655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D17506-D602-AF10-4C8B-7D870EA2500B}"/>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81DC8E06-86AE-9BED-B7C0-5532797513DF}"/>
              </a:ext>
            </a:extLst>
          </p:cNvPr>
          <p:cNvSpPr>
            <a:spLocks noGrp="1"/>
          </p:cNvSpPr>
          <p:nvPr>
            <p:ph type="sldNum" sz="quarter" idx="5"/>
          </p:nvPr>
        </p:nvSpPr>
        <p:spPr/>
        <p:txBody>
          <a:bodyPr/>
          <a:lstStyle/>
          <a:p>
            <a:fld id="{B954AA59-8BBD-8A47-A50B-89EB55046D83}" type="slidenum">
              <a:rPr lang="en-US" smtClean="0"/>
              <a:t>5</a:t>
            </a:fld>
            <a:endParaRPr lang="en-US" dirty="0"/>
          </a:p>
        </p:txBody>
      </p:sp>
    </p:spTree>
    <p:extLst>
      <p:ext uri="{BB962C8B-B14F-4D97-AF65-F5344CB8AC3E}">
        <p14:creationId xmlns:p14="http://schemas.microsoft.com/office/powerpoint/2010/main" val="27824643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50248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0184B-D4E8-FE28-8327-1E23BC38D6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2B940-CD38-6D59-44D2-1CA43D86BBB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592035-DB82-7B78-F954-5743067801D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39F98246-125D-B1F6-47EF-17C0E0687B1F}"/>
              </a:ext>
            </a:extLst>
          </p:cNvPr>
          <p:cNvSpPr>
            <a:spLocks noGrp="1"/>
          </p:cNvSpPr>
          <p:nvPr>
            <p:ph type="sldNum" sz="quarter" idx="5"/>
          </p:nvPr>
        </p:nvSpPr>
        <p:spPr/>
        <p:txBody>
          <a:bodyPr/>
          <a:lstStyle/>
          <a:p>
            <a:fld id="{B954AA59-8BBD-8A47-A50B-89EB55046D83}" type="slidenum">
              <a:rPr lang="en-US" smtClean="0"/>
              <a:t>7</a:t>
            </a:fld>
            <a:endParaRPr lang="en-US" dirty="0"/>
          </a:p>
        </p:txBody>
      </p:sp>
    </p:spTree>
    <p:extLst>
      <p:ext uri="{BB962C8B-B14F-4D97-AF65-F5344CB8AC3E}">
        <p14:creationId xmlns:p14="http://schemas.microsoft.com/office/powerpoint/2010/main" val="4143943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F1D63-2E70-CE34-EEB2-3B5651E70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E9EDC-4627-0EAF-2AE0-CE6C45D6DEE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6C99D1-C55B-372A-207B-726568F84CF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0E38B48-DD13-E608-3F0B-606FC8E53892}"/>
              </a:ext>
            </a:extLst>
          </p:cNvPr>
          <p:cNvSpPr>
            <a:spLocks noGrp="1"/>
          </p:cNvSpPr>
          <p:nvPr>
            <p:ph type="sldNum" sz="quarter" idx="5"/>
          </p:nvPr>
        </p:nvSpPr>
        <p:spPr/>
        <p:txBody>
          <a:bodyPr/>
          <a:lstStyle/>
          <a:p>
            <a:fld id="{B954AA59-8BBD-8A47-A50B-89EB55046D83}" type="slidenum">
              <a:rPr lang="en-US" smtClean="0"/>
              <a:t>8</a:t>
            </a:fld>
            <a:endParaRPr lang="en-US" dirty="0"/>
          </a:p>
        </p:txBody>
      </p:sp>
    </p:spTree>
    <p:extLst>
      <p:ext uri="{BB962C8B-B14F-4D97-AF65-F5344CB8AC3E}">
        <p14:creationId xmlns:p14="http://schemas.microsoft.com/office/powerpoint/2010/main" val="10121999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46759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34295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3736295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12</a:t>
            </a:fld>
            <a:endParaRPr lang="en-US" dirty="0"/>
          </a:p>
        </p:txBody>
      </p:sp>
    </p:spTree>
    <p:extLst>
      <p:ext uri="{BB962C8B-B14F-4D97-AF65-F5344CB8AC3E}">
        <p14:creationId xmlns:p14="http://schemas.microsoft.com/office/powerpoint/2010/main" val="2851105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E82AF-06AC-B22F-D47A-2A3DD90AE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037E5C-9775-3420-15FD-2F8E67226FF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E0F3893-E861-4642-4552-C6AC31AE1946}"/>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5F224F1D-15B4-7C13-1452-11BF18624978}"/>
              </a:ext>
            </a:extLst>
          </p:cNvPr>
          <p:cNvSpPr>
            <a:spLocks noGrp="1"/>
          </p:cNvSpPr>
          <p:nvPr>
            <p:ph type="sldNum" sz="quarter" idx="5"/>
          </p:nvPr>
        </p:nvSpPr>
        <p:spPr/>
        <p:txBody>
          <a:bodyPr/>
          <a:lstStyle/>
          <a:p>
            <a:fld id="{CA4B45EA-6B24-434C-9559-37E70D2E8B15}" type="slidenum">
              <a:rPr lang="en-US" smtClean="0"/>
              <a:t>13</a:t>
            </a:fld>
            <a:endParaRPr lang="en-US" dirty="0"/>
          </a:p>
        </p:txBody>
      </p:sp>
    </p:spTree>
    <p:extLst>
      <p:ext uri="{BB962C8B-B14F-4D97-AF65-F5344CB8AC3E}">
        <p14:creationId xmlns:p14="http://schemas.microsoft.com/office/powerpoint/2010/main" val="2373566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24292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364035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51981-E011-C356-B3F0-ACD572C9F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A4FDA-1D37-6336-DEBE-EBDF13CDE99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88AD93F-142E-DCDD-6D31-48FBE59FD7E5}"/>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16E1085-0E59-4491-1C97-A0A8DBD952D3}"/>
              </a:ext>
            </a:extLst>
          </p:cNvPr>
          <p:cNvSpPr>
            <a:spLocks noGrp="1"/>
          </p:cNvSpPr>
          <p:nvPr>
            <p:ph type="sldNum" sz="quarter" idx="5"/>
          </p:nvPr>
        </p:nvSpPr>
        <p:spPr/>
        <p:txBody>
          <a:bodyPr/>
          <a:lstStyle/>
          <a:p>
            <a:fld id="{B954AA59-8BBD-8A47-A50B-89EB55046D83}" type="slidenum">
              <a:rPr lang="en-US" smtClean="0"/>
              <a:t>37</a:t>
            </a:fld>
            <a:endParaRPr lang="en-US" dirty="0"/>
          </a:p>
        </p:txBody>
      </p:sp>
    </p:spTree>
    <p:extLst>
      <p:ext uri="{BB962C8B-B14F-4D97-AF65-F5344CB8AC3E}">
        <p14:creationId xmlns:p14="http://schemas.microsoft.com/office/powerpoint/2010/main" val="1484739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38</a:t>
            </a:fld>
            <a:endParaRPr lang="en-US" dirty="0"/>
          </a:p>
        </p:txBody>
      </p:sp>
    </p:spTree>
    <p:extLst>
      <p:ext uri="{BB962C8B-B14F-4D97-AF65-F5344CB8AC3E}">
        <p14:creationId xmlns:p14="http://schemas.microsoft.com/office/powerpoint/2010/main" val="39494724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64DC7-C3AB-C790-444F-0213DA8725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F2D41-E90A-4536-FCDC-D6C2385B95E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06DA3F9-9BFF-23E2-BB8F-49147ED3DB54}"/>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ADAFED5-3903-0F78-54E6-0D9080FF5F57}"/>
              </a:ext>
            </a:extLst>
          </p:cNvPr>
          <p:cNvSpPr>
            <a:spLocks noGrp="1"/>
          </p:cNvSpPr>
          <p:nvPr>
            <p:ph type="sldNum" sz="quarter" idx="5"/>
          </p:nvPr>
        </p:nvSpPr>
        <p:spPr/>
        <p:txBody>
          <a:bodyPr/>
          <a:lstStyle/>
          <a:p>
            <a:fld id="{CA4B45EA-6B24-434C-9559-37E70D2E8B15}" type="slidenum">
              <a:rPr lang="en-US" smtClean="0"/>
              <a:t>39</a:t>
            </a:fld>
            <a:endParaRPr lang="en-US" dirty="0"/>
          </a:p>
        </p:txBody>
      </p:sp>
    </p:spTree>
    <p:extLst>
      <p:ext uri="{BB962C8B-B14F-4D97-AF65-F5344CB8AC3E}">
        <p14:creationId xmlns:p14="http://schemas.microsoft.com/office/powerpoint/2010/main" val="23059430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FC544-0E32-5FA8-EF27-FF4DA7E8A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B24BFB-3B5A-3F13-E1DD-A90BCE478F4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1DCD6BF-8AD7-D8C5-2167-0C3634909E21}"/>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B327639-72AA-50AF-1C5F-5D3B72B6F25D}"/>
              </a:ext>
            </a:extLst>
          </p:cNvPr>
          <p:cNvSpPr>
            <a:spLocks noGrp="1"/>
          </p:cNvSpPr>
          <p:nvPr>
            <p:ph type="sldNum" sz="quarter" idx="5"/>
          </p:nvPr>
        </p:nvSpPr>
        <p:spPr/>
        <p:txBody>
          <a:bodyPr/>
          <a:lstStyle/>
          <a:p>
            <a:fld id="{CA4B45EA-6B24-434C-9559-37E70D2E8B15}" type="slidenum">
              <a:rPr lang="en-US" smtClean="0"/>
              <a:t>40</a:t>
            </a:fld>
            <a:endParaRPr lang="en-US" dirty="0"/>
          </a:p>
        </p:txBody>
      </p:sp>
    </p:spTree>
    <p:extLst>
      <p:ext uri="{BB962C8B-B14F-4D97-AF65-F5344CB8AC3E}">
        <p14:creationId xmlns:p14="http://schemas.microsoft.com/office/powerpoint/2010/main" val="31220798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D6608-322C-B47A-4C28-EA4EE00B0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C9F76B-13CA-520D-2979-2043FD7635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D0AD0C5-87F7-EB47-E799-D37EC7F1367C}"/>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7A38269D-2E9B-FB3B-DD64-85149B54B0CF}"/>
              </a:ext>
            </a:extLst>
          </p:cNvPr>
          <p:cNvSpPr>
            <a:spLocks noGrp="1"/>
          </p:cNvSpPr>
          <p:nvPr>
            <p:ph type="sldNum" sz="quarter" idx="5"/>
          </p:nvPr>
        </p:nvSpPr>
        <p:spPr/>
        <p:txBody>
          <a:bodyPr/>
          <a:lstStyle/>
          <a:p>
            <a:fld id="{CA4B45EA-6B24-434C-9559-37E70D2E8B15}" type="slidenum">
              <a:rPr lang="en-US" smtClean="0"/>
              <a:t>41</a:t>
            </a:fld>
            <a:endParaRPr lang="en-US" dirty="0"/>
          </a:p>
        </p:txBody>
      </p:sp>
    </p:spTree>
    <p:extLst>
      <p:ext uri="{BB962C8B-B14F-4D97-AF65-F5344CB8AC3E}">
        <p14:creationId xmlns:p14="http://schemas.microsoft.com/office/powerpoint/2010/main" val="3547063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42</a:t>
            </a:fld>
            <a:endParaRPr lang="en-US" dirty="0"/>
          </a:p>
        </p:txBody>
      </p:sp>
    </p:spTree>
    <p:extLst>
      <p:ext uri="{BB962C8B-B14F-4D97-AF65-F5344CB8AC3E}">
        <p14:creationId xmlns:p14="http://schemas.microsoft.com/office/powerpoint/2010/main" val="22456036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C2B5-D238-1580-520B-F59C084507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B420C8-B362-9929-F47E-061CE2522E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344D586-109A-4E1B-AEA6-097ACCE370A5}"/>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D8A4E1CF-B473-8485-F486-945A2647F103}"/>
              </a:ext>
            </a:extLst>
          </p:cNvPr>
          <p:cNvSpPr>
            <a:spLocks noGrp="1"/>
          </p:cNvSpPr>
          <p:nvPr>
            <p:ph type="sldNum" sz="quarter" idx="5"/>
          </p:nvPr>
        </p:nvSpPr>
        <p:spPr/>
        <p:txBody>
          <a:bodyPr/>
          <a:lstStyle/>
          <a:p>
            <a:fld id="{CA4B45EA-6B24-434C-9559-37E70D2E8B15}" type="slidenum">
              <a:rPr lang="en-US" smtClean="0"/>
              <a:t>43</a:t>
            </a:fld>
            <a:endParaRPr lang="en-US" dirty="0"/>
          </a:p>
        </p:txBody>
      </p:sp>
    </p:spTree>
    <p:extLst>
      <p:ext uri="{BB962C8B-B14F-4D97-AF65-F5344CB8AC3E}">
        <p14:creationId xmlns:p14="http://schemas.microsoft.com/office/powerpoint/2010/main" val="24670832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44</a:t>
            </a:fld>
            <a:endParaRPr lang="en-US" dirty="0"/>
          </a:p>
        </p:txBody>
      </p:sp>
    </p:spTree>
    <p:extLst>
      <p:ext uri="{BB962C8B-B14F-4D97-AF65-F5344CB8AC3E}">
        <p14:creationId xmlns:p14="http://schemas.microsoft.com/office/powerpoint/2010/main" val="64811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B8EB3-6C3A-4DD5-2DED-5AAE192ED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8BE2B5-E374-8D5A-B195-56A868E10E6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917738-C1F2-3477-18C5-D13F5CE57A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D51AA1-C7CF-9661-F392-0A8CA2041D58}"/>
              </a:ext>
            </a:extLst>
          </p:cNvPr>
          <p:cNvSpPr>
            <a:spLocks noGrp="1"/>
          </p:cNvSpPr>
          <p:nvPr>
            <p:ph type="sldNum" sz="quarter" idx="5"/>
          </p:nvPr>
        </p:nvSpPr>
        <p:spPr/>
        <p:txBody>
          <a:bodyPr/>
          <a:lstStyle/>
          <a:p>
            <a:fld id="{CA4B45EA-6B24-434C-9559-37E70D2E8B15}" type="slidenum">
              <a:rPr lang="en-US" smtClean="0"/>
              <a:t>45</a:t>
            </a:fld>
            <a:endParaRPr lang="en-US" dirty="0"/>
          </a:p>
        </p:txBody>
      </p:sp>
    </p:spTree>
    <p:extLst>
      <p:ext uri="{BB962C8B-B14F-4D97-AF65-F5344CB8AC3E}">
        <p14:creationId xmlns:p14="http://schemas.microsoft.com/office/powerpoint/2010/main" val="1453766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46</a:t>
            </a:fld>
            <a:endParaRPr lang="en-US" dirty="0"/>
          </a:p>
        </p:txBody>
      </p:sp>
    </p:spTree>
    <p:extLst>
      <p:ext uri="{BB962C8B-B14F-4D97-AF65-F5344CB8AC3E}">
        <p14:creationId xmlns:p14="http://schemas.microsoft.com/office/powerpoint/2010/main" val="3074440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3EAA-46CC-16C2-2847-4FCDA5A1D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25CE64-22E9-4716-D381-FBE2098D159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1BAD691-2327-60DF-89AE-7B193D8E3A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54E3C1-0613-B110-E5E0-86F8C4F08579}"/>
              </a:ext>
            </a:extLst>
          </p:cNvPr>
          <p:cNvSpPr>
            <a:spLocks noGrp="1"/>
          </p:cNvSpPr>
          <p:nvPr>
            <p:ph type="sldNum" sz="quarter" idx="5"/>
          </p:nvPr>
        </p:nvSpPr>
        <p:spPr/>
        <p:txBody>
          <a:bodyPr/>
          <a:lstStyle/>
          <a:p>
            <a:fld id="{CA4B45EA-6B24-434C-9559-37E70D2E8B15}" type="slidenum">
              <a:rPr lang="en-US" smtClean="0"/>
              <a:t>47</a:t>
            </a:fld>
            <a:endParaRPr lang="en-US" dirty="0"/>
          </a:p>
        </p:txBody>
      </p:sp>
    </p:spTree>
    <p:extLst>
      <p:ext uri="{BB962C8B-B14F-4D97-AF65-F5344CB8AC3E}">
        <p14:creationId xmlns:p14="http://schemas.microsoft.com/office/powerpoint/2010/main" val="3107261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F5B9A-FB1D-2E1F-A352-0C08620D3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5579D4-E195-CF4B-F9DC-750891245E0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D0C6CC9-EBE2-2598-6CFF-EFE8A01673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0B9755-5054-05C0-626A-838481D4A307}"/>
              </a:ext>
            </a:extLst>
          </p:cNvPr>
          <p:cNvSpPr>
            <a:spLocks noGrp="1"/>
          </p:cNvSpPr>
          <p:nvPr>
            <p:ph type="sldNum" sz="quarter" idx="5"/>
          </p:nvPr>
        </p:nvSpPr>
        <p:spPr/>
        <p:txBody>
          <a:bodyPr/>
          <a:lstStyle/>
          <a:p>
            <a:fld id="{CA4B45EA-6B24-434C-9559-37E70D2E8B15}" type="slidenum">
              <a:rPr lang="en-US" smtClean="0"/>
              <a:t>48</a:t>
            </a:fld>
            <a:endParaRPr lang="en-US" dirty="0"/>
          </a:p>
        </p:txBody>
      </p:sp>
    </p:spTree>
    <p:extLst>
      <p:ext uri="{BB962C8B-B14F-4D97-AF65-F5344CB8AC3E}">
        <p14:creationId xmlns:p14="http://schemas.microsoft.com/office/powerpoint/2010/main" val="23640721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5CDB8-D9E4-0207-6E37-61D584D89E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CA3B3-0B02-0CF2-05A9-C005998FB01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9BF96D1-EED3-2A37-A12B-E68A668BF1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3D5A21-5F79-6DB3-7B72-3D44BCD63506}"/>
              </a:ext>
            </a:extLst>
          </p:cNvPr>
          <p:cNvSpPr>
            <a:spLocks noGrp="1"/>
          </p:cNvSpPr>
          <p:nvPr>
            <p:ph type="sldNum" sz="quarter" idx="5"/>
          </p:nvPr>
        </p:nvSpPr>
        <p:spPr/>
        <p:txBody>
          <a:bodyPr/>
          <a:lstStyle/>
          <a:p>
            <a:fld id="{CA4B45EA-6B24-434C-9559-37E70D2E8B15}" type="slidenum">
              <a:rPr lang="en-US" smtClean="0"/>
              <a:t>49</a:t>
            </a:fld>
            <a:endParaRPr lang="en-US" dirty="0"/>
          </a:p>
        </p:txBody>
      </p:sp>
    </p:spTree>
    <p:extLst>
      <p:ext uri="{BB962C8B-B14F-4D97-AF65-F5344CB8AC3E}">
        <p14:creationId xmlns:p14="http://schemas.microsoft.com/office/powerpoint/2010/main" val="2362758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50</a:t>
            </a:fld>
            <a:endParaRPr lang="en-US" dirty="0"/>
          </a:p>
        </p:txBody>
      </p:sp>
    </p:spTree>
    <p:extLst>
      <p:ext uri="{BB962C8B-B14F-4D97-AF65-F5344CB8AC3E}">
        <p14:creationId xmlns:p14="http://schemas.microsoft.com/office/powerpoint/2010/main" val="12383037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87F55-950A-1124-FE13-5F8E0EA04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4413D-CBF0-3ADD-1B62-1E411AB4AD8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94FA9C8-9CE3-5BC0-CF64-5DBD9211AC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E4218D-BA9D-4EDB-9829-025D516564E7}"/>
              </a:ext>
            </a:extLst>
          </p:cNvPr>
          <p:cNvSpPr>
            <a:spLocks noGrp="1"/>
          </p:cNvSpPr>
          <p:nvPr>
            <p:ph type="sldNum" sz="quarter" idx="5"/>
          </p:nvPr>
        </p:nvSpPr>
        <p:spPr/>
        <p:txBody>
          <a:bodyPr/>
          <a:lstStyle/>
          <a:p>
            <a:fld id="{CA4B45EA-6B24-434C-9559-37E70D2E8B15}" type="slidenum">
              <a:rPr lang="en-US" smtClean="0"/>
              <a:t>51</a:t>
            </a:fld>
            <a:endParaRPr lang="en-US" dirty="0"/>
          </a:p>
        </p:txBody>
      </p:sp>
    </p:spTree>
    <p:extLst>
      <p:ext uri="{BB962C8B-B14F-4D97-AF65-F5344CB8AC3E}">
        <p14:creationId xmlns:p14="http://schemas.microsoft.com/office/powerpoint/2010/main" val="236464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52</a:t>
            </a:fld>
            <a:endParaRPr lang="en-US" dirty="0"/>
          </a:p>
        </p:txBody>
      </p:sp>
    </p:spTree>
    <p:extLst>
      <p:ext uri="{BB962C8B-B14F-4D97-AF65-F5344CB8AC3E}">
        <p14:creationId xmlns:p14="http://schemas.microsoft.com/office/powerpoint/2010/main" val="29032526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59A06-D3A2-D6FE-B68C-E0C9CB1A2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C6DE17-F19C-91BB-2275-126B22D4C48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E198A4-168E-36C4-88EE-60E31A4D33BB}"/>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D63FF80-6130-6ED2-F318-6071E4DB4AEB}"/>
              </a:ext>
            </a:extLst>
          </p:cNvPr>
          <p:cNvSpPr>
            <a:spLocks noGrp="1"/>
          </p:cNvSpPr>
          <p:nvPr>
            <p:ph type="sldNum" sz="quarter" idx="5"/>
          </p:nvPr>
        </p:nvSpPr>
        <p:spPr/>
        <p:txBody>
          <a:bodyPr/>
          <a:lstStyle/>
          <a:p>
            <a:fld id="{CA4B45EA-6B24-434C-9559-37E70D2E8B15}" type="slidenum">
              <a:rPr lang="en-US" smtClean="0"/>
              <a:t>53</a:t>
            </a:fld>
            <a:endParaRPr lang="en-US" dirty="0"/>
          </a:p>
        </p:txBody>
      </p:sp>
    </p:spTree>
    <p:extLst>
      <p:ext uri="{BB962C8B-B14F-4D97-AF65-F5344CB8AC3E}">
        <p14:creationId xmlns:p14="http://schemas.microsoft.com/office/powerpoint/2010/main" val="1518560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4B45EA-6B24-434C-9559-37E70D2E8B15}" type="slidenum">
              <a:rPr lang="en-US" smtClean="0"/>
              <a:t>54</a:t>
            </a:fld>
            <a:endParaRPr lang="en-US" dirty="0"/>
          </a:p>
        </p:txBody>
      </p:sp>
    </p:spTree>
    <p:extLst>
      <p:ext uri="{BB962C8B-B14F-4D97-AF65-F5344CB8AC3E}">
        <p14:creationId xmlns:p14="http://schemas.microsoft.com/office/powerpoint/2010/main" val="2580059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687260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725712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30268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57F44-2FD5-B324-82DA-7B7944D3A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5CD3C-1866-BE27-E2FF-99A9BB2F70E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D84B7CA-ACE7-B186-D3F7-99253C6DC01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45315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body" idx="1"/>
          </p:nvPr>
        </p:nvSpPr>
        <p:spPr>
          <a:xfrm>
            <a:off x="713225" y="1152475"/>
            <a:ext cx="77175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Barlow"/>
              <a:buChar char="●"/>
              <a:defRPr sz="1200"/>
            </a:lvl1pPr>
            <a:lvl2pPr marL="914400" lvl="1" indent="-317500">
              <a:spcBef>
                <a:spcPts val="1600"/>
              </a:spcBef>
              <a:spcAft>
                <a:spcPts val="0"/>
              </a:spcAft>
              <a:buSzPts val="1400"/>
              <a:buFont typeface="Barlow"/>
              <a:buChar char="○"/>
              <a:defRPr sz="1200"/>
            </a:lvl2pPr>
            <a:lvl3pPr marL="1371600" lvl="2" indent="-317500">
              <a:spcBef>
                <a:spcPts val="1600"/>
              </a:spcBef>
              <a:spcAft>
                <a:spcPts val="0"/>
              </a:spcAft>
              <a:buClr>
                <a:schemeClr val="lt1"/>
              </a:buClr>
              <a:buSzPts val="1400"/>
              <a:buFont typeface="Barlow"/>
              <a:buChar char="■"/>
              <a:defRPr/>
            </a:lvl3pPr>
            <a:lvl4pPr marL="1828800" lvl="3" indent="-317500">
              <a:spcBef>
                <a:spcPts val="1600"/>
              </a:spcBef>
              <a:spcAft>
                <a:spcPts val="0"/>
              </a:spcAft>
              <a:buClr>
                <a:schemeClr val="lt1"/>
              </a:buClr>
              <a:buSzPts val="1400"/>
              <a:buFont typeface="Barlow"/>
              <a:buChar char="●"/>
              <a:defRPr/>
            </a:lvl4pPr>
            <a:lvl5pPr marL="2286000" lvl="4" indent="-317500">
              <a:spcBef>
                <a:spcPts val="1600"/>
              </a:spcBef>
              <a:spcAft>
                <a:spcPts val="0"/>
              </a:spcAft>
              <a:buClr>
                <a:schemeClr val="lt1"/>
              </a:buClr>
              <a:buSzPts val="1400"/>
              <a:buFont typeface="Barlow"/>
              <a:buChar char="○"/>
              <a:defRPr/>
            </a:lvl5pPr>
            <a:lvl6pPr marL="2743200" lvl="5" indent="-317500">
              <a:spcBef>
                <a:spcPts val="1600"/>
              </a:spcBef>
              <a:spcAft>
                <a:spcPts val="0"/>
              </a:spcAft>
              <a:buClr>
                <a:schemeClr val="lt1"/>
              </a:buClr>
              <a:buSzPts val="1400"/>
              <a:buFont typeface="Barlow"/>
              <a:buChar char="■"/>
              <a:defRPr/>
            </a:lvl6pPr>
            <a:lvl7pPr marL="3200400" lvl="6" indent="-317500">
              <a:spcBef>
                <a:spcPts val="1600"/>
              </a:spcBef>
              <a:spcAft>
                <a:spcPts val="0"/>
              </a:spcAft>
              <a:buClr>
                <a:schemeClr val="lt1"/>
              </a:buClr>
              <a:buSzPts val="1400"/>
              <a:buFont typeface="Barlow"/>
              <a:buChar char="●"/>
              <a:defRPr/>
            </a:lvl7pPr>
            <a:lvl8pPr marL="3657600" lvl="7" indent="-317500">
              <a:spcBef>
                <a:spcPts val="1600"/>
              </a:spcBef>
              <a:spcAft>
                <a:spcPts val="0"/>
              </a:spcAft>
              <a:buClr>
                <a:schemeClr val="lt1"/>
              </a:buClr>
              <a:buSzPts val="1400"/>
              <a:buFont typeface="Barlow"/>
              <a:buChar char="○"/>
              <a:defRPr/>
            </a:lvl8pPr>
            <a:lvl9pPr marL="4114800" lvl="8" indent="-317500">
              <a:spcBef>
                <a:spcPts val="1600"/>
              </a:spcBef>
              <a:spcAft>
                <a:spcPts val="1600"/>
              </a:spcAft>
              <a:buClr>
                <a:schemeClr val="lt1"/>
              </a:buClr>
              <a:buSzPts val="1400"/>
              <a:buFont typeface="Barlow"/>
              <a:buChar char="■"/>
              <a:defRPr/>
            </a:lvl9pPr>
          </a:lstStyle>
          <a:p>
            <a:endParaRPr/>
          </a:p>
        </p:txBody>
      </p:sp>
      <p:sp>
        <p:nvSpPr>
          <p:cNvPr id="20" name="Google Shape;20;p4"/>
          <p:cNvSpPr txBox="1">
            <a:spLocks noGrp="1"/>
          </p:cNvSpPr>
          <p:nvPr>
            <p:ph type="title"/>
          </p:nvPr>
        </p:nvSpPr>
        <p:spPr>
          <a:xfrm>
            <a:off x="713225" y="384048"/>
            <a:ext cx="7717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solidFill>
                  <a:schemeClr val="accen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4880-A585-52E2-CD8E-966CAAB40E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7B6D8C-7070-71FF-82C0-4E79C0AE5D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B09744-7AF5-6212-F2DC-C09CEEF40290}"/>
              </a:ext>
            </a:extLst>
          </p:cNvPr>
          <p:cNvSpPr>
            <a:spLocks noGrp="1"/>
          </p:cNvSpPr>
          <p:nvPr>
            <p:ph type="dt" sz="half" idx="10"/>
          </p:nvPr>
        </p:nvSpPr>
        <p:spPr/>
        <p:txBody>
          <a:bodyPr/>
          <a:lstStyle/>
          <a:p>
            <a:fld id="{DE32F2CF-E407-9143-884B-BF81A66781B2}" type="datetimeFigureOut">
              <a:rPr lang="en-US" smtClean="0"/>
              <a:t>3/24/26</a:t>
            </a:fld>
            <a:endParaRPr lang="en-US" dirty="0"/>
          </a:p>
        </p:txBody>
      </p:sp>
      <p:sp>
        <p:nvSpPr>
          <p:cNvPr id="5" name="Footer Placeholder 4">
            <a:extLst>
              <a:ext uri="{FF2B5EF4-FFF2-40B4-BE49-F238E27FC236}">
                <a16:creationId xmlns:a16="http://schemas.microsoft.com/office/drawing/2014/main" id="{F07B213C-2839-EA18-C512-930AB1E8C1B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63A075E-8017-327D-2346-D07E843712D0}"/>
              </a:ext>
            </a:extLst>
          </p:cNvPr>
          <p:cNvSpPr>
            <a:spLocks noGrp="1"/>
          </p:cNvSpPr>
          <p:nvPr>
            <p:ph type="sldNum" sz="quarter" idx="12"/>
          </p:nvPr>
        </p:nvSpPr>
        <p:spPr/>
        <p:txBody>
          <a:bodyPr/>
          <a:lstStyle/>
          <a:p>
            <a:fld id="{1DF36A1E-8C0C-D546-8837-60F2434770C9}" type="slidenum">
              <a:rPr lang="en-US" smtClean="0"/>
              <a:t>‹#›</a:t>
            </a:fld>
            <a:endParaRPr lang="en-US" dirty="0"/>
          </a:p>
        </p:txBody>
      </p:sp>
    </p:spTree>
    <p:extLst>
      <p:ext uri="{BB962C8B-B14F-4D97-AF65-F5344CB8AC3E}">
        <p14:creationId xmlns:p14="http://schemas.microsoft.com/office/powerpoint/2010/main" val="15681461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1pPr>
            <a:lvl2pPr lvl="1">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2pPr>
            <a:lvl3pPr lvl="2">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3pPr>
            <a:lvl4pPr lvl="3">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4pPr>
            <a:lvl5pPr lvl="4">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5pPr>
            <a:lvl6pPr lvl="5">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6pPr>
            <a:lvl7pPr lvl="6">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7pPr>
            <a:lvl8pPr lvl="7">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8pPr>
            <a:lvl9pPr lvl="8">
              <a:lnSpc>
                <a:spcPct val="100000"/>
              </a:lnSpc>
              <a:spcBef>
                <a:spcPts val="0"/>
              </a:spcBef>
              <a:spcAft>
                <a:spcPts val="0"/>
              </a:spcAft>
              <a:buClr>
                <a:schemeClr val="dk1"/>
              </a:buClr>
              <a:buSzPts val="2800"/>
              <a:buFont typeface="Montserrat"/>
              <a:buNone/>
              <a:defRPr sz="28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50" r:id="rId1"/>
    <p:sldLayoutId id="2147483658" r:id="rId2"/>
    <p:sldLayoutId id="214748367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datasciencedojo.com/blog/trending-github-repositories/" TargetMode="External"/><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hyperlink" Target="https://datasciencedojo.com/blog/llm-finance/" TargetMode="Externa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4C87D-3023-32AF-9263-F55DD21285C7}"/>
              </a:ext>
            </a:extLst>
          </p:cNvPr>
          <p:cNvSpPr>
            <a:spLocks noGrp="1"/>
          </p:cNvSpPr>
          <p:nvPr>
            <p:ph type="title"/>
          </p:nvPr>
        </p:nvSpPr>
        <p:spPr>
          <a:xfrm>
            <a:off x="816742" y="444890"/>
            <a:ext cx="7717500" cy="572700"/>
          </a:xfrm>
        </p:spPr>
        <p:txBody>
          <a:bodyPr>
            <a:noAutofit/>
          </a:bodyPr>
          <a:lstStyle/>
          <a:p>
            <a:pPr algn="ctr"/>
            <a:r>
              <a:rPr lang="en-US" sz="3200" dirty="0">
                <a:latin typeface="+mj-lt"/>
              </a:rPr>
              <a:t>Data Analysis – Examples and Explanation</a:t>
            </a:r>
          </a:p>
        </p:txBody>
      </p:sp>
      <p:sp>
        <p:nvSpPr>
          <p:cNvPr id="4" name="TextBox 3">
            <a:extLst>
              <a:ext uri="{FF2B5EF4-FFF2-40B4-BE49-F238E27FC236}">
                <a16:creationId xmlns:a16="http://schemas.microsoft.com/office/drawing/2014/main" id="{CC18B4CF-2F0A-D6D3-7920-7C11A8E53BF2}"/>
              </a:ext>
            </a:extLst>
          </p:cNvPr>
          <p:cNvSpPr txBox="1"/>
          <p:nvPr/>
        </p:nvSpPr>
        <p:spPr>
          <a:xfrm>
            <a:off x="2636020" y="3713725"/>
            <a:ext cx="4078941" cy="984885"/>
          </a:xfrm>
          <a:prstGeom prst="rect">
            <a:avLst/>
          </a:prstGeom>
          <a:noFill/>
        </p:spPr>
        <p:txBody>
          <a:bodyPr wrap="square" rtlCol="0">
            <a:spAutoFit/>
          </a:bodyPr>
          <a:lstStyle/>
          <a:p>
            <a:r>
              <a:rPr lang="en-US" b="1" i="0" u="none" strike="noStrike" dirty="0">
                <a:solidFill>
                  <a:srgbClr val="000000"/>
                </a:solidFill>
                <a:effectLst/>
                <a:latin typeface="Arial" panose="020B0604020202020204" pitchFamily="34" charset="0"/>
                <a:cs typeface="Arial" panose="020B0604020202020204" pitchFamily="34" charset="0"/>
              </a:rPr>
              <a:t>Mainly Adopted From: </a:t>
            </a:r>
          </a:p>
          <a:p>
            <a:r>
              <a:rPr lang="en-US" dirty="0"/>
              <a:t>Data Analysis in Quantitative Research</a:t>
            </a:r>
            <a:endParaRPr lang="en-US" b="1" i="0" u="none" strike="noStrike" dirty="0">
              <a:solidFill>
                <a:srgbClr val="000000"/>
              </a:solidFill>
              <a:effectLst/>
              <a:latin typeface="Arial" panose="020B0604020202020204" pitchFamily="34" charset="0"/>
              <a:cs typeface="Arial" panose="020B0604020202020204" pitchFamily="34" charset="0"/>
            </a:endParaRPr>
          </a:p>
          <a:p>
            <a:r>
              <a:rPr lang="en-US" sz="1000" b="1" i="0" u="none" strike="noStrike" dirty="0">
                <a:solidFill>
                  <a:srgbClr val="000000"/>
                </a:solidFill>
                <a:effectLst/>
                <a:latin typeface="Arial" panose="020B0604020202020204" pitchFamily="34" charset="0"/>
                <a:cs typeface="Arial" panose="020B0604020202020204" pitchFamily="34" charset="0"/>
              </a:rPr>
              <a:t>Julia Duvall</a:t>
            </a:r>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BA, </a:t>
            </a:r>
            <a:r>
              <a:rPr lang="en-US" sz="1000" b="0" i="0" u="none" strike="noStrike" dirty="0">
                <a:solidFill>
                  <a:srgbClr val="000000"/>
                </a:solidFill>
                <a:effectLst/>
                <a:latin typeface="Arial" panose="020B0604020202020204" pitchFamily="34" charset="0"/>
                <a:cs typeface="Arial" panose="020B0604020202020204" pitchFamily="34" charset="0"/>
              </a:rPr>
              <a:t>Bowdoin College</a:t>
            </a:r>
            <a:br>
              <a:rPr lang="en-US" sz="1000" dirty="0">
                <a:latin typeface="Arial" panose="020B0604020202020204" pitchFamily="34" charset="0"/>
                <a:cs typeface="Arial" panose="020B0604020202020204" pitchFamily="34" charset="0"/>
              </a:rPr>
            </a:br>
            <a:r>
              <a:rPr lang="en-US" sz="1000" b="0" i="0" u="none" strike="noStrike" dirty="0">
                <a:solidFill>
                  <a:srgbClr val="000000"/>
                </a:solidFill>
                <a:effectLst/>
                <a:latin typeface="Arial" panose="020B0604020202020204" pitchFamily="34" charset="0"/>
                <a:cs typeface="Arial" panose="020B0604020202020204" pitchFamily="34" charset="0"/>
              </a:rPr>
              <a:t>MPH Candidate, UNC Gillings School of Global Public Health</a:t>
            </a:r>
            <a:endParaRPr lang="en-US" sz="1000" dirty="0">
              <a:latin typeface="Arial" panose="020B0604020202020204" pitchFamily="34" charset="0"/>
              <a:cs typeface="Arial" panose="020B0604020202020204" pitchFamily="34" charset="0"/>
            </a:endParaRPr>
          </a:p>
        </p:txBody>
      </p:sp>
      <p:pic>
        <p:nvPicPr>
          <p:cNvPr id="5" name="Picture 4" descr="Logo_GFMER.jpg">
            <a:extLst>
              <a:ext uri="{FF2B5EF4-FFF2-40B4-BE49-F238E27FC236}">
                <a16:creationId xmlns:a16="http://schemas.microsoft.com/office/drawing/2014/main" id="{A71CD5AD-9EBE-20A5-4CC7-6BCECC5A750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43093" y="3832295"/>
            <a:ext cx="561196" cy="570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2FEF5C48-3D3D-22AF-2841-C19271B9F897}"/>
              </a:ext>
            </a:extLst>
          </p:cNvPr>
          <p:cNvSpPr txBox="1"/>
          <p:nvPr/>
        </p:nvSpPr>
        <p:spPr>
          <a:xfrm>
            <a:off x="2636021" y="2207649"/>
            <a:ext cx="4078941" cy="523220"/>
          </a:xfrm>
          <a:prstGeom prst="rect">
            <a:avLst/>
          </a:prstGeom>
          <a:noFill/>
        </p:spPr>
        <p:txBody>
          <a:bodyPr wrap="square" rtlCol="0">
            <a:spAutoFit/>
          </a:bodyPr>
          <a:lstStyle/>
          <a:p>
            <a:r>
              <a:rPr lang="en-US" b="1" i="0" u="none" strike="noStrike" dirty="0">
                <a:solidFill>
                  <a:srgbClr val="000000"/>
                </a:solidFill>
                <a:effectLst/>
                <a:latin typeface="Arial" panose="020B0604020202020204" pitchFamily="34" charset="0"/>
                <a:cs typeface="Arial" panose="020B0604020202020204" pitchFamily="34" charset="0"/>
              </a:rPr>
              <a:t>Mian Muhammad Awais/Muhammad Hammad </a:t>
            </a:r>
          </a:p>
          <a:p>
            <a:r>
              <a:rPr lang="en-US" dirty="0"/>
              <a:t>NIAI – NAVTTC Training</a:t>
            </a:r>
            <a:endParaRPr lang="en-US" b="1" i="0" u="none" strike="noStrike" dirty="0">
              <a:solidFill>
                <a:srgbClr val="0000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1496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1"/>
          <p:cNvSpPr txBox="1">
            <a:spLocks noGrp="1"/>
          </p:cNvSpPr>
          <p:nvPr>
            <p:ph type="title"/>
          </p:nvPr>
        </p:nvSpPr>
        <p:spPr>
          <a:xfrm>
            <a:off x="653142" y="426720"/>
            <a:ext cx="8179157" cy="5910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1"/>
                </a:solidFill>
                <a:latin typeface="+mj-lt"/>
              </a:rPr>
              <a:t>Learning Objectives</a:t>
            </a:r>
            <a:endParaRPr dirty="0">
              <a:solidFill>
                <a:schemeClr val="accent1"/>
              </a:solidFill>
              <a:latin typeface="+mj-lt"/>
            </a:endParaRPr>
          </a:p>
        </p:txBody>
      </p:sp>
      <p:sp>
        <p:nvSpPr>
          <p:cNvPr id="192" name="Google Shape;192;p31"/>
          <p:cNvSpPr txBox="1">
            <a:spLocks noGrp="1"/>
          </p:cNvSpPr>
          <p:nvPr>
            <p:ph idx="1"/>
          </p:nvPr>
        </p:nvSpPr>
        <p:spPr>
          <a:xfrm>
            <a:off x="653142" y="1152475"/>
            <a:ext cx="7759338"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800" dirty="0">
                <a:solidFill>
                  <a:schemeClr val="dk1"/>
                </a:solidFill>
                <a:latin typeface="Arial" panose="020B0604020202020204" pitchFamily="34" charset="0"/>
                <a:cs typeface="Arial" panose="020B0604020202020204" pitchFamily="34" charset="0"/>
              </a:rPr>
              <a:t>By the end of this presentation, participants will be able to:</a:t>
            </a:r>
          </a:p>
          <a:p>
            <a:pPr marL="457200" lvl="0" indent="-304800" algn="l" rtl="0">
              <a:spcBef>
                <a:spcPts val="1000"/>
              </a:spcBef>
              <a:spcAft>
                <a:spcPts val="0"/>
              </a:spcAft>
              <a:buSzPts val="1200"/>
              <a:buFont typeface="Montserrat"/>
              <a:buChar char="●"/>
            </a:pPr>
            <a:r>
              <a:rPr lang="en-US" sz="1800" dirty="0">
                <a:solidFill>
                  <a:schemeClr val="dk1"/>
                </a:solidFill>
                <a:latin typeface="Arial" panose="020B0604020202020204" pitchFamily="34" charset="0"/>
                <a:cs typeface="Arial" panose="020B0604020202020204" pitchFamily="34" charset="0"/>
              </a:rPr>
              <a:t>Identify and differentiate types of statistical analysis</a:t>
            </a:r>
          </a:p>
          <a:p>
            <a:pPr marL="457200" lvl="0" indent="-304800" algn="l" rtl="0">
              <a:spcBef>
                <a:spcPts val="1000"/>
              </a:spcBef>
              <a:spcAft>
                <a:spcPts val="0"/>
              </a:spcAft>
              <a:buSzPts val="1200"/>
              <a:buFont typeface="Montserrat"/>
              <a:buChar char="●"/>
            </a:pPr>
            <a:r>
              <a:rPr lang="en-US" sz="1800" dirty="0">
                <a:solidFill>
                  <a:schemeClr val="dk1"/>
                </a:solidFill>
                <a:latin typeface="Arial" panose="020B0604020202020204" pitchFamily="34" charset="0"/>
                <a:cs typeface="Arial" panose="020B0604020202020204" pitchFamily="34" charset="0"/>
              </a:rPr>
              <a:t>Understand when to apply descriptive and inferential statistics</a:t>
            </a:r>
          </a:p>
          <a:p>
            <a:pPr marL="457200" lvl="0" indent="-304800" algn="l" rtl="0">
              <a:spcBef>
                <a:spcPts val="1000"/>
              </a:spcBef>
              <a:spcAft>
                <a:spcPts val="0"/>
              </a:spcAft>
              <a:buSzPts val="1200"/>
              <a:buFont typeface="Montserrat"/>
              <a:buChar char="●"/>
            </a:pPr>
            <a:r>
              <a:rPr lang="en-US" sz="1800" dirty="0">
                <a:solidFill>
                  <a:schemeClr val="dk1"/>
                </a:solidFill>
                <a:latin typeface="Arial" panose="020B0604020202020204" pitchFamily="34" charset="0"/>
                <a:cs typeface="Arial" panose="020B0604020202020204" pitchFamily="34" charset="0"/>
              </a:rPr>
              <a:t>Interpret common statistical outputs</a:t>
            </a:r>
          </a:p>
          <a:p>
            <a:pPr marL="457200" lvl="0" indent="-304800" algn="l" rtl="0">
              <a:spcBef>
                <a:spcPts val="1000"/>
              </a:spcBef>
              <a:spcAft>
                <a:spcPts val="0"/>
              </a:spcAft>
              <a:buSzPts val="1200"/>
              <a:buFont typeface="Montserrat"/>
              <a:buChar char="●"/>
            </a:pPr>
            <a:r>
              <a:rPr lang="en-US" sz="1800" dirty="0">
                <a:solidFill>
                  <a:schemeClr val="dk1"/>
                </a:solidFill>
                <a:latin typeface="Arial" panose="020B0604020202020204" pitchFamily="34" charset="0"/>
                <a:cs typeface="Arial" panose="020B0604020202020204" pitchFamily="34" charset="0"/>
              </a:rPr>
              <a:t>Apply basic quantitative data analysis to both numerical (quantitative) and categorical (qualitative) data. </a:t>
            </a:r>
            <a:endParaRPr lang="en-US" sz="1800" b="0" i="0" u="none" strike="noStrike" dirty="0">
              <a:solidFill>
                <a:srgbClr val="000000"/>
              </a:solidFill>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9E5ACB01-2A81-9B23-0DA5-72FBB17C831E}"/>
              </a:ext>
            </a:extLst>
          </p:cNvPr>
          <p:cNvSpPr txBox="1"/>
          <p:nvPr/>
        </p:nvSpPr>
        <p:spPr>
          <a:xfrm>
            <a:off x="2286000" y="2421361"/>
            <a:ext cx="4572000" cy="307777"/>
          </a:xfrm>
          <a:prstGeom prst="rect">
            <a:avLst/>
          </a:prstGeom>
          <a:noFill/>
        </p:spPr>
        <p:txBody>
          <a:bodyPr wrap="square">
            <a:spAutoFit/>
          </a:bodyPr>
          <a:lstStyle/>
          <a:p>
            <a:r>
              <a:rPr lang="en-US" b="0" i="0" u="none" strike="noStrike" dirty="0">
                <a:solidFill>
                  <a:srgbClr val="000000"/>
                </a:solidFill>
                <a:effectLst/>
              </a:rPr>
              <a:t> </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E33D6-CC2F-DB55-5F9A-3A8B01901926}"/>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What is Qualitative Data Analysis?</a:t>
            </a:r>
          </a:p>
        </p:txBody>
      </p:sp>
      <p:sp>
        <p:nvSpPr>
          <p:cNvPr id="3" name="Content Placeholder 2">
            <a:extLst>
              <a:ext uri="{FF2B5EF4-FFF2-40B4-BE49-F238E27FC236}">
                <a16:creationId xmlns:a16="http://schemas.microsoft.com/office/drawing/2014/main" id="{B216B787-7861-D017-B296-0860863459B7}"/>
              </a:ext>
            </a:extLst>
          </p:cNvPr>
          <p:cNvSpPr>
            <a:spLocks noGrp="1"/>
          </p:cNvSpPr>
          <p:nvPr>
            <p:ph idx="1"/>
          </p:nvPr>
        </p:nvSpPr>
        <p:spPr/>
        <p:txBody>
          <a:bodyPr lIns="91440">
            <a:normAutofit/>
          </a:bodyPr>
          <a:lstStyle/>
          <a:p>
            <a:pPr marL="0" indent="0">
              <a:buNone/>
            </a:pPr>
            <a:r>
              <a:rPr lang="en-US" dirty="0">
                <a:solidFill>
                  <a:schemeClr val="tx1"/>
                </a:solidFill>
                <a:latin typeface="Arial" panose="020B0604020202020204" pitchFamily="34" charset="0"/>
                <a:cs typeface="Arial" panose="020B0604020202020204" pitchFamily="34" charset="0"/>
              </a:rPr>
              <a:t>Qualitative data analysis is the process of analyzing non-numerical and descriptive information</a:t>
            </a:r>
          </a:p>
          <a:p>
            <a:pPr marL="0" indent="0">
              <a:buNone/>
            </a:pPr>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Supports further understanding of the “why” and “how” of global public health issues </a:t>
            </a:r>
          </a:p>
          <a:p>
            <a:r>
              <a:rPr lang="en-US" dirty="0">
                <a:solidFill>
                  <a:schemeClr val="tx1"/>
                </a:solidFill>
                <a:latin typeface="Arial" panose="020B0604020202020204" pitchFamily="34" charset="0"/>
                <a:cs typeface="Arial" panose="020B0604020202020204" pitchFamily="34" charset="0"/>
              </a:rPr>
              <a:t>Allows for heightened understanding of health behaviors</a:t>
            </a:r>
          </a:p>
          <a:p>
            <a:pPr lvl="1">
              <a:spcBef>
                <a:spcPts val="0"/>
              </a:spcBef>
            </a:pPr>
            <a:r>
              <a:rPr lang="en-US" dirty="0">
                <a:solidFill>
                  <a:schemeClr val="tx1"/>
                </a:solidFill>
                <a:latin typeface="Arial" panose="020B0604020202020204" pitchFamily="34" charset="0"/>
                <a:cs typeface="Arial" panose="020B0604020202020204" pitchFamily="34" charset="0"/>
              </a:rPr>
              <a:t>Lived experiences, barriers to care, and beliefs may be evaluated to assess their relation to health behaviors</a:t>
            </a:r>
          </a:p>
          <a:p>
            <a:r>
              <a:rPr lang="en-US" dirty="0">
                <a:solidFill>
                  <a:schemeClr val="tx1"/>
                </a:solidFill>
                <a:latin typeface="Arial" panose="020B0604020202020204" pitchFamily="34" charset="0"/>
                <a:cs typeface="Arial" panose="020B0604020202020204" pitchFamily="34" charset="0"/>
              </a:rPr>
              <a:t>Contributes to the improvement of public health programs and interventions</a:t>
            </a:r>
          </a:p>
        </p:txBody>
      </p:sp>
    </p:spTree>
    <p:extLst>
      <p:ext uri="{BB962C8B-B14F-4D97-AF65-F5344CB8AC3E}">
        <p14:creationId xmlns:p14="http://schemas.microsoft.com/office/powerpoint/2010/main" val="2027058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CD546-7450-4605-A5C6-BCD23B86388A}"/>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Example 1</a:t>
            </a:r>
          </a:p>
        </p:txBody>
      </p:sp>
      <p:sp>
        <p:nvSpPr>
          <p:cNvPr id="3" name="Content Placeholder 2">
            <a:extLst>
              <a:ext uri="{FF2B5EF4-FFF2-40B4-BE49-F238E27FC236}">
                <a16:creationId xmlns:a16="http://schemas.microsoft.com/office/drawing/2014/main" id="{211C315B-F047-DA85-8525-5C65C1374E39}"/>
              </a:ext>
            </a:extLst>
          </p:cNvPr>
          <p:cNvSpPr>
            <a:spLocks noGrp="1"/>
          </p:cNvSpPr>
          <p:nvPr>
            <p:ph idx="1"/>
          </p:nvPr>
        </p:nvSpPr>
        <p:spPr/>
        <p:txBody>
          <a:bodyPr/>
          <a:lstStyle/>
          <a:p>
            <a:pPr marL="114300" indent="0">
              <a:buNone/>
            </a:pPr>
            <a:r>
              <a:rPr lang="en-US" sz="1800" b="0" i="0" u="none" strike="noStrike" dirty="0">
                <a:solidFill>
                  <a:srgbClr val="000000"/>
                </a:solidFill>
                <a:effectLst/>
                <a:latin typeface="Arial" panose="020B0604020202020204" pitchFamily="34" charset="0"/>
                <a:cs typeface="Arial" panose="020B0604020202020204" pitchFamily="34" charset="0"/>
              </a:rPr>
              <a:t>At a health clinic, physicians notice that patients with high blood pressure are </a:t>
            </a:r>
            <a:r>
              <a:rPr lang="en-US" sz="1800" b="1" i="1" u="none" strike="noStrike" dirty="0">
                <a:solidFill>
                  <a:srgbClr val="000000"/>
                </a:solidFill>
                <a:effectLst/>
                <a:latin typeface="Arial" panose="020B0604020202020204" pitchFamily="34" charset="0"/>
                <a:cs typeface="Arial" panose="020B0604020202020204" pitchFamily="34" charset="0"/>
              </a:rPr>
              <a:t>not</a:t>
            </a:r>
            <a:r>
              <a:rPr lang="en-US" sz="1800" b="0" i="0" u="none" strike="noStrike" dirty="0">
                <a:solidFill>
                  <a:srgbClr val="000000"/>
                </a:solidFill>
                <a:effectLst/>
                <a:latin typeface="Arial" panose="020B0604020202020204" pitchFamily="34" charset="0"/>
                <a:cs typeface="Arial" panose="020B0604020202020204" pitchFamily="34" charset="0"/>
              </a:rPr>
              <a:t> taking their prescribed medications regularly. Numerical (quantitative) data shows the number of patients who are not regularly taking medications however it does not explain why. Collecting qualitative data through interviews and analyzing it may reveal that cost barriers or painful side effects are reasons why patients are not regularly taking medications. </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3258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90437-9FA2-DAF7-3DCF-364C71340B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0FBCB-76F6-E20B-BEDA-1E3912905992}"/>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What is Quantitative Data Analysis?</a:t>
            </a:r>
          </a:p>
        </p:txBody>
      </p:sp>
      <p:sp>
        <p:nvSpPr>
          <p:cNvPr id="3" name="Content Placeholder 2">
            <a:extLst>
              <a:ext uri="{FF2B5EF4-FFF2-40B4-BE49-F238E27FC236}">
                <a16:creationId xmlns:a16="http://schemas.microsoft.com/office/drawing/2014/main" id="{1161C841-558D-9D92-B241-42CA071372A2}"/>
              </a:ext>
            </a:extLst>
          </p:cNvPr>
          <p:cNvSpPr>
            <a:spLocks noGrp="1"/>
          </p:cNvSpPr>
          <p:nvPr>
            <p:ph idx="1"/>
          </p:nvPr>
        </p:nvSpPr>
        <p:spPr/>
        <p:txBody>
          <a:bodyPr lIns="91440">
            <a:normAutofit/>
          </a:bodyPr>
          <a:lstStyle/>
          <a:p>
            <a:pPr marL="0" indent="0">
              <a:buNone/>
            </a:pPr>
            <a:r>
              <a:rPr lang="en-US" dirty="0">
                <a:solidFill>
                  <a:schemeClr val="tx1"/>
                </a:solidFill>
                <a:latin typeface="Arial" panose="020B0604020202020204" pitchFamily="34" charset="0"/>
                <a:cs typeface="Arial" panose="020B0604020202020204" pitchFamily="34" charset="0"/>
              </a:rPr>
              <a:t>This presentation focuses on quantitative data analysis which is the process of analyzing numerical information to better understand relationships between variables.</a:t>
            </a:r>
          </a:p>
          <a:p>
            <a:pPr marL="0" indent="0">
              <a:buNone/>
            </a:pPr>
            <a:endParaRPr lang="en-US" dirty="0">
              <a:solidFill>
                <a:schemeClr val="tx1"/>
              </a:solidFill>
              <a:latin typeface="Arial" panose="020B0604020202020204" pitchFamily="34" charset="0"/>
              <a:cs typeface="Arial" panose="020B0604020202020204" pitchFamily="34" charset="0"/>
            </a:endParaRPr>
          </a:p>
          <a:p>
            <a:r>
              <a:rPr lang="en-US" dirty="0">
                <a:solidFill>
                  <a:schemeClr val="tx1"/>
                </a:solidFill>
                <a:latin typeface="Arial" panose="020B0604020202020204" pitchFamily="34" charset="0"/>
                <a:cs typeface="Arial" panose="020B0604020202020204" pitchFamily="34" charset="0"/>
              </a:rPr>
              <a:t>Focuses on statistical analysis to better assess trends and patterns</a:t>
            </a:r>
          </a:p>
          <a:p>
            <a:r>
              <a:rPr lang="en-US" dirty="0">
                <a:solidFill>
                  <a:schemeClr val="tx1"/>
                </a:solidFill>
                <a:latin typeface="Arial" panose="020B0604020202020204" pitchFamily="34" charset="0"/>
                <a:cs typeface="Arial" panose="020B0604020202020204" pitchFamily="34" charset="0"/>
              </a:rPr>
              <a:t>Useful to better explain the “what” of global public health issues</a:t>
            </a:r>
          </a:p>
          <a:p>
            <a:r>
              <a:rPr lang="en-US" dirty="0">
                <a:solidFill>
                  <a:schemeClr val="tx1"/>
                </a:solidFill>
                <a:latin typeface="Arial" panose="020B0604020202020204" pitchFamily="34" charset="0"/>
                <a:cs typeface="Arial" panose="020B0604020202020204" pitchFamily="34" charset="0"/>
              </a:rPr>
              <a:t>Applies to both:</a:t>
            </a:r>
          </a:p>
          <a:p>
            <a:pPr lvl="1">
              <a:spcBef>
                <a:spcPts val="0"/>
              </a:spcBef>
            </a:pPr>
            <a:r>
              <a:rPr lang="en-US" dirty="0">
                <a:solidFill>
                  <a:schemeClr val="tx1"/>
                </a:solidFill>
                <a:latin typeface="Arial" panose="020B0604020202020204" pitchFamily="34" charset="0"/>
                <a:cs typeface="Arial" panose="020B0604020202020204" pitchFamily="34" charset="0"/>
              </a:rPr>
              <a:t>Categorical (qualitative) data – ex. gender, occupation, blood type</a:t>
            </a:r>
          </a:p>
          <a:p>
            <a:pPr lvl="1">
              <a:spcBef>
                <a:spcPts val="0"/>
              </a:spcBef>
            </a:pPr>
            <a:r>
              <a:rPr lang="en-US" dirty="0">
                <a:solidFill>
                  <a:schemeClr val="tx1"/>
                </a:solidFill>
                <a:latin typeface="Arial" panose="020B0604020202020204" pitchFamily="34" charset="0"/>
                <a:cs typeface="Arial" panose="020B0604020202020204" pitchFamily="34" charset="0"/>
              </a:rPr>
              <a:t> Numerical (quantitative) data – ex. age, blood pressure, heart rate</a:t>
            </a:r>
          </a:p>
          <a:p>
            <a:r>
              <a:rPr lang="en-US" dirty="0">
                <a:solidFill>
                  <a:schemeClr val="tx1"/>
                </a:solidFill>
                <a:latin typeface="Arial" panose="020B0604020202020204" pitchFamily="34" charset="0"/>
                <a:cs typeface="Arial" panose="020B0604020202020204" pitchFamily="34" charset="0"/>
              </a:rPr>
              <a:t>Most analyses are performed using statistical software (ex. R, STATA, SAS, and so forth).</a:t>
            </a:r>
          </a:p>
        </p:txBody>
      </p:sp>
    </p:spTree>
    <p:extLst>
      <p:ext uri="{BB962C8B-B14F-4D97-AF65-F5344CB8AC3E}">
        <p14:creationId xmlns:p14="http://schemas.microsoft.com/office/powerpoint/2010/main" val="3268266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67BF6-0AC9-7DBA-4F28-74100E262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A10745-1657-A965-F467-3F2FF2E8470C}"/>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Example 2</a:t>
            </a:r>
          </a:p>
        </p:txBody>
      </p:sp>
      <p:sp>
        <p:nvSpPr>
          <p:cNvPr id="3" name="Content Placeholder 2">
            <a:extLst>
              <a:ext uri="{FF2B5EF4-FFF2-40B4-BE49-F238E27FC236}">
                <a16:creationId xmlns:a16="http://schemas.microsoft.com/office/drawing/2014/main" id="{E60AB332-A756-029A-16AB-08D6EAB10890}"/>
              </a:ext>
            </a:extLst>
          </p:cNvPr>
          <p:cNvSpPr>
            <a:spLocks noGrp="1"/>
          </p:cNvSpPr>
          <p:nvPr>
            <p:ph idx="1"/>
          </p:nvPr>
        </p:nvSpPr>
        <p:spPr/>
        <p:txBody>
          <a:bodyPr/>
          <a:lstStyle/>
          <a:p>
            <a:pPr marL="114300" indent="0">
              <a:buNone/>
            </a:pPr>
            <a:r>
              <a:rPr lang="en-US" sz="1800" b="0" i="0" u="none" strike="noStrike" dirty="0">
                <a:solidFill>
                  <a:srgbClr val="000000"/>
                </a:solidFill>
                <a:effectLst/>
                <a:latin typeface="Arial" panose="020B0604020202020204" pitchFamily="34" charset="0"/>
                <a:cs typeface="Arial" panose="020B0604020202020204" pitchFamily="34" charset="0"/>
              </a:rPr>
              <a:t>A researcher is interested in seeing if the high blood pressure medication (from example 1) is effective. Measuring systolic and diastolic blood pressure before treatment and after 6 months of treatment will allow for quantitative comparison and analysis to determine whether the medication works. </a:t>
            </a:r>
            <a:r>
              <a:rPr lang="en-US" sz="1800" b="0" i="0" u="none" strike="noStrike" dirty="0">
                <a:effectLst/>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9821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22D33-5E47-43F8-86FF-2E0B31289D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0F7C32-BC39-94E9-8CCD-0F1DABCBDD5E}"/>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Types of Statistical Analysis</a:t>
            </a:r>
          </a:p>
        </p:txBody>
      </p:sp>
      <p:sp>
        <p:nvSpPr>
          <p:cNvPr id="3" name="Content Placeholder 2">
            <a:extLst>
              <a:ext uri="{FF2B5EF4-FFF2-40B4-BE49-F238E27FC236}">
                <a16:creationId xmlns:a16="http://schemas.microsoft.com/office/drawing/2014/main" id="{C5B2083A-8951-418C-27D8-C4E7BCBB9506}"/>
              </a:ext>
            </a:extLst>
          </p:cNvPr>
          <p:cNvSpPr>
            <a:spLocks noGrp="1"/>
          </p:cNvSpPr>
          <p:nvPr>
            <p:ph idx="1"/>
          </p:nvPr>
        </p:nvSpPr>
        <p:spPr/>
        <p:txBody>
          <a:bodyPr lIns="91440">
            <a:normAutofit/>
          </a:bodyPr>
          <a:lstStyle/>
          <a:p>
            <a:pPr marL="0" indent="0">
              <a:buNone/>
            </a:pPr>
            <a:r>
              <a:rPr lang="en-US" dirty="0">
                <a:solidFill>
                  <a:schemeClr val="tx1"/>
                </a:solidFill>
                <a:latin typeface="Arial" panose="020B0604020202020204" pitchFamily="34" charset="0"/>
                <a:cs typeface="Arial" panose="020B0604020202020204" pitchFamily="34" charset="0"/>
              </a:rPr>
              <a:t>There are two main types of statistical analysis</a:t>
            </a:r>
          </a:p>
          <a:p>
            <a:pPr marL="0" indent="0">
              <a:buNone/>
            </a:pPr>
            <a:endParaRPr lang="en-US" dirty="0">
              <a:solidFill>
                <a:schemeClr val="tx1"/>
              </a:solidFill>
              <a:latin typeface="Arial" panose="020B0604020202020204" pitchFamily="34" charset="0"/>
              <a:cs typeface="Arial" panose="020B0604020202020204" pitchFamily="34" charset="0"/>
            </a:endParaRPr>
          </a:p>
          <a:p>
            <a:pPr marL="114300" indent="0">
              <a:buNone/>
            </a:pPr>
            <a:r>
              <a:rPr lang="en-US" dirty="0">
                <a:solidFill>
                  <a:schemeClr val="tx1"/>
                </a:solidFill>
                <a:latin typeface="Arial" panose="020B0604020202020204" pitchFamily="34" charset="0"/>
                <a:cs typeface="Arial" panose="020B0604020202020204" pitchFamily="34" charset="0"/>
              </a:rPr>
              <a:t>Descriptive statistics</a:t>
            </a:r>
          </a:p>
          <a:p>
            <a:pPr lvl="1">
              <a:spcBef>
                <a:spcPts val="0"/>
              </a:spcBef>
            </a:pPr>
            <a:r>
              <a:rPr lang="en-US" dirty="0">
                <a:solidFill>
                  <a:schemeClr val="tx1"/>
                </a:solidFill>
                <a:latin typeface="Arial" panose="020B0604020202020204" pitchFamily="34" charset="0"/>
                <a:cs typeface="Arial" panose="020B0604020202020204" pitchFamily="34" charset="0"/>
              </a:rPr>
              <a:t>Summarizes and describes the main features of a dataset</a:t>
            </a:r>
          </a:p>
          <a:p>
            <a:pPr lvl="1">
              <a:spcBef>
                <a:spcPts val="0"/>
              </a:spcBef>
            </a:pPr>
            <a:r>
              <a:rPr lang="en-US" dirty="0">
                <a:solidFill>
                  <a:schemeClr val="tx1"/>
                </a:solidFill>
                <a:latin typeface="Arial" panose="020B0604020202020204" pitchFamily="34" charset="0"/>
                <a:cs typeface="Arial" panose="020B0604020202020204" pitchFamily="34" charset="0"/>
              </a:rPr>
              <a:t>Example: In a group of 100 patients, the average age is 60 years old and 70% of participants are women.</a:t>
            </a:r>
          </a:p>
          <a:p>
            <a:pPr marL="114300" indent="0">
              <a:buNone/>
            </a:pPr>
            <a:r>
              <a:rPr lang="en-US" dirty="0">
                <a:solidFill>
                  <a:schemeClr val="tx1"/>
                </a:solidFill>
                <a:latin typeface="Arial" panose="020B0604020202020204" pitchFamily="34" charset="0"/>
                <a:cs typeface="Arial" panose="020B0604020202020204" pitchFamily="34" charset="0"/>
              </a:rPr>
              <a:t>Inferential statistics</a:t>
            </a:r>
          </a:p>
          <a:p>
            <a:pPr lvl="1">
              <a:spcBef>
                <a:spcPts val="0"/>
              </a:spcBef>
            </a:pPr>
            <a:r>
              <a:rPr lang="en-US" dirty="0">
                <a:solidFill>
                  <a:schemeClr val="tx1"/>
                </a:solidFill>
                <a:latin typeface="Arial" panose="020B0604020202020204" pitchFamily="34" charset="0"/>
                <a:cs typeface="Arial" panose="020B0604020202020204" pitchFamily="34" charset="0"/>
              </a:rPr>
              <a:t>Allows for making predictions or generalizations about a population based on a given sample</a:t>
            </a:r>
          </a:p>
          <a:p>
            <a:pPr lvl="1">
              <a:spcBef>
                <a:spcPts val="0"/>
              </a:spcBef>
            </a:pPr>
            <a:r>
              <a:rPr lang="en-US" dirty="0">
                <a:solidFill>
                  <a:schemeClr val="tx1"/>
                </a:solidFill>
                <a:latin typeface="Arial" panose="020B0604020202020204" pitchFamily="34" charset="0"/>
                <a:cs typeface="Arial" panose="020B0604020202020204" pitchFamily="34" charset="0"/>
              </a:rPr>
              <a:t>Example: In a group of 100 patients, a researcher wants to know if exercising daily lowers blood pressure. Inferential statics will help determine if the result is applicable to a general population.</a:t>
            </a:r>
          </a:p>
        </p:txBody>
      </p:sp>
    </p:spTree>
    <p:extLst>
      <p:ext uri="{BB962C8B-B14F-4D97-AF65-F5344CB8AC3E}">
        <p14:creationId xmlns:p14="http://schemas.microsoft.com/office/powerpoint/2010/main" val="1715851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1E92C-4C14-4F08-5E50-27C0689F48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B5BD21-D509-8C38-3F0E-9D6887160FB8}"/>
              </a:ext>
            </a:extLst>
          </p:cNvPr>
          <p:cNvSpPr>
            <a:spLocks noGrp="1"/>
          </p:cNvSpPr>
          <p:nvPr>
            <p:ph type="title"/>
          </p:nvPr>
        </p:nvSpPr>
        <p:spPr>
          <a:xfrm>
            <a:off x="311700" y="445025"/>
            <a:ext cx="8520600" cy="572700"/>
          </a:xfrm>
        </p:spPr>
        <p:txBody>
          <a:bodyPr wrap="square" anchor="t">
            <a:normAutofit/>
          </a:bodyPr>
          <a:lstStyle/>
          <a:p>
            <a:pPr>
              <a:lnSpc>
                <a:spcPct val="90000"/>
              </a:lnSpc>
            </a:pPr>
            <a:r>
              <a:rPr lang="en-US" dirty="0">
                <a:solidFill>
                  <a:schemeClr val="accent1"/>
                </a:solidFill>
                <a:latin typeface="+mj-lt"/>
              </a:rPr>
              <a:t>What are Descriptive Statistics?</a:t>
            </a:r>
          </a:p>
        </p:txBody>
      </p:sp>
      <p:graphicFrame>
        <p:nvGraphicFramePr>
          <p:cNvPr id="7" name="Content Placeholder 2">
            <a:extLst>
              <a:ext uri="{FF2B5EF4-FFF2-40B4-BE49-F238E27FC236}">
                <a16:creationId xmlns:a16="http://schemas.microsoft.com/office/drawing/2014/main" id="{6E13419A-01CB-980F-2C0F-B611B53B29A0}"/>
              </a:ext>
            </a:extLst>
          </p:cNvPr>
          <p:cNvGraphicFramePr>
            <a:graphicFrameLocks noGrp="1"/>
          </p:cNvGraphicFramePr>
          <p:nvPr>
            <p:ph idx="1"/>
            <p:extLst>
              <p:ext uri="{D42A27DB-BD31-4B8C-83A1-F6EECF244321}">
                <p14:modId xmlns:p14="http://schemas.microsoft.com/office/powerpoint/2010/main" val="2931422588"/>
              </p:ext>
            </p:extLst>
          </p:nvPr>
        </p:nvGraphicFramePr>
        <p:xfrm>
          <a:off x="613050" y="2018010"/>
          <a:ext cx="7917900" cy="2680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B5A1AFC7-0590-80FF-032A-3F658DCC843C}"/>
              </a:ext>
            </a:extLst>
          </p:cNvPr>
          <p:cNvSpPr txBox="1"/>
          <p:nvPr/>
        </p:nvSpPr>
        <p:spPr>
          <a:xfrm>
            <a:off x="613050" y="1256257"/>
            <a:ext cx="7917899" cy="523220"/>
          </a:xfrm>
          <a:prstGeom prst="rect">
            <a:avLst/>
          </a:prstGeom>
          <a:noFill/>
        </p:spPr>
        <p:txBody>
          <a:bodyPr wrap="square">
            <a:spAutoFit/>
          </a:bodyPr>
          <a:lstStyle/>
          <a:p>
            <a:pPr lvl="0"/>
            <a:r>
              <a:rPr lang="en-US" dirty="0"/>
              <a:t>Descriptive statistics are used to summarize and describe the characteristics of a dataset. There are four primary ways to describe the distribution of descriptive statistics.</a:t>
            </a:r>
          </a:p>
        </p:txBody>
      </p:sp>
    </p:spTree>
    <p:extLst>
      <p:ext uri="{BB962C8B-B14F-4D97-AF65-F5344CB8AC3E}">
        <p14:creationId xmlns:p14="http://schemas.microsoft.com/office/powerpoint/2010/main" val="3094242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51D9C-9BDB-5FB1-19FE-3C22E67C14FB}"/>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Central Tendency</a:t>
            </a:r>
          </a:p>
        </p:txBody>
      </p:sp>
      <p:graphicFrame>
        <p:nvGraphicFramePr>
          <p:cNvPr id="4" name="Content Placeholder 3">
            <a:extLst>
              <a:ext uri="{FF2B5EF4-FFF2-40B4-BE49-F238E27FC236}">
                <a16:creationId xmlns:a16="http://schemas.microsoft.com/office/drawing/2014/main" id="{9771BEE8-DC25-DC62-43AD-283DCDC02428}"/>
              </a:ext>
            </a:extLst>
          </p:cNvPr>
          <p:cNvGraphicFramePr>
            <a:graphicFrameLocks noGrp="1"/>
          </p:cNvGraphicFramePr>
          <p:nvPr>
            <p:ph idx="1"/>
            <p:extLst>
              <p:ext uri="{D42A27DB-BD31-4B8C-83A1-F6EECF244321}">
                <p14:modId xmlns:p14="http://schemas.microsoft.com/office/powerpoint/2010/main" val="3395013858"/>
              </p:ext>
            </p:extLst>
          </p:nvPr>
        </p:nvGraphicFramePr>
        <p:xfrm>
          <a:off x="311700" y="1223317"/>
          <a:ext cx="8520600" cy="3002801"/>
        </p:xfrm>
        <a:graphic>
          <a:graphicData uri="http://schemas.openxmlformats.org/drawingml/2006/table">
            <a:tbl>
              <a:tblPr/>
              <a:tblGrid>
                <a:gridCol w="1055924">
                  <a:extLst>
                    <a:ext uri="{9D8B030D-6E8A-4147-A177-3AD203B41FA5}">
                      <a16:colId xmlns:a16="http://schemas.microsoft.com/office/drawing/2014/main" val="3060635598"/>
                    </a:ext>
                  </a:extLst>
                </a:gridCol>
                <a:gridCol w="2536466">
                  <a:extLst>
                    <a:ext uri="{9D8B030D-6E8A-4147-A177-3AD203B41FA5}">
                      <a16:colId xmlns:a16="http://schemas.microsoft.com/office/drawing/2014/main" val="4273906151"/>
                    </a:ext>
                  </a:extLst>
                </a:gridCol>
                <a:gridCol w="2059388">
                  <a:extLst>
                    <a:ext uri="{9D8B030D-6E8A-4147-A177-3AD203B41FA5}">
                      <a16:colId xmlns:a16="http://schemas.microsoft.com/office/drawing/2014/main" val="1934723982"/>
                    </a:ext>
                  </a:extLst>
                </a:gridCol>
                <a:gridCol w="2868822">
                  <a:extLst>
                    <a:ext uri="{9D8B030D-6E8A-4147-A177-3AD203B41FA5}">
                      <a16:colId xmlns:a16="http://schemas.microsoft.com/office/drawing/2014/main" val="2953188271"/>
                    </a:ext>
                  </a:extLst>
                </a:gridCol>
              </a:tblGrid>
              <a:tr h="231923">
                <a:tc>
                  <a:txBody>
                    <a:bodyPr/>
                    <a:lstStyle/>
                    <a:p>
                      <a:pPr algn="l" fontAlgn="base">
                        <a:lnSpc>
                          <a:spcPct val="100000"/>
                        </a:lnSpc>
                      </a:pPr>
                      <a:r>
                        <a:rPr lang="en-US" sz="1000" b="1" i="0" dirty="0">
                          <a:solidFill>
                            <a:srgbClr val="FFFFFF"/>
                          </a:solidFill>
                          <a:effectLst/>
                          <a:latin typeface="Arial" panose="020B0604020202020204" pitchFamily="34" charset="0"/>
                          <a:cs typeface="Arial" panose="020B0604020202020204" pitchFamily="34" charset="0"/>
                        </a:rPr>
                        <a:t>Measure​</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ct val="100000"/>
                        </a:lnSpc>
                      </a:pPr>
                      <a:r>
                        <a:rPr lang="en-US" sz="1000" b="1" i="0" dirty="0">
                          <a:solidFill>
                            <a:srgbClr val="FFFFFF"/>
                          </a:solidFill>
                          <a:effectLst/>
                          <a:latin typeface="Arial" panose="020B0604020202020204" pitchFamily="34" charset="0"/>
                          <a:cs typeface="Arial" panose="020B0604020202020204" pitchFamily="34" charset="0"/>
                        </a:rPr>
                        <a:t>Definition​</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000" b="1" i="0" dirty="0">
                          <a:solidFill>
                            <a:srgbClr val="FFFFFF"/>
                          </a:solidFill>
                          <a:effectLst/>
                          <a:latin typeface="Arial" panose="020B0604020202020204" pitchFamily="34" charset="0"/>
                          <a:cs typeface="Arial" panose="020B0604020202020204" pitchFamily="34" charset="0"/>
                        </a:rPr>
                        <a:t>When to Use​</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000" b="1" i="0" dirty="0">
                          <a:solidFill>
                            <a:srgbClr val="FFFFFF"/>
                          </a:solidFill>
                          <a:effectLst/>
                          <a:latin typeface="Arial" panose="020B0604020202020204" pitchFamily="34" charset="0"/>
                          <a:cs typeface="Arial" panose="020B0604020202020204" pitchFamily="34" charset="0"/>
                        </a:rPr>
                        <a:t>Example​</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4182356704"/>
                  </a:ext>
                </a:extLst>
              </a:tr>
              <a:tr h="688538">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Mean​</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The average value of the dataset​</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When data is normally distributed and there are no extreme outliers​</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Heart rate measurements from five participants are 60 bpm, 90bpm, 80bpm, 80bpm, and 110bpm. The mean is 84bpm.​</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532198356"/>
                  </a:ext>
                </a:extLst>
              </a:tr>
              <a:tr h="731520">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Mode​</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Most frequent value in a dataset​</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When evaluating categorical data (nominal)​</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Heart rate measurements from five participants are 60 bpm, 90bpm, 80bpm, 80bpm, and 110bpm. The mode is 80bpm​</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502670225"/>
                  </a:ext>
                </a:extLst>
              </a:tr>
              <a:tr h="902194">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Median​</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Midpoint (or middle) value in a dataset​.</a:t>
                      </a:r>
                    </a:p>
                    <a:p>
                      <a:pPr algn="l" fontAlgn="base">
                        <a:lnSpc>
                          <a:spcPct val="100000"/>
                        </a:lnSpc>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Data should be arranged in ascending order. </a:t>
                      </a:r>
                    </a:p>
                    <a:p>
                      <a:pPr marL="171450" indent="-171450">
                        <a:lnSpc>
                          <a:spcPct val="100000"/>
                        </a:lnSpc>
                        <a:buFont typeface="Arial" panose="020B0604020202020204" pitchFamily="34" charset="0"/>
                        <a:buChar char="•"/>
                      </a:pPr>
                      <a:r>
                        <a:rPr lang="en-US" sz="1000" b="0" dirty="0"/>
                        <a:t>If the number of values is odd, the median is the middle number.</a:t>
                      </a:r>
                    </a:p>
                    <a:p>
                      <a:pPr marL="171450" indent="-171450">
                        <a:lnSpc>
                          <a:spcPct val="100000"/>
                        </a:lnSpc>
                        <a:buFont typeface="Arial" panose="020B0604020202020204" pitchFamily="34" charset="0"/>
                        <a:buChar char="•"/>
                      </a:pPr>
                      <a:r>
                        <a:rPr lang="en-US" sz="1000" b="0" dirty="0"/>
                        <a:t>If even, it is the average of the two middle numbers.</a:t>
                      </a:r>
                    </a:p>
                    <a:p>
                      <a:pPr algn="l" fontAlgn="base">
                        <a:lnSpc>
                          <a:spcPct val="100000"/>
                        </a:lnSpc>
                      </a:pPr>
                      <a:endParaRPr lang="en-US" sz="1000" b="0" i="0" dirty="0">
                        <a:solidFill>
                          <a:srgbClr val="000000"/>
                        </a:solidFill>
                        <a:effectLst/>
                        <a:latin typeface="Arial" panose="020B0604020202020204" pitchFamily="34" charset="0"/>
                        <a:cs typeface="Arial" panose="020B0604020202020204" pitchFamily="34" charset="0"/>
                      </a:endParaRP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When data is skewed or has outliers​</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Heart rate measurements from five participants are 60 bpm, 80 bpm, 80 bpm, 90bpm, and 110bpm. The median is 80 bpm​</a:t>
                      </a:r>
                    </a:p>
                  </a:txBody>
                  <a:tcPr marL="62550" marR="62550" marT="31275" marB="31275">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071514398"/>
                  </a:ext>
                </a:extLst>
              </a:tr>
            </a:tbl>
          </a:graphicData>
        </a:graphic>
      </p:graphicFrame>
      <p:sp>
        <p:nvSpPr>
          <p:cNvPr id="5" name="Rectangle 1">
            <a:extLst>
              <a:ext uri="{FF2B5EF4-FFF2-40B4-BE49-F238E27FC236}">
                <a16:creationId xmlns:a16="http://schemas.microsoft.com/office/drawing/2014/main" id="{50E21A36-7B2F-ABF9-DF93-FD5C8DE21059}"/>
              </a:ext>
            </a:extLst>
          </p:cNvPr>
          <p:cNvSpPr>
            <a:spLocks noChangeArrowheads="1"/>
          </p:cNvSpPr>
          <p:nvPr/>
        </p:nvSpPr>
        <p:spPr bwMode="auto">
          <a:xfrm>
            <a:off x="-442113" y="183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webkit-standard"/>
              </a:rPr>
              <a:t> </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4B688F00-071C-1E53-B883-F6F6E3424C5A}"/>
              </a:ext>
            </a:extLst>
          </p:cNvPr>
          <p:cNvSpPr txBox="1"/>
          <p:nvPr/>
        </p:nvSpPr>
        <p:spPr>
          <a:xfrm>
            <a:off x="2176272" y="4544586"/>
            <a:ext cx="6967728" cy="307777"/>
          </a:xfrm>
          <a:prstGeom prst="rect">
            <a:avLst/>
          </a:prstGeom>
          <a:noFill/>
        </p:spPr>
        <p:txBody>
          <a:bodyPr wrap="square" rtlCol="0">
            <a:spAutoFit/>
          </a:bodyPr>
          <a:lstStyle/>
          <a:p>
            <a:r>
              <a:rPr lang="en-US" dirty="0"/>
              <a:t>bpm indicates “beats per minute”, which is the heart rate </a:t>
            </a:r>
          </a:p>
        </p:txBody>
      </p:sp>
    </p:spTree>
    <p:extLst>
      <p:ext uri="{BB962C8B-B14F-4D97-AF65-F5344CB8AC3E}">
        <p14:creationId xmlns:p14="http://schemas.microsoft.com/office/powerpoint/2010/main" val="4145371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AE1438-40A0-762A-AF22-7A685260CFC6}"/>
              </a:ext>
            </a:extLst>
          </p:cNvPr>
          <p:cNvSpPr>
            <a:spLocks noGrp="1"/>
          </p:cNvSpPr>
          <p:nvPr>
            <p:ph type="body" idx="1"/>
          </p:nvPr>
        </p:nvSpPr>
        <p:spPr/>
        <p:txBody>
          <a:bodyPr/>
          <a:lstStyle/>
          <a:p>
            <a:endParaRPr lang="en-GB"/>
          </a:p>
        </p:txBody>
      </p:sp>
      <p:sp>
        <p:nvSpPr>
          <p:cNvPr id="2" name="Title 1">
            <a:extLst>
              <a:ext uri="{FF2B5EF4-FFF2-40B4-BE49-F238E27FC236}">
                <a16:creationId xmlns:a16="http://schemas.microsoft.com/office/drawing/2014/main" id="{365163C5-C3A5-8A2D-5283-490F3BE2E5D0}"/>
              </a:ext>
            </a:extLst>
          </p:cNvPr>
          <p:cNvSpPr>
            <a:spLocks noGrp="1"/>
          </p:cNvSpPr>
          <p:nvPr>
            <p:ph type="title"/>
          </p:nvPr>
        </p:nvSpPr>
        <p:spPr>
          <a:xfrm>
            <a:off x="713225" y="18291"/>
            <a:ext cx="7717500" cy="572700"/>
          </a:xfrm>
        </p:spPr>
        <p:txBody>
          <a:bodyPr/>
          <a:lstStyle/>
          <a:p>
            <a:r>
              <a:rPr lang="en-US" dirty="0">
                <a:latin typeface="Arial" panose="020B0604020202020204" pitchFamily="34" charset="0"/>
                <a:cs typeface="Arial" panose="020B0604020202020204" pitchFamily="34" charset="0"/>
              </a:rPr>
              <a:t>Dispersion</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6072F455-1E2A-B878-48B8-7277963F668E}"/>
                  </a:ext>
                </a:extLst>
              </p:cNvPr>
              <p:cNvGraphicFramePr>
                <a:graphicFrameLocks noGrp="1"/>
              </p:cNvGraphicFramePr>
              <p:nvPr>
                <p:ph idx="4294967295"/>
                <p:extLst>
                  <p:ext uri="{D42A27DB-BD31-4B8C-83A1-F6EECF244321}">
                    <p14:modId xmlns:p14="http://schemas.microsoft.com/office/powerpoint/2010/main" val="2187453140"/>
                  </p:ext>
                </p:extLst>
              </p:nvPr>
            </p:nvGraphicFramePr>
            <p:xfrm>
              <a:off x="0" y="604838"/>
              <a:ext cx="9143999" cy="4538574"/>
            </p:xfrm>
            <a:graphic>
              <a:graphicData uri="http://schemas.openxmlformats.org/drawingml/2006/table">
                <a:tbl>
                  <a:tblPr/>
                  <a:tblGrid>
                    <a:gridCol w="1009815">
                      <a:extLst>
                        <a:ext uri="{9D8B030D-6E8A-4147-A177-3AD203B41FA5}">
                          <a16:colId xmlns:a16="http://schemas.microsoft.com/office/drawing/2014/main" val="1209147392"/>
                        </a:ext>
                      </a:extLst>
                    </a:gridCol>
                    <a:gridCol w="2321781">
                      <a:extLst>
                        <a:ext uri="{9D8B030D-6E8A-4147-A177-3AD203B41FA5}">
                          <a16:colId xmlns:a16="http://schemas.microsoft.com/office/drawing/2014/main" val="3281974425"/>
                        </a:ext>
                      </a:extLst>
                    </a:gridCol>
                    <a:gridCol w="1590260">
                      <a:extLst>
                        <a:ext uri="{9D8B030D-6E8A-4147-A177-3AD203B41FA5}">
                          <a16:colId xmlns:a16="http://schemas.microsoft.com/office/drawing/2014/main" val="4093091222"/>
                        </a:ext>
                      </a:extLst>
                    </a:gridCol>
                    <a:gridCol w="4222143">
                      <a:extLst>
                        <a:ext uri="{9D8B030D-6E8A-4147-A177-3AD203B41FA5}">
                          <a16:colId xmlns:a16="http://schemas.microsoft.com/office/drawing/2014/main" val="2619532457"/>
                        </a:ext>
                      </a:extLst>
                    </a:gridCol>
                  </a:tblGrid>
                  <a:tr h="427529">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Measure​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Definition​</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When to Use​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Example​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1028074">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Range​</a:t>
                          </a:r>
                        </a:p>
                        <a:p>
                          <a:pPr algn="l" fontAlgn="base">
                            <a:lnSpc>
                              <a:spcPct val="100000"/>
                            </a:lnSpc>
                          </a:pPr>
                          <a:endParaRPr lang="en-US" sz="10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Shows the difference between the largest and smallest number in data set​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For a quick glance at variability of dataset​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Heart rate measurements from five participants are 60 bpm, 90bpm, 80bpm, 80bpm, and 110bpm. </a:t>
                          </a:r>
                        </a:p>
                        <a:p>
                          <a:pPr algn="l" fontAlgn="base">
                            <a:lnSpc>
                              <a:spcPct val="100000"/>
                            </a:lnSpc>
                          </a:pPr>
                          <a:endParaRPr lang="en-US" sz="1000" b="0" i="0" dirty="0">
                            <a:solidFill>
                              <a:srgbClr val="000000"/>
                            </a:solidFill>
                            <a:effectLst/>
                            <a:latin typeface="Arial" panose="020B0604020202020204" pitchFamily="34" charset="0"/>
                            <a:cs typeface="Arial" panose="020B0604020202020204" pitchFamily="34" charset="0"/>
                          </a:endParaRP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110 bpm – 60 bpm = 50 bpm</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The range is 50bpm</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346567636"/>
                      </a:ext>
                    </a:extLst>
                  </a:tr>
                  <a:tr h="973662">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Variance ​</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Variance demonstrates how closely the dataset is spread in relation to the mean.​</a:t>
                          </a:r>
                        </a:p>
                        <a:p>
                          <a:pPr algn="l" fontAlgn="base">
                            <a:lnSpc>
                              <a:spcPct val="100000"/>
                            </a:lnSpc>
                          </a:pPr>
                          <a14:m>
                            <m:oMathPara xmlns:m="http://schemas.openxmlformats.org/officeDocument/2006/math">
                              <m:oMathParaPr>
                                <m:jc m:val="centerGroup"/>
                              </m:oMathParaPr>
                              <m:oMath xmlns:m="http://schemas.openxmlformats.org/officeDocument/2006/math">
                                <m:sSup>
                                  <m:sSupPr>
                                    <m:ctrlPr>
                                      <a:rPr lang="en-US" sz="1000" b="0" i="1" smtClean="0">
                                        <a:solidFill>
                                          <a:srgbClr val="000000"/>
                                        </a:solidFill>
                                        <a:effectLst/>
                                        <a:latin typeface="Cambria Math" panose="02040503050406030204" pitchFamily="18" charset="0"/>
                                        <a:cs typeface="Arial" panose="020B0604020202020204" pitchFamily="34" charset="0"/>
                                      </a:rPr>
                                    </m:ctrlPr>
                                  </m:sSupPr>
                                  <m:e>
                                    <m:r>
                                      <a:rPr lang="en-US" sz="1000" b="0" i="1" smtClean="0">
                                        <a:solidFill>
                                          <a:srgbClr val="000000"/>
                                        </a:solidFill>
                                        <a:effectLst/>
                                        <a:latin typeface="Cambria Math" panose="02040503050406030204" pitchFamily="18" charset="0"/>
                                        <a:cs typeface="Arial" panose="020B0604020202020204" pitchFamily="34" charset="0"/>
                                      </a:rPr>
                                      <m:t>𝑠</m:t>
                                    </m:r>
                                  </m:e>
                                  <m:sup>
                                    <m:r>
                                      <a:rPr lang="en-US" sz="1000" b="0" i="1" smtClean="0">
                                        <a:solidFill>
                                          <a:srgbClr val="000000"/>
                                        </a:solidFill>
                                        <a:effectLst/>
                                        <a:latin typeface="Cambria Math" panose="02040503050406030204" pitchFamily="18" charset="0"/>
                                        <a:cs typeface="Arial" panose="020B0604020202020204" pitchFamily="34" charset="0"/>
                                      </a:rPr>
                                      <m:t>2</m:t>
                                    </m:r>
                                  </m:sup>
                                </m:sSup>
                                <m:r>
                                  <a:rPr lang="en-US" sz="1000" b="0" i="1" smtClean="0">
                                    <a:solidFill>
                                      <a:srgbClr val="000000"/>
                                    </a:solidFill>
                                    <a:effectLst/>
                                    <a:latin typeface="Cambria Math" panose="02040503050406030204" pitchFamily="18" charset="0"/>
                                    <a:cs typeface="Arial" panose="020B0604020202020204" pitchFamily="34" charset="0"/>
                                  </a:rPr>
                                  <m:t>=</m:t>
                                </m:r>
                                <m:f>
                                  <m:fPr>
                                    <m:ctrlPr>
                                      <a:rPr lang="en-US" sz="1000" b="0" i="1" smtClean="0">
                                        <a:solidFill>
                                          <a:srgbClr val="000000"/>
                                        </a:solidFill>
                                        <a:effectLst/>
                                        <a:latin typeface="Cambria Math" panose="02040503050406030204" pitchFamily="18" charset="0"/>
                                        <a:cs typeface="Arial" panose="020B0604020202020204" pitchFamily="34" charset="0"/>
                                      </a:rPr>
                                    </m:ctrlPr>
                                  </m:fPr>
                                  <m:num>
                                    <m:r>
                                      <a:rPr lang="en-US" sz="1000" b="0" i="1" smtClean="0">
                                        <a:solidFill>
                                          <a:srgbClr val="000000"/>
                                        </a:solidFill>
                                        <a:effectLst/>
                                        <a:latin typeface="Cambria Math" panose="02040503050406030204" pitchFamily="18" charset="0"/>
                                        <a:cs typeface="Arial" panose="020B0604020202020204" pitchFamily="34" charset="0"/>
                                      </a:rPr>
                                      <m:t>1</m:t>
                                    </m:r>
                                  </m:num>
                                  <m:den>
                                    <m:r>
                                      <a:rPr lang="en-US" sz="1000" b="0" i="1" smtClean="0">
                                        <a:solidFill>
                                          <a:srgbClr val="000000"/>
                                        </a:solidFill>
                                        <a:effectLst/>
                                        <a:latin typeface="Cambria Math" panose="02040503050406030204" pitchFamily="18" charset="0"/>
                                        <a:cs typeface="Arial" panose="020B0604020202020204" pitchFamily="34" charset="0"/>
                                      </a:rPr>
                                      <m:t>𝑛</m:t>
                                    </m:r>
                                    <m:r>
                                      <a:rPr lang="en-US" sz="1000" b="0" i="1" smtClean="0">
                                        <a:solidFill>
                                          <a:srgbClr val="000000"/>
                                        </a:solidFill>
                                        <a:effectLst/>
                                        <a:latin typeface="Cambria Math" panose="02040503050406030204" pitchFamily="18" charset="0"/>
                                        <a:cs typeface="Arial" panose="020B0604020202020204" pitchFamily="34" charset="0"/>
                                      </a:rPr>
                                      <m:t>−1</m:t>
                                    </m:r>
                                  </m:den>
                                </m:f>
                                <m:nary>
                                  <m:naryPr>
                                    <m:chr m:val="∑"/>
                                    <m:ctrlPr>
                                      <a:rPr lang="en-US" sz="1000" b="0" i="1" smtClean="0">
                                        <a:solidFill>
                                          <a:srgbClr val="000000"/>
                                        </a:solidFill>
                                        <a:effectLst/>
                                        <a:latin typeface="Cambria Math" panose="02040503050406030204" pitchFamily="18" charset="0"/>
                                        <a:cs typeface="Arial" panose="020B0604020202020204" pitchFamily="34" charset="0"/>
                                      </a:rPr>
                                    </m:ctrlPr>
                                  </m:naryPr>
                                  <m:sub>
                                    <m:r>
                                      <m:rPr>
                                        <m:brk m:alnAt="23"/>
                                      </m:rPr>
                                      <a:rPr lang="en-US" sz="1000" b="0" i="1" smtClean="0">
                                        <a:solidFill>
                                          <a:srgbClr val="000000"/>
                                        </a:solidFill>
                                        <a:effectLst/>
                                        <a:latin typeface="Cambria Math" panose="02040503050406030204" pitchFamily="18" charset="0"/>
                                        <a:cs typeface="Arial" panose="020B0604020202020204" pitchFamily="34" charset="0"/>
                                      </a:rPr>
                                      <m:t>𝑖</m:t>
                                    </m:r>
                                    <m:r>
                                      <a:rPr lang="en-US" sz="1000" b="0" i="1" smtClean="0">
                                        <a:solidFill>
                                          <a:srgbClr val="000000"/>
                                        </a:solidFill>
                                        <a:effectLst/>
                                        <a:latin typeface="Cambria Math" panose="02040503050406030204" pitchFamily="18" charset="0"/>
                                        <a:cs typeface="Arial" panose="020B0604020202020204" pitchFamily="34" charset="0"/>
                                      </a:rPr>
                                      <m:t>=1</m:t>
                                    </m:r>
                                  </m:sub>
                                  <m:sup>
                                    <m:r>
                                      <a:rPr lang="en-US" sz="1000" b="0" i="1" smtClean="0">
                                        <a:solidFill>
                                          <a:srgbClr val="000000"/>
                                        </a:solidFill>
                                        <a:effectLst/>
                                        <a:latin typeface="Cambria Math" panose="02040503050406030204" pitchFamily="18" charset="0"/>
                                        <a:cs typeface="Arial" panose="020B0604020202020204" pitchFamily="34" charset="0"/>
                                      </a:rPr>
                                      <m:t>𝑛</m:t>
                                    </m:r>
                                  </m:sup>
                                  <m:e>
                                    <m:d>
                                      <m:dPr>
                                        <m:ctrlPr>
                                          <a:rPr lang="en-US" sz="1000" b="0" i="1" smtClean="0">
                                            <a:solidFill>
                                              <a:srgbClr val="000000"/>
                                            </a:solidFill>
                                            <a:effectLst/>
                                            <a:latin typeface="Cambria Math" panose="02040503050406030204" pitchFamily="18" charset="0"/>
                                            <a:cs typeface="Arial" panose="020B0604020202020204" pitchFamily="34" charset="0"/>
                                          </a:rPr>
                                        </m:ctrlPr>
                                      </m:dPr>
                                      <m:e>
                                        <m:sSub>
                                          <m:sSubPr>
                                            <m:ctrlPr>
                                              <a:rPr lang="en-US" sz="1000" b="0" i="1" smtClean="0">
                                                <a:solidFill>
                                                  <a:srgbClr val="000000"/>
                                                </a:solidFill>
                                                <a:effectLst/>
                                                <a:latin typeface="Cambria Math" panose="02040503050406030204" pitchFamily="18" charset="0"/>
                                                <a:cs typeface="Arial" panose="020B0604020202020204" pitchFamily="34" charset="0"/>
                                              </a:rPr>
                                            </m:ctrlPr>
                                          </m:sSubPr>
                                          <m:e>
                                            <m:r>
                                              <a:rPr lang="en-US" sz="1000" b="0" i="1" smtClean="0">
                                                <a:solidFill>
                                                  <a:srgbClr val="000000"/>
                                                </a:solidFill>
                                                <a:effectLst/>
                                                <a:latin typeface="Cambria Math" panose="02040503050406030204" pitchFamily="18" charset="0"/>
                                                <a:cs typeface="Arial" panose="020B0604020202020204" pitchFamily="34" charset="0"/>
                                              </a:rPr>
                                              <m:t>𝑥</m:t>
                                            </m:r>
                                          </m:e>
                                          <m:sub>
                                            <m:r>
                                              <a:rPr lang="en-US" sz="1000" b="0" i="1" smtClean="0">
                                                <a:solidFill>
                                                  <a:srgbClr val="000000"/>
                                                </a:solidFill>
                                                <a:effectLst/>
                                                <a:latin typeface="Cambria Math" panose="02040503050406030204" pitchFamily="18" charset="0"/>
                                                <a:cs typeface="Arial" panose="020B0604020202020204" pitchFamily="34" charset="0"/>
                                              </a:rPr>
                                              <m:t>𝑖</m:t>
                                            </m:r>
                                          </m:sub>
                                        </m:sSub>
                                        <m:r>
                                          <a:rPr lang="en-US" sz="1000" b="0" i="1" smtClean="0">
                                            <a:solidFill>
                                              <a:srgbClr val="000000"/>
                                            </a:solidFill>
                                            <a:effectLst/>
                                            <a:latin typeface="Cambria Math" panose="02040503050406030204" pitchFamily="18" charset="0"/>
                                            <a:cs typeface="Arial" panose="020B0604020202020204" pitchFamily="34" charset="0"/>
                                          </a:rPr>
                                          <m:t>−</m:t>
                                        </m:r>
                                        <m:acc>
                                          <m:accPr>
                                            <m:chr m:val="̅"/>
                                            <m:ctrlPr>
                                              <a:rPr lang="en-US" sz="1000" b="0" i="1" smtClean="0">
                                                <a:solidFill>
                                                  <a:srgbClr val="000000"/>
                                                </a:solidFill>
                                                <a:effectLst/>
                                                <a:latin typeface="Cambria Math" panose="02040503050406030204" pitchFamily="18" charset="0"/>
                                                <a:cs typeface="Arial" panose="020B0604020202020204" pitchFamily="34" charset="0"/>
                                              </a:rPr>
                                            </m:ctrlPr>
                                          </m:accPr>
                                          <m:e>
                                            <m:r>
                                              <a:rPr lang="en-US" sz="1000" b="0" i="1" smtClean="0">
                                                <a:solidFill>
                                                  <a:srgbClr val="000000"/>
                                                </a:solidFill>
                                                <a:effectLst/>
                                                <a:latin typeface="Cambria Math" panose="02040503050406030204" pitchFamily="18" charset="0"/>
                                                <a:cs typeface="Arial" panose="020B0604020202020204" pitchFamily="34" charset="0"/>
                                              </a:rPr>
                                              <m:t>𝑥</m:t>
                                            </m:r>
                                          </m:e>
                                        </m:acc>
                                      </m:e>
                                    </m:d>
                                    <m:r>
                                      <a:rPr lang="en-US" sz="1000" b="0" i="1" baseline="30000" smtClean="0">
                                        <a:solidFill>
                                          <a:srgbClr val="000000"/>
                                        </a:solidFill>
                                        <a:effectLst/>
                                        <a:latin typeface="Cambria Math" panose="02040503050406030204" pitchFamily="18" charset="0"/>
                                        <a:cs typeface="Arial" panose="020B0604020202020204" pitchFamily="34" charset="0"/>
                                      </a:rPr>
                                      <m:t>2</m:t>
                                    </m:r>
                                    <m:r>
                                      <a:rPr lang="en-US" sz="1000" b="0" i="1" smtClean="0">
                                        <a:solidFill>
                                          <a:srgbClr val="000000"/>
                                        </a:solidFill>
                                        <a:effectLst/>
                                        <a:latin typeface="Cambria Math" panose="02040503050406030204" pitchFamily="18" charset="0"/>
                                        <a:cs typeface="Arial" panose="020B0604020202020204" pitchFamily="34" charset="0"/>
                                      </a:rPr>
                                      <m:t> </m:t>
                                    </m:r>
                                  </m:e>
                                </m:nary>
                              </m:oMath>
                            </m:oMathPara>
                          </a14:m>
                          <a:endParaRPr lang="en-US" sz="1000" b="0" i="0" dirty="0">
                            <a:solidFill>
                              <a:srgbClr val="000000"/>
                            </a:solidFill>
                            <a:effectLst/>
                            <a:latin typeface="Arial" panose="020B0604020202020204" pitchFamily="34" charset="0"/>
                            <a:cs typeface="Arial" panose="020B0604020202020204" pitchFamily="34" charset="0"/>
                          </a:endParaRP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Where:</a:t>
                          </a:r>
                        </a:p>
                        <a:p>
                          <a:pPr algn="l" fontAlgn="base">
                            <a:lnSpc>
                              <a:spcPct val="100000"/>
                            </a:lnSpc>
                          </a:pPr>
                          <a14:m>
                            <m:oMath xmlns:m="http://schemas.openxmlformats.org/officeDocument/2006/math">
                              <m:sSup>
                                <m:sSupPr>
                                  <m:ctrlPr>
                                    <a:rPr lang="en-US" sz="1000" b="0" i="1" smtClean="0">
                                      <a:solidFill>
                                        <a:srgbClr val="000000"/>
                                      </a:solidFill>
                                      <a:effectLst/>
                                      <a:latin typeface="Cambria Math" panose="02040503050406030204" pitchFamily="18" charset="0"/>
                                      <a:cs typeface="Arial" panose="020B0604020202020204" pitchFamily="34" charset="0"/>
                                    </a:rPr>
                                  </m:ctrlPr>
                                </m:sSupPr>
                                <m:e>
                                  <m:r>
                                    <a:rPr lang="en-US" sz="1000" b="0" i="1" smtClean="0">
                                      <a:solidFill>
                                        <a:srgbClr val="000000"/>
                                      </a:solidFill>
                                      <a:effectLst/>
                                      <a:latin typeface="Cambria Math" panose="02040503050406030204" pitchFamily="18" charset="0"/>
                                      <a:cs typeface="Arial" panose="020B0604020202020204" pitchFamily="34" charset="0"/>
                                    </a:rPr>
                                    <m:t>𝑠</m:t>
                                  </m:r>
                                </m:e>
                                <m:sup>
                                  <m:r>
                                    <a:rPr lang="en-US" sz="1000" b="0" i="1" smtClean="0">
                                      <a:solidFill>
                                        <a:srgbClr val="000000"/>
                                      </a:solidFill>
                                      <a:effectLst/>
                                      <a:latin typeface="Cambria Math" panose="02040503050406030204" pitchFamily="18" charset="0"/>
                                      <a:cs typeface="Arial" panose="020B0604020202020204" pitchFamily="34" charset="0"/>
                                    </a:rPr>
                                    <m:t>2</m:t>
                                  </m:r>
                                </m:sup>
                              </m:sSup>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sample variance</a:t>
                          </a:r>
                        </a:p>
                        <a:p>
                          <a:pPr algn="l" fontAlgn="base">
                            <a:lnSpc>
                              <a:spcPct val="100000"/>
                            </a:lnSpc>
                          </a:pPr>
                          <a14:m>
                            <m:oMath xmlns:m="http://schemas.openxmlformats.org/officeDocument/2006/math">
                              <m:r>
                                <a:rPr lang="en-US" sz="1000" b="0" i="1" smtClean="0">
                                  <a:solidFill>
                                    <a:srgbClr val="000000"/>
                                  </a:solidFill>
                                  <a:effectLst/>
                                  <a:latin typeface="Cambria Math" panose="02040503050406030204" pitchFamily="18" charset="0"/>
                                  <a:cs typeface="Arial" panose="020B0604020202020204" pitchFamily="34" charset="0"/>
                                </a:rPr>
                                <m:t>𝑛</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number of data points</a:t>
                          </a:r>
                        </a:p>
                        <a:p>
                          <a:pPr algn="l" fontAlgn="base">
                            <a:lnSpc>
                              <a:spcPct val="100000"/>
                            </a:lnSpc>
                          </a:pPr>
                          <a14:m>
                            <m:oMath xmlns:m="http://schemas.openxmlformats.org/officeDocument/2006/math">
                              <m:sSub>
                                <m:sSubPr>
                                  <m:ctrlPr>
                                    <a:rPr lang="en-US" sz="1000" b="0" i="1" smtClean="0">
                                      <a:solidFill>
                                        <a:srgbClr val="000000"/>
                                      </a:solidFill>
                                      <a:effectLst/>
                                      <a:latin typeface="Cambria Math" panose="02040503050406030204" pitchFamily="18" charset="0"/>
                                      <a:cs typeface="Arial" panose="020B0604020202020204" pitchFamily="34" charset="0"/>
                                    </a:rPr>
                                  </m:ctrlPr>
                                </m:sSubPr>
                                <m:e>
                                  <m:r>
                                    <a:rPr lang="en-US" sz="1000" b="0" i="1" smtClean="0">
                                      <a:solidFill>
                                        <a:srgbClr val="000000"/>
                                      </a:solidFill>
                                      <a:effectLst/>
                                      <a:latin typeface="Cambria Math" panose="02040503050406030204" pitchFamily="18" charset="0"/>
                                      <a:cs typeface="Arial" panose="020B0604020202020204" pitchFamily="34" charset="0"/>
                                    </a:rPr>
                                    <m:t>𝑥</m:t>
                                  </m:r>
                                </m:e>
                                <m:sub>
                                  <m:r>
                                    <a:rPr lang="en-US" sz="1000" b="0" i="1" smtClean="0">
                                      <a:solidFill>
                                        <a:srgbClr val="000000"/>
                                      </a:solidFill>
                                      <a:effectLst/>
                                      <a:latin typeface="Cambria Math" panose="02040503050406030204" pitchFamily="18" charset="0"/>
                                      <a:cs typeface="Arial" panose="020B0604020202020204" pitchFamily="34" charset="0"/>
                                    </a:rPr>
                                    <m:t>𝑖</m:t>
                                  </m:r>
                                </m:sub>
                              </m:sSub>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each data point</a:t>
                          </a:r>
                        </a:p>
                        <a:p>
                          <a:pPr algn="l" fontAlgn="base">
                            <a:lnSpc>
                              <a:spcPct val="100000"/>
                            </a:lnSpc>
                          </a:pPr>
                          <a14:m>
                            <m:oMath xmlns:m="http://schemas.openxmlformats.org/officeDocument/2006/math">
                              <m:acc>
                                <m:accPr>
                                  <m:chr m:val="̅"/>
                                  <m:ctrlPr>
                                    <a:rPr lang="en-US" sz="1000" b="0" i="1" smtClean="0">
                                      <a:solidFill>
                                        <a:srgbClr val="000000"/>
                                      </a:solidFill>
                                      <a:effectLst/>
                                      <a:latin typeface="Cambria Math" panose="02040503050406030204" pitchFamily="18" charset="0"/>
                                      <a:cs typeface="Arial" panose="020B0604020202020204" pitchFamily="34" charset="0"/>
                                    </a:rPr>
                                  </m:ctrlPr>
                                </m:accPr>
                                <m:e>
                                  <m:r>
                                    <a:rPr lang="en-US" sz="1000" b="0" i="1" smtClean="0">
                                      <a:solidFill>
                                        <a:srgbClr val="000000"/>
                                      </a:solidFill>
                                      <a:effectLst/>
                                      <a:latin typeface="Cambria Math" panose="02040503050406030204" pitchFamily="18" charset="0"/>
                                      <a:cs typeface="Arial" panose="020B0604020202020204" pitchFamily="34" charset="0"/>
                                    </a:rPr>
                                    <m:t>𝑥</m:t>
                                  </m:r>
                                </m:e>
                              </m:acc>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sample mean </a:t>
                          </a:r>
                          <a:endParaRPr lang="en-US" sz="10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Statistical modeling or comparing variability​</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Heart rate measurements from five participants are 60 bpm, 90bpm, 80bpm, 80bpm, and 110bpm.</a:t>
                          </a:r>
                        </a:p>
                        <a:p>
                          <a:pPr algn="l" fontAlgn="base">
                            <a:lnSpc>
                              <a:spcPct val="100000"/>
                            </a:lnSpc>
                          </a:pPr>
                          <a:endParaRPr lang="en-US" sz="1000" b="0" i="0" u="none" strike="noStrike" cap="none" dirty="0">
                            <a:solidFill>
                              <a:srgbClr val="000000"/>
                            </a:solidFill>
                            <a:effectLst/>
                            <a:latin typeface="Arial" panose="020B0604020202020204" pitchFamily="34" charset="0"/>
                            <a:ea typeface="+mn-ea"/>
                            <a:cs typeface="Arial" panose="020B0604020202020204" pitchFamily="34" charset="0"/>
                            <a:sym typeface="Arial"/>
                          </a:endParaRPr>
                        </a:p>
                        <a:p>
                          <a:pPr algn="l" fontAlgn="base">
                            <a:lnSpc>
                              <a:spcPct val="100000"/>
                            </a:lnSpc>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1) Calculate the mean (</a:t>
                          </a:r>
                          <a14:m>
                            <m:oMath xmlns:m="http://schemas.openxmlformats.org/officeDocument/2006/math">
                              <m:acc>
                                <m:accPr>
                                  <m:chr m:val="̅"/>
                                  <m:ctrlPr>
                                    <a:rPr lang="en-US" sz="1000" b="0" i="1" smtClean="0">
                                      <a:solidFill>
                                        <a:srgbClr val="000000"/>
                                      </a:solidFill>
                                      <a:effectLst/>
                                      <a:latin typeface="Cambria Math" panose="02040503050406030204" pitchFamily="18" charset="0"/>
                                      <a:cs typeface="Arial" panose="020B0604020202020204" pitchFamily="34" charset="0"/>
                                    </a:rPr>
                                  </m:ctrlPr>
                                </m:accPr>
                                <m:e>
                                  <m:r>
                                    <a:rPr lang="en-US" sz="1000" b="0" i="1" smtClean="0">
                                      <a:solidFill>
                                        <a:srgbClr val="000000"/>
                                      </a:solidFill>
                                      <a:effectLst/>
                                      <a:latin typeface="Cambria Math" panose="02040503050406030204" pitchFamily="18" charset="0"/>
                                      <a:cs typeface="Arial" panose="020B0604020202020204" pitchFamily="34" charset="0"/>
                                    </a:rPr>
                                    <m:t>𝑥</m:t>
                                  </m:r>
                                </m:e>
                              </m:acc>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a:t>
                          </a:r>
                        </a:p>
                        <a:p>
                          <a14:m>
                            <m:oMath xmlns:m="http://schemas.openxmlformats.org/officeDocument/2006/math">
                              <m:acc>
                                <m:accPr>
                                  <m:chr m:val="̅"/>
                                  <m:ctrlPr>
                                    <a:rPr lang="en-US" sz="1000" b="0" i="1" smtClean="0">
                                      <a:solidFill>
                                        <a:srgbClr val="000000"/>
                                      </a:solidFill>
                                      <a:effectLst/>
                                      <a:latin typeface="Cambria Math" panose="02040503050406030204" pitchFamily="18" charset="0"/>
                                      <a:cs typeface="Arial" panose="020B0604020202020204" pitchFamily="34" charset="0"/>
                                    </a:rPr>
                                  </m:ctrlPr>
                                </m:accPr>
                                <m:e>
                                  <m:r>
                                    <a:rPr lang="en-US" sz="1000" b="0" i="1" smtClean="0">
                                      <a:solidFill>
                                        <a:srgbClr val="000000"/>
                                      </a:solidFill>
                                      <a:effectLst/>
                                      <a:latin typeface="Cambria Math" panose="02040503050406030204" pitchFamily="18" charset="0"/>
                                      <a:cs typeface="Arial" panose="020B0604020202020204" pitchFamily="34" charset="0"/>
                                    </a:rPr>
                                    <m:t>𝑥</m:t>
                                  </m:r>
                                  <m:r>
                                    <a:rPr lang="en-US" sz="1000" b="0" i="1" smtClean="0">
                                      <a:solidFill>
                                        <a:srgbClr val="000000"/>
                                      </a:solidFill>
                                      <a:effectLst/>
                                      <a:latin typeface="Cambria Math" panose="02040503050406030204" pitchFamily="18" charset="0"/>
                                      <a:cs typeface="Arial" panose="020B0604020202020204" pitchFamily="34" charset="0"/>
                                    </a:rPr>
                                    <m:t> </m:t>
                                  </m:r>
                                </m:e>
                              </m:acc>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14:m>
                            <m:oMath xmlns:m="http://schemas.openxmlformats.org/officeDocument/2006/math">
                              <m:f>
                                <m:fPr>
                                  <m:ctrlPr>
                                    <a:rPr lang="en-US" sz="1000" b="0" i="1" smtClean="0">
                                      <a:solidFill>
                                        <a:srgbClr val="000000"/>
                                      </a:solidFill>
                                      <a:effectLst/>
                                      <a:latin typeface="Cambria Math" panose="02040503050406030204" pitchFamily="18" charset="0"/>
                                      <a:cs typeface="Arial" panose="020B0604020202020204" pitchFamily="34" charset="0"/>
                                    </a:rPr>
                                  </m:ctrlPr>
                                </m:fPr>
                                <m:num>
                                  <m:r>
                                    <a:rPr lang="en-US" sz="1000" b="0" i="1" smtClean="0">
                                      <a:solidFill>
                                        <a:srgbClr val="000000"/>
                                      </a:solidFill>
                                      <a:effectLst/>
                                      <a:latin typeface="Cambria Math" panose="02040503050406030204" pitchFamily="18" charset="0"/>
                                      <a:cs typeface="Arial" panose="020B0604020202020204" pitchFamily="34" charset="0"/>
                                    </a:rPr>
                                    <m:t>60+90+80+80+110</m:t>
                                  </m:r>
                                </m:num>
                                <m:den>
                                  <m:r>
                                    <a:rPr lang="en-US" sz="1000" b="0" i="1" smtClean="0">
                                      <a:solidFill>
                                        <a:srgbClr val="000000"/>
                                      </a:solidFill>
                                      <a:effectLst/>
                                      <a:latin typeface="Cambria Math" panose="02040503050406030204" pitchFamily="18" charset="0"/>
                                      <a:cs typeface="Arial" panose="020B0604020202020204" pitchFamily="34" charset="0"/>
                                    </a:rPr>
                                    <m:t>5</m:t>
                                  </m:r>
                                </m:den>
                              </m:f>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84</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2) Find squared differences from the mean:</a:t>
                          </a:r>
                        </a:p>
                        <a:p>
                          <a14:m>
                            <m:oMath xmlns:m="http://schemas.openxmlformats.org/officeDocument/2006/math">
                              <m:d>
                                <m:dPr>
                                  <m:ctrlPr>
                                    <a:rPr lang="en-US" sz="1000" b="0" i="1" smtClean="0">
                                      <a:solidFill>
                                        <a:srgbClr val="000000"/>
                                      </a:solidFill>
                                      <a:effectLst/>
                                      <a:latin typeface="Cambria Math" panose="02040503050406030204" pitchFamily="18" charset="0"/>
                                      <a:cs typeface="Arial" panose="020B0604020202020204" pitchFamily="34" charset="0"/>
                                    </a:rPr>
                                  </m:ctrlPr>
                                </m:dPr>
                                <m:e>
                                  <m:r>
                                    <a:rPr lang="en-US" sz="1000" b="0" i="1" smtClean="0">
                                      <a:solidFill>
                                        <a:srgbClr val="000000"/>
                                      </a:solidFill>
                                      <a:effectLst/>
                                      <a:latin typeface="Cambria Math" panose="02040503050406030204" pitchFamily="18" charset="0"/>
                                      <a:cs typeface="Arial" panose="020B0604020202020204" pitchFamily="34" charset="0"/>
                                    </a:rPr>
                                    <m:t>60−84</m:t>
                                  </m:r>
                                </m:e>
                              </m:d>
                              <m:r>
                                <a:rPr lang="en-US" sz="1000" b="0" i="1" baseline="30000" smtClean="0">
                                  <a:solidFill>
                                    <a:srgbClr val="000000"/>
                                  </a:solidFill>
                                  <a:effectLst/>
                                  <a:latin typeface="Cambria Math" panose="02040503050406030204" pitchFamily="18" charset="0"/>
                                  <a:cs typeface="Arial" panose="020B0604020202020204" pitchFamily="34" charset="0"/>
                                </a:rPr>
                                <m:t>2</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576</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d>
                                <m:dPr>
                                  <m:ctrlPr>
                                    <a:rPr lang="en-US" sz="1000" b="0" i="1" smtClean="0">
                                      <a:solidFill>
                                        <a:srgbClr val="000000"/>
                                      </a:solidFill>
                                      <a:effectLst/>
                                      <a:latin typeface="Cambria Math" panose="02040503050406030204" pitchFamily="18" charset="0"/>
                                      <a:cs typeface="Arial" panose="020B0604020202020204" pitchFamily="34" charset="0"/>
                                    </a:rPr>
                                  </m:ctrlPr>
                                </m:dPr>
                                <m:e>
                                  <m:r>
                                    <a:rPr lang="en-US" sz="1000" b="0" i="1" smtClean="0">
                                      <a:solidFill>
                                        <a:srgbClr val="000000"/>
                                      </a:solidFill>
                                      <a:effectLst/>
                                      <a:latin typeface="Cambria Math" panose="02040503050406030204" pitchFamily="18" charset="0"/>
                                      <a:cs typeface="Arial" panose="020B0604020202020204" pitchFamily="34" charset="0"/>
                                    </a:rPr>
                                    <m:t>90−84</m:t>
                                  </m:r>
                                </m:e>
                              </m:d>
                              <m:r>
                                <a:rPr lang="en-US" sz="1000" b="0" i="1" baseline="30000" smtClean="0">
                                  <a:solidFill>
                                    <a:srgbClr val="000000"/>
                                  </a:solidFill>
                                  <a:effectLst/>
                                  <a:latin typeface="Cambria Math" panose="02040503050406030204" pitchFamily="18" charset="0"/>
                                  <a:cs typeface="Arial" panose="020B0604020202020204" pitchFamily="34" charset="0"/>
                                </a:rPr>
                                <m:t>2</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36</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d>
                                <m:dPr>
                                  <m:ctrlPr>
                                    <a:rPr lang="en-US" sz="1000" b="0" i="1" smtClean="0">
                                      <a:solidFill>
                                        <a:srgbClr val="000000"/>
                                      </a:solidFill>
                                      <a:effectLst/>
                                      <a:latin typeface="Cambria Math" panose="02040503050406030204" pitchFamily="18" charset="0"/>
                                      <a:cs typeface="Arial" panose="020B0604020202020204" pitchFamily="34" charset="0"/>
                                    </a:rPr>
                                  </m:ctrlPr>
                                </m:dPr>
                                <m:e>
                                  <m:r>
                                    <a:rPr lang="en-US" sz="1000" b="0" i="1" smtClean="0">
                                      <a:solidFill>
                                        <a:srgbClr val="000000"/>
                                      </a:solidFill>
                                      <a:effectLst/>
                                      <a:latin typeface="Cambria Math" panose="02040503050406030204" pitchFamily="18" charset="0"/>
                                      <a:cs typeface="Arial" panose="020B0604020202020204" pitchFamily="34" charset="0"/>
                                    </a:rPr>
                                    <m:t>80−84</m:t>
                                  </m:r>
                                </m:e>
                              </m:d>
                              <m:r>
                                <a:rPr lang="en-US" sz="1000" b="0" i="1" baseline="30000" smtClean="0">
                                  <a:solidFill>
                                    <a:srgbClr val="000000"/>
                                  </a:solidFill>
                                  <a:effectLst/>
                                  <a:latin typeface="Cambria Math" panose="02040503050406030204" pitchFamily="18" charset="0"/>
                                  <a:cs typeface="Arial" panose="020B0604020202020204" pitchFamily="34" charset="0"/>
                                </a:rPr>
                                <m:t>2</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16</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d>
                                <m:dPr>
                                  <m:ctrlPr>
                                    <a:rPr lang="en-US" sz="1000" b="0" i="1" smtClean="0">
                                      <a:solidFill>
                                        <a:srgbClr val="000000"/>
                                      </a:solidFill>
                                      <a:effectLst/>
                                      <a:latin typeface="Cambria Math" panose="02040503050406030204" pitchFamily="18" charset="0"/>
                                      <a:cs typeface="Arial" panose="020B0604020202020204" pitchFamily="34" charset="0"/>
                                    </a:rPr>
                                  </m:ctrlPr>
                                </m:dPr>
                                <m:e>
                                  <m:r>
                                    <a:rPr lang="en-US" sz="1000" b="0" i="1" smtClean="0">
                                      <a:solidFill>
                                        <a:srgbClr val="000000"/>
                                      </a:solidFill>
                                      <a:effectLst/>
                                      <a:latin typeface="Cambria Math" panose="02040503050406030204" pitchFamily="18" charset="0"/>
                                      <a:cs typeface="Arial" panose="020B0604020202020204" pitchFamily="34" charset="0"/>
                                    </a:rPr>
                                    <m:t>80−84</m:t>
                                  </m:r>
                                </m:e>
                              </m:d>
                              <m:r>
                                <a:rPr lang="en-US" sz="1000" b="0" i="1" baseline="30000" smtClean="0">
                                  <a:solidFill>
                                    <a:srgbClr val="000000"/>
                                  </a:solidFill>
                                  <a:effectLst/>
                                  <a:latin typeface="Cambria Math" panose="02040503050406030204" pitchFamily="18" charset="0"/>
                                  <a:cs typeface="Arial" panose="020B0604020202020204" pitchFamily="34" charset="0"/>
                                </a:rPr>
                                <m:t>2</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16</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 xmlns:m="http://schemas.openxmlformats.org/officeDocument/2006/math">
                              <m:d>
                                <m:dPr>
                                  <m:ctrlPr>
                                    <a:rPr lang="en-US" sz="1000" b="0" i="1" smtClean="0">
                                      <a:solidFill>
                                        <a:srgbClr val="000000"/>
                                      </a:solidFill>
                                      <a:effectLst/>
                                      <a:latin typeface="Cambria Math" panose="02040503050406030204" pitchFamily="18" charset="0"/>
                                      <a:cs typeface="Arial" panose="020B0604020202020204" pitchFamily="34" charset="0"/>
                                    </a:rPr>
                                  </m:ctrlPr>
                                </m:dPr>
                                <m:e>
                                  <m:r>
                                    <a:rPr lang="en-US" sz="1000" b="0" i="1" smtClean="0">
                                      <a:solidFill>
                                        <a:srgbClr val="000000"/>
                                      </a:solidFill>
                                      <a:effectLst/>
                                      <a:latin typeface="Cambria Math" panose="02040503050406030204" pitchFamily="18" charset="0"/>
                                      <a:cs typeface="Arial" panose="020B0604020202020204" pitchFamily="34" charset="0"/>
                                    </a:rPr>
                                    <m:t>110−84</m:t>
                                  </m:r>
                                </m:e>
                              </m:d>
                              <m:r>
                                <a:rPr lang="en-US" sz="1000" b="0" i="1" baseline="30000" smtClean="0">
                                  <a:solidFill>
                                    <a:srgbClr val="000000"/>
                                  </a:solidFill>
                                  <a:effectLst/>
                                  <a:latin typeface="Cambria Math" panose="02040503050406030204" pitchFamily="18" charset="0"/>
                                  <a:cs typeface="Arial" panose="020B0604020202020204" pitchFamily="34" charset="0"/>
                                </a:rPr>
                                <m:t>2</m:t>
                              </m:r>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676</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3) Sum of squared differences:</a:t>
                          </a:r>
                        </a:p>
                        <a:p>
                          <a:pPr/>
                          <a14:m>
                            <m:oMathPara xmlns:m="http://schemas.openxmlformats.org/officeDocument/2006/math">
                              <m:oMathParaPr>
                                <m:jc m:val="centerGroup"/>
                              </m:oMathParaPr>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576+36+16+16+676=1320</m:t>
                                </m:r>
                              </m:oMath>
                            </m:oMathPara>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4) Divide by </a:t>
                          </a:r>
                          <a14:m>
                            <m:oMath xmlns:m="http://schemas.openxmlformats.org/officeDocument/2006/math">
                              <m:r>
                                <a:rPr lang="en-US" sz="1000" b="0" i="1" smtClean="0">
                                  <a:solidFill>
                                    <a:srgbClr val="000000"/>
                                  </a:solidFill>
                                  <a:effectLst/>
                                  <a:latin typeface="Cambria Math" panose="02040503050406030204" pitchFamily="18" charset="0"/>
                                  <a:cs typeface="Arial" panose="020B0604020202020204" pitchFamily="34" charset="0"/>
                                </a:rPr>
                                <m:t>𝑛</m:t>
                              </m:r>
                              <m:r>
                                <a:rPr lang="en-US" sz="1000" b="0" i="1" smtClean="0">
                                  <a:solidFill>
                                    <a:srgbClr val="000000"/>
                                  </a:solidFill>
                                  <a:effectLst/>
                                  <a:latin typeface="Cambria Math" panose="02040503050406030204" pitchFamily="18" charset="0"/>
                                  <a:cs typeface="Arial" panose="020B0604020202020204" pitchFamily="34" charset="0"/>
                                </a:rPr>
                                <m:t>−1= 4 </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14:m>
                            <m:oMath xmlns:m="http://schemas.openxmlformats.org/officeDocument/2006/math">
                              <m:sSup>
                                <m:sSupPr>
                                  <m:ctrlPr>
                                    <a:rPr lang="en-US" sz="1000" b="0" i="1" smtClean="0">
                                      <a:solidFill>
                                        <a:srgbClr val="000000"/>
                                      </a:solidFill>
                                      <a:effectLst/>
                                      <a:latin typeface="Cambria Math" panose="02040503050406030204" pitchFamily="18" charset="0"/>
                                      <a:cs typeface="Arial" panose="020B0604020202020204" pitchFamily="34" charset="0"/>
                                    </a:rPr>
                                  </m:ctrlPr>
                                </m:sSupPr>
                                <m:e>
                                  <m:r>
                                    <a:rPr lang="en-US" sz="1000" b="0" i="1" smtClean="0">
                                      <a:solidFill>
                                        <a:srgbClr val="000000"/>
                                      </a:solidFill>
                                      <a:effectLst/>
                                      <a:latin typeface="Cambria Math" panose="02040503050406030204" pitchFamily="18" charset="0"/>
                                      <a:cs typeface="Arial" panose="020B0604020202020204" pitchFamily="34" charset="0"/>
                                    </a:rPr>
                                    <m:t>𝑠</m:t>
                                  </m:r>
                                </m:e>
                                <m:sup>
                                  <m:r>
                                    <a:rPr lang="en-US" sz="1000" b="0" i="1" smtClean="0">
                                      <a:solidFill>
                                        <a:srgbClr val="000000"/>
                                      </a:solidFill>
                                      <a:effectLst/>
                                      <a:latin typeface="Cambria Math" panose="02040503050406030204" pitchFamily="18" charset="0"/>
                                      <a:cs typeface="Arial" panose="020B0604020202020204" pitchFamily="34" charset="0"/>
                                    </a:rPr>
                                    <m:t>2</m:t>
                                  </m:r>
                                </m:sup>
                              </m:sSup>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f>
                                <m:fPr>
                                  <m:ctrlPr>
                                    <a:rPr lang="en-US" sz="1000" b="0" i="1" smtClean="0">
                                      <a:solidFill>
                                        <a:srgbClr val="000000"/>
                                      </a:solidFill>
                                      <a:effectLst/>
                                      <a:latin typeface="Cambria Math" panose="02040503050406030204" pitchFamily="18" charset="0"/>
                                      <a:cs typeface="Arial" panose="020B0604020202020204" pitchFamily="34" charset="0"/>
                                    </a:rPr>
                                  </m:ctrlPr>
                                </m:fPr>
                                <m:num>
                                  <m:r>
                                    <a:rPr lang="en-US" sz="1000" b="0" i="1" smtClean="0">
                                      <a:solidFill>
                                        <a:srgbClr val="000000"/>
                                      </a:solidFill>
                                      <a:effectLst/>
                                      <a:latin typeface="Cambria Math" panose="02040503050406030204" pitchFamily="18" charset="0"/>
                                      <a:cs typeface="Arial" panose="020B0604020202020204" pitchFamily="34" charset="0"/>
                                    </a:rPr>
                                    <m:t>1320</m:t>
                                  </m:r>
                                </m:num>
                                <m:den>
                                  <m:r>
                                    <a:rPr lang="en-US" sz="1000" b="0" i="1" smtClean="0">
                                      <a:solidFill>
                                        <a:srgbClr val="000000"/>
                                      </a:solidFill>
                                      <a:effectLst/>
                                      <a:latin typeface="Cambria Math" panose="02040503050406030204" pitchFamily="18" charset="0"/>
                                      <a:cs typeface="Arial" panose="020B0604020202020204" pitchFamily="34" charset="0"/>
                                    </a:rPr>
                                    <m:t>4</m:t>
                                  </m:r>
                                </m:den>
                              </m:f>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14:m>
                            <m:oMath xmlns:m="http://schemas.openxmlformats.org/officeDocument/2006/math">
                              <m:sSup>
                                <m:sSupPr>
                                  <m:ctrlPr>
                                    <a:rPr lang="en-US" sz="1000" b="0" i="1" smtClean="0">
                                      <a:solidFill>
                                        <a:srgbClr val="000000"/>
                                      </a:solidFill>
                                      <a:effectLst/>
                                      <a:latin typeface="Cambria Math" panose="02040503050406030204" pitchFamily="18" charset="0"/>
                                      <a:cs typeface="Arial" panose="020B0604020202020204" pitchFamily="34" charset="0"/>
                                    </a:rPr>
                                  </m:ctrlPr>
                                </m:sSupPr>
                                <m:e>
                                  <m:r>
                                    <a:rPr lang="en-US" sz="1000" b="0" i="1" smtClean="0">
                                      <a:solidFill>
                                        <a:srgbClr val="000000"/>
                                      </a:solidFill>
                                      <a:effectLst/>
                                      <a:latin typeface="Cambria Math" panose="02040503050406030204" pitchFamily="18" charset="0"/>
                                      <a:cs typeface="Arial" panose="020B0604020202020204" pitchFamily="34" charset="0"/>
                                    </a:rPr>
                                    <m:t>𝑠</m:t>
                                  </m:r>
                                </m:e>
                                <m:sup>
                                  <m:r>
                                    <a:rPr lang="en-US" sz="1000" b="0" i="1" smtClean="0">
                                      <a:solidFill>
                                        <a:srgbClr val="000000"/>
                                      </a:solidFill>
                                      <a:effectLst/>
                                      <a:latin typeface="Cambria Math" panose="02040503050406030204" pitchFamily="18" charset="0"/>
                                      <a:cs typeface="Arial" panose="020B0604020202020204" pitchFamily="34" charset="0"/>
                                    </a:rPr>
                                    <m:t>2</m:t>
                                  </m:r>
                                </m:sup>
                              </m:sSup>
                            </m:oMath>
                          </a14:m>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000" b="0" i="1" smtClean="0">
                                  <a:solidFill>
                                    <a:srgbClr val="000000"/>
                                  </a:solidFill>
                                  <a:effectLst/>
                                  <a:latin typeface="Cambria Math" panose="02040503050406030204" pitchFamily="18" charset="0"/>
                                  <a:cs typeface="Arial" panose="020B0604020202020204" pitchFamily="34" charset="0"/>
                                </a:rPr>
                                <m:t>330</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dirty="0">
                              <a:solidFill>
                                <a:srgbClr val="000000"/>
                              </a:solidFill>
                              <a:effectLst/>
                              <a:latin typeface="Arial" panose="020B0604020202020204" pitchFamily="34" charset="0"/>
                              <a:cs typeface="Arial" panose="020B0604020202020204" pitchFamily="34" charset="0"/>
                            </a:rPr>
                            <a:t>The variance is 330 bpm​</a:t>
                          </a:r>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665731080"/>
                      </a:ext>
                    </a:extLst>
                  </a:tr>
                </a:tbl>
              </a:graphicData>
            </a:graphic>
          </p:graphicFrame>
        </mc:Choice>
        <mc:Fallback xmlns="">
          <p:graphicFrame>
            <p:nvGraphicFramePr>
              <p:cNvPr id="4" name="Content Placeholder 3">
                <a:extLst>
                  <a:ext uri="{FF2B5EF4-FFF2-40B4-BE49-F238E27FC236}">
                    <a16:creationId xmlns:a16="http://schemas.microsoft.com/office/drawing/2014/main" id="{6072F455-1E2A-B878-48B8-7277963F668E}"/>
                  </a:ext>
                </a:extLst>
              </p:cNvPr>
              <p:cNvGraphicFramePr>
                <a:graphicFrameLocks noGrp="1"/>
              </p:cNvGraphicFramePr>
              <p:nvPr>
                <p:ph idx="4294967295"/>
                <p:extLst>
                  <p:ext uri="{D42A27DB-BD31-4B8C-83A1-F6EECF244321}">
                    <p14:modId xmlns:p14="http://schemas.microsoft.com/office/powerpoint/2010/main" val="2187453140"/>
                  </p:ext>
                </p:extLst>
              </p:nvPr>
            </p:nvGraphicFramePr>
            <p:xfrm>
              <a:off x="0" y="604838"/>
              <a:ext cx="9143999" cy="4538574"/>
            </p:xfrm>
            <a:graphic>
              <a:graphicData uri="http://schemas.openxmlformats.org/drawingml/2006/table">
                <a:tbl>
                  <a:tblPr/>
                  <a:tblGrid>
                    <a:gridCol w="1009815">
                      <a:extLst>
                        <a:ext uri="{9D8B030D-6E8A-4147-A177-3AD203B41FA5}">
                          <a16:colId xmlns:a16="http://schemas.microsoft.com/office/drawing/2014/main" val="1209147392"/>
                        </a:ext>
                      </a:extLst>
                    </a:gridCol>
                    <a:gridCol w="2321781">
                      <a:extLst>
                        <a:ext uri="{9D8B030D-6E8A-4147-A177-3AD203B41FA5}">
                          <a16:colId xmlns:a16="http://schemas.microsoft.com/office/drawing/2014/main" val="3281974425"/>
                        </a:ext>
                      </a:extLst>
                    </a:gridCol>
                    <a:gridCol w="1590260">
                      <a:extLst>
                        <a:ext uri="{9D8B030D-6E8A-4147-A177-3AD203B41FA5}">
                          <a16:colId xmlns:a16="http://schemas.microsoft.com/office/drawing/2014/main" val="4093091222"/>
                        </a:ext>
                      </a:extLst>
                    </a:gridCol>
                    <a:gridCol w="4222143">
                      <a:extLst>
                        <a:ext uri="{9D8B030D-6E8A-4147-A177-3AD203B41FA5}">
                          <a16:colId xmlns:a16="http://schemas.microsoft.com/office/drawing/2014/main" val="2619532457"/>
                        </a:ext>
                      </a:extLst>
                    </a:gridCol>
                  </a:tblGrid>
                  <a:tr h="427529">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Measure​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Definition​</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When to Use​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Example​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1028074">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Range​</a:t>
                          </a:r>
                        </a:p>
                        <a:p>
                          <a:pPr algn="l" fontAlgn="base">
                            <a:lnSpc>
                              <a:spcPct val="100000"/>
                            </a:lnSpc>
                          </a:pPr>
                          <a:endParaRPr lang="en-US" sz="10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Shows the difference between the largest and smallest number in data set​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For a quick glance at variability of dataset​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Heart rate measurements from five participants are 60 bpm, 90bpm, 80bpm, 80bpm, and 110bpm. </a:t>
                          </a:r>
                        </a:p>
                        <a:p>
                          <a:pPr algn="l" fontAlgn="base">
                            <a:lnSpc>
                              <a:spcPct val="100000"/>
                            </a:lnSpc>
                          </a:pPr>
                          <a:endParaRPr lang="en-US" sz="1000" b="0" i="0" dirty="0">
                            <a:solidFill>
                              <a:srgbClr val="000000"/>
                            </a:solidFill>
                            <a:effectLst/>
                            <a:latin typeface="Arial" panose="020B0604020202020204" pitchFamily="34" charset="0"/>
                            <a:cs typeface="Arial" panose="020B0604020202020204" pitchFamily="34" charset="0"/>
                          </a:endParaRP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110 bpm – 60 bpm = 50 bpm</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The range is 50bpm</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346567636"/>
                      </a:ext>
                    </a:extLst>
                  </a:tr>
                  <a:tr h="3082971">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Variance ​</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blipFill>
                          <a:blip r:embed="rId3"/>
                          <a:stretch>
                            <a:fillRect l="-43832" t="-47431" r="-250656" b="-1383"/>
                          </a:stretch>
                        </a:blipFill>
                      </a:tcPr>
                    </a:tc>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Statistical modeling or comparing variability​</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7EAED"/>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blipFill>
                          <a:blip r:embed="rId3"/>
                          <a:stretch>
                            <a:fillRect l="-116595" t="-47431" r="-289" b="-1383"/>
                          </a:stretch>
                        </a:blipFill>
                      </a:tcPr>
                    </a:tc>
                    <a:extLst>
                      <a:ext uri="{0D108BD9-81ED-4DB2-BD59-A6C34878D82A}">
                        <a16:rowId xmlns:a16="http://schemas.microsoft.com/office/drawing/2014/main" val="665731080"/>
                      </a:ext>
                    </a:extLst>
                  </a:tr>
                </a:tbl>
              </a:graphicData>
            </a:graphic>
          </p:graphicFrame>
        </mc:Fallback>
      </mc:AlternateContent>
    </p:spTree>
    <p:extLst>
      <p:ext uri="{BB962C8B-B14F-4D97-AF65-F5344CB8AC3E}">
        <p14:creationId xmlns:p14="http://schemas.microsoft.com/office/powerpoint/2010/main" val="34583081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60539-4501-BE49-41A8-16C8E0934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55B677-A27B-4BC5-36AA-B3D9CBA25581}"/>
              </a:ext>
            </a:extLst>
          </p:cNvPr>
          <p:cNvSpPr>
            <a:spLocks noGrp="1"/>
          </p:cNvSpPr>
          <p:nvPr>
            <p:ph type="title"/>
          </p:nvPr>
        </p:nvSpPr>
        <p:spPr>
          <a:xfrm>
            <a:off x="311699" y="535599"/>
            <a:ext cx="8520600" cy="572700"/>
          </a:xfrm>
        </p:spPr>
        <p:txBody>
          <a:bodyPr/>
          <a:lstStyle/>
          <a:p>
            <a:r>
              <a:rPr lang="en-US" dirty="0">
                <a:solidFill>
                  <a:schemeClr val="accent1"/>
                </a:solidFill>
                <a:latin typeface="Arial" panose="020B0604020202020204" pitchFamily="34" charset="0"/>
                <a:cs typeface="Arial" panose="020B0604020202020204" pitchFamily="34" charset="0"/>
              </a:rPr>
              <a:t>Dispersion Continued</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A7EA90B6-A8D9-C6EB-B01C-50C2E7C330AD}"/>
                  </a:ext>
                </a:extLst>
              </p:cNvPr>
              <p:cNvGraphicFramePr>
                <a:graphicFrameLocks noGrp="1"/>
              </p:cNvGraphicFramePr>
              <p:nvPr>
                <p:ph idx="1"/>
                <p:extLst>
                  <p:ext uri="{D42A27DB-BD31-4B8C-83A1-F6EECF244321}">
                    <p14:modId xmlns:p14="http://schemas.microsoft.com/office/powerpoint/2010/main" val="1328143762"/>
                  </p:ext>
                </p:extLst>
              </p:nvPr>
            </p:nvGraphicFramePr>
            <p:xfrm>
              <a:off x="186855" y="1579874"/>
              <a:ext cx="8770288" cy="3028027"/>
            </p:xfrm>
            <a:graphic>
              <a:graphicData uri="http://schemas.openxmlformats.org/drawingml/2006/table">
                <a:tbl>
                  <a:tblPr/>
                  <a:tblGrid>
                    <a:gridCol w="968544">
                      <a:extLst>
                        <a:ext uri="{9D8B030D-6E8A-4147-A177-3AD203B41FA5}">
                          <a16:colId xmlns:a16="http://schemas.microsoft.com/office/drawing/2014/main" val="1209147392"/>
                        </a:ext>
                      </a:extLst>
                    </a:gridCol>
                    <a:gridCol w="2844624">
                      <a:extLst>
                        <a:ext uri="{9D8B030D-6E8A-4147-A177-3AD203B41FA5}">
                          <a16:colId xmlns:a16="http://schemas.microsoft.com/office/drawing/2014/main" val="3281974425"/>
                        </a:ext>
                      </a:extLst>
                    </a:gridCol>
                    <a:gridCol w="1151577">
                      <a:extLst>
                        <a:ext uri="{9D8B030D-6E8A-4147-A177-3AD203B41FA5}">
                          <a16:colId xmlns:a16="http://schemas.microsoft.com/office/drawing/2014/main" val="4093091222"/>
                        </a:ext>
                      </a:extLst>
                    </a:gridCol>
                    <a:gridCol w="3805543">
                      <a:extLst>
                        <a:ext uri="{9D8B030D-6E8A-4147-A177-3AD203B41FA5}">
                          <a16:colId xmlns:a16="http://schemas.microsoft.com/office/drawing/2014/main" val="2619532457"/>
                        </a:ext>
                      </a:extLst>
                    </a:gridCol>
                  </a:tblGrid>
                  <a:tr h="427529">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Measure​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Definition​</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When to Use​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Example​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1157545">
                    <a:tc>
                      <a:txBody>
                        <a:bodyPr/>
                        <a:lstStyle/>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Standard Deviation (SD)​</a:t>
                          </a:r>
                        </a:p>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Square root of variance; a value close to zero represents that the data points are close to the mean ​</a:t>
                          </a:r>
                        </a:p>
                        <a:p>
                          <a:pPr algn="l" fontAlgn="base">
                            <a:lnSpc>
                              <a:spcPct val="100000"/>
                            </a:lnSpc>
                          </a:pPr>
                          <a:endParaRPr lang="en-US" sz="1200" b="0" i="0" dirty="0">
                            <a:solidFill>
                              <a:srgbClr val="000000"/>
                            </a:solidFill>
                            <a:effectLst/>
                            <a:latin typeface="Arial" panose="020B0604020202020204" pitchFamily="34" charset="0"/>
                            <a:cs typeface="Arial" panose="020B0604020202020204" pitchFamily="34" charset="0"/>
                          </a:endParaRPr>
                        </a:p>
                        <a:p>
                          <a:pPr algn="l" fontAlgn="base">
                            <a:lnSpc>
                              <a:spcPct val="100000"/>
                            </a:lnSpc>
                          </a:pPr>
                          <a14:m>
                            <m:oMathPara xmlns:m="http://schemas.openxmlformats.org/officeDocument/2006/math">
                              <m:oMathParaPr>
                                <m:jc m:val="centerGroup"/>
                              </m:oMathParaPr>
                              <m:oMath xmlns:m="http://schemas.openxmlformats.org/officeDocument/2006/math">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𝑠</m:t>
                                </m:r>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ad>
                                  <m:radPr>
                                    <m:degHide m:val="on"/>
                                    <m:ctrlP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ctrlPr>
                                  </m:radPr>
                                  <m:deg/>
                                  <m:e>
                                    <m:f>
                                      <m:fPr>
                                        <m:ctrlP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ctrlPr>
                                      </m:fPr>
                                      <m:num>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1</m:t>
                                        </m:r>
                                      </m:num>
                                      <m:den>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𝑛</m:t>
                                        </m:r>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−1</m:t>
                                        </m:r>
                                      </m:den>
                                    </m:f>
                                    <m:nary>
                                      <m:naryPr>
                                        <m:chr m:val="∑"/>
                                        <m:ctrlP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ctrlPr>
                                      </m:naryPr>
                                      <m:sub>
                                        <m:r>
                                          <m:rPr>
                                            <m:brk m:alnAt="23"/>
                                          </m:rP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𝑖</m:t>
                                        </m:r>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=1</m:t>
                                        </m:r>
                                      </m:sub>
                                      <m:sup>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𝑛</m:t>
                                        </m:r>
                                      </m:sup>
                                      <m:e>
                                        <m:d>
                                          <m:dPr>
                                            <m:ctrlPr>
                                              <a:rPr lang="en-US" sz="1200" b="0" i="1" smtClean="0">
                                                <a:solidFill>
                                                  <a:srgbClr val="000000"/>
                                                </a:solidFill>
                                                <a:effectLst/>
                                                <a:latin typeface="Cambria Math" panose="02040503050406030204" pitchFamily="18" charset="0"/>
                                                <a:cs typeface="Arial" panose="020B0604020202020204" pitchFamily="34" charset="0"/>
                                              </a:rPr>
                                            </m:ctrlPr>
                                          </m:dPr>
                                          <m:e>
                                            <m:sSub>
                                              <m:sSubPr>
                                                <m:ctrlPr>
                                                  <a:rPr lang="en-US" sz="1200" b="0" i="1" smtClean="0">
                                                    <a:solidFill>
                                                      <a:srgbClr val="000000"/>
                                                    </a:solidFill>
                                                    <a:effectLst/>
                                                    <a:latin typeface="Cambria Math" panose="02040503050406030204" pitchFamily="18" charset="0"/>
                                                    <a:cs typeface="Arial" panose="020B0604020202020204" pitchFamily="34" charset="0"/>
                                                  </a:rPr>
                                                </m:ctrlPr>
                                              </m:sSubPr>
                                              <m:e>
                                                <m:r>
                                                  <a:rPr lang="en-US" sz="1200" b="0" i="1" smtClean="0">
                                                    <a:solidFill>
                                                      <a:srgbClr val="000000"/>
                                                    </a:solidFill>
                                                    <a:effectLst/>
                                                    <a:latin typeface="Cambria Math" panose="02040503050406030204" pitchFamily="18" charset="0"/>
                                                    <a:cs typeface="Arial" panose="020B0604020202020204" pitchFamily="34" charset="0"/>
                                                  </a:rPr>
                                                  <m:t>𝑥</m:t>
                                                </m:r>
                                              </m:e>
                                              <m:sub>
                                                <m:r>
                                                  <a:rPr lang="en-US" sz="1200" b="0" i="1" smtClean="0">
                                                    <a:solidFill>
                                                      <a:srgbClr val="000000"/>
                                                    </a:solidFill>
                                                    <a:effectLst/>
                                                    <a:latin typeface="Cambria Math" panose="02040503050406030204" pitchFamily="18" charset="0"/>
                                                    <a:cs typeface="Arial" panose="020B0604020202020204" pitchFamily="34" charset="0"/>
                                                  </a:rPr>
                                                  <m:t>𝑖</m:t>
                                                </m:r>
                                              </m:sub>
                                            </m:sSub>
                                            <m:r>
                                              <a:rPr lang="en-US" sz="1200" b="0" i="1" smtClean="0">
                                                <a:solidFill>
                                                  <a:srgbClr val="000000"/>
                                                </a:solidFill>
                                                <a:effectLst/>
                                                <a:latin typeface="Cambria Math" panose="02040503050406030204" pitchFamily="18" charset="0"/>
                                                <a:cs typeface="Arial" panose="020B0604020202020204" pitchFamily="34" charset="0"/>
                                              </a:rPr>
                                              <m:t>−</m:t>
                                            </m:r>
                                            <m:acc>
                                              <m:accPr>
                                                <m:chr m:val="̅"/>
                                                <m:ctrlPr>
                                                  <a:rPr lang="en-US" sz="1200" b="0" i="1" smtClean="0">
                                                    <a:solidFill>
                                                      <a:srgbClr val="000000"/>
                                                    </a:solidFill>
                                                    <a:effectLst/>
                                                    <a:latin typeface="Cambria Math" panose="02040503050406030204" pitchFamily="18" charset="0"/>
                                                    <a:cs typeface="Arial" panose="020B0604020202020204" pitchFamily="34" charset="0"/>
                                                  </a:rPr>
                                                </m:ctrlPr>
                                              </m:accPr>
                                              <m:e>
                                                <m:r>
                                                  <a:rPr lang="en-US" sz="1200" b="0" i="1" smtClean="0">
                                                    <a:solidFill>
                                                      <a:srgbClr val="000000"/>
                                                    </a:solidFill>
                                                    <a:effectLst/>
                                                    <a:latin typeface="Cambria Math" panose="02040503050406030204" pitchFamily="18" charset="0"/>
                                                    <a:cs typeface="Arial" panose="020B0604020202020204" pitchFamily="34" charset="0"/>
                                                  </a:rPr>
                                                  <m:t>𝑥</m:t>
                                                </m:r>
                                              </m:e>
                                            </m:acc>
                                          </m:e>
                                        </m:d>
                                        <m:r>
                                          <a:rPr lang="en-US" sz="1200" b="0" i="1" baseline="30000" smtClean="0">
                                            <a:solidFill>
                                              <a:srgbClr val="000000"/>
                                            </a:solidFill>
                                            <a:effectLst/>
                                            <a:latin typeface="Cambria Math" panose="02040503050406030204" pitchFamily="18" charset="0"/>
                                            <a:cs typeface="Arial" panose="020B0604020202020204" pitchFamily="34" charset="0"/>
                                          </a:rPr>
                                          <m:t>2</m:t>
                                        </m:r>
                                      </m:e>
                                    </m:nary>
                                  </m:e>
                                </m:rad>
                              </m:oMath>
                            </m:oMathPara>
                          </a14:m>
                          <a:endParaRPr lang="en-US" sz="1200" b="0" i="0" dirty="0">
                            <a:solidFill>
                              <a:srgbClr val="000000"/>
                            </a:solidFill>
                            <a:effectLst/>
                            <a:latin typeface="Arial" panose="020B0604020202020204" pitchFamily="34" charset="0"/>
                            <a:cs typeface="Arial" panose="020B0604020202020204" pitchFamily="34" charset="0"/>
                          </a:endParaRPr>
                        </a:p>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Where:</a:t>
                          </a:r>
                        </a:p>
                        <a:p>
                          <a:pPr algn="l" fontAlgn="base">
                            <a:lnSpc>
                              <a:spcPct val="100000"/>
                            </a:lnSpc>
                          </a:pPr>
                          <a14:m>
                            <m:oMath xmlns:m="http://schemas.openxmlformats.org/officeDocument/2006/math">
                              <m:r>
                                <a:rPr lang="en-US" sz="1200" b="0" i="1" smtClean="0">
                                  <a:solidFill>
                                    <a:srgbClr val="000000"/>
                                  </a:solidFill>
                                  <a:effectLst/>
                                  <a:latin typeface="Cambria Math" panose="02040503050406030204" pitchFamily="18" charset="0"/>
                                  <a:cs typeface="Arial" panose="020B0604020202020204" pitchFamily="34" charset="0"/>
                                </a:rPr>
                                <m:t>𝑠</m:t>
                              </m:r>
                            </m:oMath>
                          </a14:m>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r>
                            <a:rPr lang="en-US" sz="1200" b="0" i="0" u="none" strike="noStrike" cap="none" baseline="0" dirty="0">
                              <a:solidFill>
                                <a:schemeClr val="tx1"/>
                              </a:solidFill>
                              <a:effectLst/>
                              <a:latin typeface="Arial" panose="020B0604020202020204" pitchFamily="34" charset="0"/>
                              <a:ea typeface="+mn-ea"/>
                              <a:cs typeface="Arial" panose="020B0604020202020204" pitchFamily="34" charset="0"/>
                              <a:sym typeface="Arial"/>
                            </a:rPr>
                            <a:t> standard deviation</a:t>
                          </a:r>
                          <a:endPar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pPr algn="l" fontAlgn="base">
                            <a:lnSpc>
                              <a:spcPct val="100000"/>
                            </a:lnSpc>
                          </a:pPr>
                          <a14:m>
                            <m:oMath xmlns:m="http://schemas.openxmlformats.org/officeDocument/2006/math">
                              <m:r>
                                <a:rPr lang="en-US" sz="1200" b="0" i="1" smtClean="0">
                                  <a:solidFill>
                                    <a:srgbClr val="000000"/>
                                  </a:solidFill>
                                  <a:effectLst/>
                                  <a:latin typeface="Cambria Math" panose="02040503050406030204" pitchFamily="18" charset="0"/>
                                  <a:cs typeface="Arial" panose="020B0604020202020204" pitchFamily="34" charset="0"/>
                                </a:rPr>
                                <m:t>𝑛</m:t>
                              </m:r>
                            </m:oMath>
                          </a14:m>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number of data points</a:t>
                          </a:r>
                        </a:p>
                        <a:p>
                          <a:pPr algn="l" fontAlgn="base">
                            <a:lnSpc>
                              <a:spcPct val="100000"/>
                            </a:lnSpc>
                          </a:pPr>
                          <a14:m>
                            <m:oMath xmlns:m="http://schemas.openxmlformats.org/officeDocument/2006/math">
                              <m:sSub>
                                <m:sSubPr>
                                  <m:ctrlPr>
                                    <a:rPr lang="en-US" sz="1200" b="0" i="1" smtClean="0">
                                      <a:solidFill>
                                        <a:srgbClr val="000000"/>
                                      </a:solidFill>
                                      <a:effectLst/>
                                      <a:latin typeface="Cambria Math" panose="02040503050406030204" pitchFamily="18" charset="0"/>
                                      <a:cs typeface="Arial" panose="020B0604020202020204" pitchFamily="34" charset="0"/>
                                    </a:rPr>
                                  </m:ctrlPr>
                                </m:sSubPr>
                                <m:e>
                                  <m:r>
                                    <a:rPr lang="en-US" sz="1200" b="0" i="1" smtClean="0">
                                      <a:solidFill>
                                        <a:srgbClr val="000000"/>
                                      </a:solidFill>
                                      <a:effectLst/>
                                      <a:latin typeface="Cambria Math" panose="02040503050406030204" pitchFamily="18" charset="0"/>
                                      <a:cs typeface="Arial" panose="020B0604020202020204" pitchFamily="34" charset="0"/>
                                    </a:rPr>
                                    <m:t>𝑥</m:t>
                                  </m:r>
                                </m:e>
                                <m:sub>
                                  <m:r>
                                    <a:rPr lang="en-US" sz="1200" b="0" i="1" smtClean="0">
                                      <a:solidFill>
                                        <a:srgbClr val="000000"/>
                                      </a:solidFill>
                                      <a:effectLst/>
                                      <a:latin typeface="Cambria Math" panose="02040503050406030204" pitchFamily="18" charset="0"/>
                                      <a:cs typeface="Arial" panose="020B0604020202020204" pitchFamily="34" charset="0"/>
                                    </a:rPr>
                                    <m:t>𝑖</m:t>
                                  </m:r>
                                </m:sub>
                              </m:sSub>
                            </m:oMath>
                          </a14:m>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each data point</a:t>
                          </a:r>
                        </a:p>
                        <a:p>
                          <a:pPr algn="l" fontAlgn="base">
                            <a:lnSpc>
                              <a:spcPct val="100000"/>
                            </a:lnSpc>
                          </a:pPr>
                          <a14:m>
                            <m:oMath xmlns:m="http://schemas.openxmlformats.org/officeDocument/2006/math">
                              <m:acc>
                                <m:accPr>
                                  <m:chr m:val="̅"/>
                                  <m:ctrlPr>
                                    <a:rPr lang="en-US" sz="1200" b="0" i="1" smtClean="0">
                                      <a:solidFill>
                                        <a:srgbClr val="000000"/>
                                      </a:solidFill>
                                      <a:effectLst/>
                                      <a:latin typeface="Cambria Math" panose="02040503050406030204" pitchFamily="18" charset="0"/>
                                      <a:cs typeface="Arial" panose="020B0604020202020204" pitchFamily="34" charset="0"/>
                                    </a:rPr>
                                  </m:ctrlPr>
                                </m:accPr>
                                <m:e>
                                  <m:r>
                                    <a:rPr lang="en-US" sz="1200" b="0" i="1" smtClean="0">
                                      <a:solidFill>
                                        <a:srgbClr val="000000"/>
                                      </a:solidFill>
                                      <a:effectLst/>
                                      <a:latin typeface="Cambria Math" panose="02040503050406030204" pitchFamily="18" charset="0"/>
                                      <a:cs typeface="Arial" panose="020B0604020202020204" pitchFamily="34" charset="0"/>
                                    </a:rPr>
                                    <m:t>𝑥</m:t>
                                  </m:r>
                                </m:e>
                              </m:acc>
                            </m:oMath>
                          </a14:m>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sample mean </a:t>
                          </a:r>
                          <a:endParaRPr lang="en-US" sz="1200" b="0" i="0" dirty="0">
                            <a:solidFill>
                              <a:srgbClr val="000000"/>
                            </a:solidFill>
                            <a:effectLst/>
                            <a:latin typeface="Arial" panose="020B0604020202020204" pitchFamily="34" charset="0"/>
                            <a:cs typeface="Arial" panose="020B0604020202020204" pitchFamily="34" charset="0"/>
                          </a:endParaRPr>
                        </a:p>
                        <a:p>
                          <a:pPr algn="l" fontAlgn="base">
                            <a:lnSpc>
                              <a:spcPct val="100000"/>
                            </a:lnSpc>
                          </a:pPr>
                          <a:endParaRPr lang="en-US" sz="12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For evaluating data spread around the mean ​</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Heart rate measurements from five participants are 60 bpm, 90bpm, 80bpm, 80 bpm, and 110bpm. </a:t>
                          </a:r>
                        </a:p>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Take the square root</a:t>
                          </a: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14:m>
                            <m:oMath xmlns:m="http://schemas.openxmlformats.org/officeDocument/2006/math">
                              <m:sSup>
                                <m:sSupPr>
                                  <m:ctrlPr>
                                    <a:rPr lang="en-US" sz="1200" b="0" i="1" smtClean="0">
                                      <a:solidFill>
                                        <a:srgbClr val="000000"/>
                                      </a:solidFill>
                                      <a:effectLst/>
                                      <a:latin typeface="Cambria Math" panose="02040503050406030204" pitchFamily="18" charset="0"/>
                                      <a:cs typeface="Arial" panose="020B0604020202020204" pitchFamily="34" charset="0"/>
                                    </a:rPr>
                                  </m:ctrlPr>
                                </m:sSupPr>
                                <m:e>
                                  <m:r>
                                    <a:rPr lang="en-US" sz="1200" b="0" i="1" smtClean="0">
                                      <a:solidFill>
                                        <a:srgbClr val="000000"/>
                                      </a:solidFill>
                                      <a:effectLst/>
                                      <a:latin typeface="Cambria Math" panose="02040503050406030204" pitchFamily="18" charset="0"/>
                                      <a:cs typeface="Arial" panose="020B0604020202020204" pitchFamily="34" charset="0"/>
                                    </a:rPr>
                                    <m:t>𝑠</m:t>
                                  </m:r>
                                </m:e>
                                <m:sup>
                                  <m:r>
                                    <a:rPr lang="en-US" sz="1200" b="0" i="1" smtClean="0">
                                      <a:solidFill>
                                        <a:srgbClr val="000000"/>
                                      </a:solidFill>
                                      <a:effectLst/>
                                      <a:latin typeface="Cambria Math" panose="02040503050406030204" pitchFamily="18" charset="0"/>
                                      <a:cs typeface="Arial" panose="020B0604020202020204" pitchFamily="34" charset="0"/>
                                    </a:rPr>
                                    <m:t>2</m:t>
                                  </m:r>
                                </m:sup>
                              </m:sSup>
                            </m:oMath>
                          </a14:m>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
                                <a:rPr lang="en-US" sz="1200" b="0" i="1" smtClean="0">
                                  <a:solidFill>
                                    <a:srgbClr val="000000"/>
                                  </a:solidFill>
                                  <a:effectLst/>
                                  <a:latin typeface="Cambria Math" panose="02040503050406030204" pitchFamily="18" charset="0"/>
                                  <a:cs typeface="Arial" panose="020B0604020202020204" pitchFamily="34" charset="0"/>
                                </a:rPr>
                                <m:t>330</m:t>
                              </m:r>
                            </m:oMath>
                          </a14:m>
                          <a:endParaRPr lang="en-US" sz="1200" b="0" i="1" dirty="0">
                            <a:solidFill>
                              <a:srgbClr val="000000"/>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14:m>
                            <m:oMath xmlns:m="http://schemas.openxmlformats.org/officeDocument/2006/math">
                              <m:r>
                                <a:rPr lang="en-US" sz="1200" b="0" i="1" smtClean="0">
                                  <a:solidFill>
                                    <a:srgbClr val="000000"/>
                                  </a:solidFill>
                                  <a:effectLst/>
                                  <a:latin typeface="Cambria Math" panose="02040503050406030204" pitchFamily="18" charset="0"/>
                                  <a:cs typeface="Arial" panose="020B0604020202020204" pitchFamily="34" charset="0"/>
                                </a:rPr>
                                <m:t>𝑠</m:t>
                              </m:r>
                            </m:oMath>
                          </a14:m>
                          <a:r>
                            <a:rPr lang="en-US" sz="12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rad>
                                <m:radPr>
                                  <m:degHide m:val="on"/>
                                  <m:ctrlPr>
                                    <a:rPr lang="en-US" sz="1200" b="0" i="1" u="none" strike="noStrike" cap="none" smtClean="0">
                                      <a:solidFill>
                                        <a:schemeClr val="tx1"/>
                                      </a:solidFill>
                                      <a:effectLst/>
                                      <a:latin typeface="Cambria Math" panose="02040503050406030204" pitchFamily="18" charset="0"/>
                                      <a:ea typeface="+mn-ea"/>
                                      <a:cs typeface="+mn-cs"/>
                                      <a:sym typeface="Arial"/>
                                    </a:rPr>
                                  </m:ctrlPr>
                                </m:radPr>
                                <m:deg/>
                                <m:e>
                                  <m:r>
                                    <a:rPr lang="en-US" sz="1200" b="0" i="1" u="none" strike="noStrike" cap="none" smtClean="0">
                                      <a:solidFill>
                                        <a:schemeClr val="tx1"/>
                                      </a:solidFill>
                                      <a:effectLst/>
                                      <a:latin typeface="Cambria Math" panose="02040503050406030204" pitchFamily="18" charset="0"/>
                                      <a:ea typeface="+mn-ea"/>
                                      <a:cs typeface="+mn-cs"/>
                                      <a:sym typeface="Arial"/>
                                    </a:rPr>
                                    <m:t>330</m:t>
                                  </m:r>
                                </m:e>
                              </m:rad>
                              <m:r>
                                <a:rPr lang="en-US" sz="1200" b="0" i="1"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≈18.17</m:t>
                              </m:r>
                            </m:oMath>
                          </a14:m>
                          <a:endParaRPr lang="en-US" sz="1200" b="0" i="0" dirty="0">
                            <a:solidFill>
                              <a:srgbClr val="000000"/>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00000"/>
                            </a:lnSpc>
                            <a:spcBef>
                              <a:spcPts val="0"/>
                            </a:spcBef>
                            <a:spcAft>
                              <a:spcPts val="0"/>
                            </a:spcAft>
                            <a:buClr>
                              <a:srgbClr val="000000"/>
                            </a:buClr>
                            <a:buSzTx/>
                            <a:buFont typeface="Arial"/>
                            <a:buNone/>
                            <a:tabLst/>
                            <a:defRPr/>
                          </a:pPr>
                          <a:r>
                            <a:rPr lang="en-US" sz="1200" b="0" i="0" dirty="0">
                              <a:solidFill>
                                <a:srgbClr val="000000"/>
                              </a:solidFill>
                              <a:effectLst/>
                              <a:latin typeface="Arial" panose="020B0604020202020204" pitchFamily="34" charset="0"/>
                              <a:cs typeface="Arial" panose="020B0604020202020204" pitchFamily="34" charset="0"/>
                            </a:rPr>
                            <a:t>The standard deviation is 18.17 bpm​</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797400344"/>
                      </a:ext>
                    </a:extLst>
                  </a:tr>
                </a:tbl>
              </a:graphicData>
            </a:graphic>
          </p:graphicFrame>
        </mc:Choice>
        <mc:Fallback xmlns="">
          <p:graphicFrame>
            <p:nvGraphicFramePr>
              <p:cNvPr id="4" name="Content Placeholder 3">
                <a:extLst>
                  <a:ext uri="{FF2B5EF4-FFF2-40B4-BE49-F238E27FC236}">
                    <a16:creationId xmlns:a16="http://schemas.microsoft.com/office/drawing/2014/main" id="{A7EA90B6-A8D9-C6EB-B01C-50C2E7C330AD}"/>
                  </a:ext>
                </a:extLst>
              </p:cNvPr>
              <p:cNvGraphicFramePr>
                <a:graphicFrameLocks noGrp="1"/>
              </p:cNvGraphicFramePr>
              <p:nvPr>
                <p:ph idx="1"/>
                <p:extLst>
                  <p:ext uri="{D42A27DB-BD31-4B8C-83A1-F6EECF244321}">
                    <p14:modId xmlns:p14="http://schemas.microsoft.com/office/powerpoint/2010/main" val="1328143762"/>
                  </p:ext>
                </p:extLst>
              </p:nvPr>
            </p:nvGraphicFramePr>
            <p:xfrm>
              <a:off x="186855" y="1579874"/>
              <a:ext cx="8770288" cy="3028027"/>
            </p:xfrm>
            <a:graphic>
              <a:graphicData uri="http://schemas.openxmlformats.org/drawingml/2006/table">
                <a:tbl>
                  <a:tblPr/>
                  <a:tblGrid>
                    <a:gridCol w="968544">
                      <a:extLst>
                        <a:ext uri="{9D8B030D-6E8A-4147-A177-3AD203B41FA5}">
                          <a16:colId xmlns:a16="http://schemas.microsoft.com/office/drawing/2014/main" val="1209147392"/>
                        </a:ext>
                      </a:extLst>
                    </a:gridCol>
                    <a:gridCol w="2844624">
                      <a:extLst>
                        <a:ext uri="{9D8B030D-6E8A-4147-A177-3AD203B41FA5}">
                          <a16:colId xmlns:a16="http://schemas.microsoft.com/office/drawing/2014/main" val="3281974425"/>
                        </a:ext>
                      </a:extLst>
                    </a:gridCol>
                    <a:gridCol w="1151577">
                      <a:extLst>
                        <a:ext uri="{9D8B030D-6E8A-4147-A177-3AD203B41FA5}">
                          <a16:colId xmlns:a16="http://schemas.microsoft.com/office/drawing/2014/main" val="4093091222"/>
                        </a:ext>
                      </a:extLst>
                    </a:gridCol>
                    <a:gridCol w="3805543">
                      <a:extLst>
                        <a:ext uri="{9D8B030D-6E8A-4147-A177-3AD203B41FA5}">
                          <a16:colId xmlns:a16="http://schemas.microsoft.com/office/drawing/2014/main" val="2619532457"/>
                        </a:ext>
                      </a:extLst>
                    </a:gridCol>
                  </a:tblGrid>
                  <a:tr h="427529">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Measure​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Definition​</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When to Use​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Example​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2600498">
                    <a:tc>
                      <a:txBody>
                        <a:bodyPr/>
                        <a:lstStyle/>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Standard Deviation (SD)​</a:t>
                          </a:r>
                        </a:p>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blipFill>
                          <a:blip r:embed="rId3"/>
                          <a:stretch>
                            <a:fillRect l="-34222" t="-17073" r="-174222" b="-488"/>
                          </a:stretch>
                        </a:blipFill>
                      </a:tcPr>
                    </a:tc>
                    <a:tc>
                      <a:txBody>
                        <a:bodyPr/>
                        <a:lstStyle/>
                        <a:p>
                          <a:pPr algn="l" fontAlgn="base">
                            <a:lnSpc>
                              <a:spcPct val="100000"/>
                            </a:lnSpc>
                          </a:pPr>
                          <a:r>
                            <a:rPr lang="en-US" sz="1200" b="0" i="0" dirty="0">
                              <a:solidFill>
                                <a:srgbClr val="000000"/>
                              </a:solidFill>
                              <a:effectLst/>
                              <a:latin typeface="Arial" panose="020B0604020202020204" pitchFamily="34" charset="0"/>
                              <a:cs typeface="Arial" panose="020B0604020202020204" pitchFamily="34" charset="0"/>
                            </a:rPr>
                            <a:t>For evaluating data spread around the mean ​</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CD2D8"/>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blipFill>
                          <a:blip r:embed="rId3"/>
                          <a:stretch>
                            <a:fillRect l="-131000" t="-17073" r="-333" b="-488"/>
                          </a:stretch>
                        </a:blipFill>
                      </a:tcPr>
                    </a:tc>
                    <a:extLst>
                      <a:ext uri="{0D108BD9-81ED-4DB2-BD59-A6C34878D82A}">
                        <a16:rowId xmlns:a16="http://schemas.microsoft.com/office/drawing/2014/main" val="3797400344"/>
                      </a:ext>
                    </a:extLst>
                  </a:tr>
                </a:tbl>
              </a:graphicData>
            </a:graphic>
          </p:graphicFrame>
        </mc:Fallback>
      </mc:AlternateContent>
    </p:spTree>
    <p:extLst>
      <p:ext uri="{BB962C8B-B14F-4D97-AF65-F5344CB8AC3E}">
        <p14:creationId xmlns:p14="http://schemas.microsoft.com/office/powerpoint/2010/main" val="25856720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F4BE3-C4FC-287C-E208-CB277E5EEE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3DC29F-CAE8-BE46-70F6-2FBD7501F8F1}"/>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Location</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635B108-CF85-F4FF-D184-4175EF9D5B9E}"/>
                  </a:ext>
                </a:extLst>
              </p:cNvPr>
              <p:cNvGraphicFramePr>
                <a:graphicFrameLocks noGrp="1"/>
              </p:cNvGraphicFramePr>
              <p:nvPr>
                <p:extLst>
                  <p:ext uri="{D42A27DB-BD31-4B8C-83A1-F6EECF244321}">
                    <p14:modId xmlns:p14="http://schemas.microsoft.com/office/powerpoint/2010/main" val="207890760"/>
                  </p:ext>
                </p:extLst>
              </p:nvPr>
            </p:nvGraphicFramePr>
            <p:xfrm>
              <a:off x="381001" y="1134666"/>
              <a:ext cx="8382001" cy="3587756"/>
            </p:xfrm>
            <a:graphic>
              <a:graphicData uri="http://schemas.openxmlformats.org/drawingml/2006/table">
                <a:tbl>
                  <a:tblPr firstRow="1" bandRow="1">
                    <a:tableStyleId>{5C22544A-7EE6-4342-B048-85BDC9FD1C3A}</a:tableStyleId>
                  </a:tblPr>
                  <a:tblGrid>
                    <a:gridCol w="1956682">
                      <a:extLst>
                        <a:ext uri="{9D8B030D-6E8A-4147-A177-3AD203B41FA5}">
                          <a16:colId xmlns:a16="http://schemas.microsoft.com/office/drawing/2014/main" val="250889169"/>
                        </a:ext>
                      </a:extLst>
                    </a:gridCol>
                    <a:gridCol w="1849637">
                      <a:extLst>
                        <a:ext uri="{9D8B030D-6E8A-4147-A177-3AD203B41FA5}">
                          <a16:colId xmlns:a16="http://schemas.microsoft.com/office/drawing/2014/main" val="3418018561"/>
                        </a:ext>
                      </a:extLst>
                    </a:gridCol>
                    <a:gridCol w="2131313">
                      <a:extLst>
                        <a:ext uri="{9D8B030D-6E8A-4147-A177-3AD203B41FA5}">
                          <a16:colId xmlns:a16="http://schemas.microsoft.com/office/drawing/2014/main" val="7047845"/>
                        </a:ext>
                      </a:extLst>
                    </a:gridCol>
                    <a:gridCol w="2444369">
                      <a:extLst>
                        <a:ext uri="{9D8B030D-6E8A-4147-A177-3AD203B41FA5}">
                          <a16:colId xmlns:a16="http://schemas.microsoft.com/office/drawing/2014/main" val="2185496906"/>
                        </a:ext>
                      </a:extLst>
                    </a:gridCol>
                  </a:tblGrid>
                  <a:tr h="294011">
                    <a:tc>
                      <a:txBody>
                        <a:bodyPr/>
                        <a:lstStyle/>
                        <a:p>
                          <a:r>
                            <a:rPr lang="en-US" sz="1100" dirty="0">
                              <a:latin typeface="+mn-lt"/>
                              <a:cs typeface="Arial" panose="020B0604020202020204" pitchFamily="34" charset="0"/>
                            </a:rPr>
                            <a:t>Measure</a:t>
                          </a:r>
                        </a:p>
                      </a:txBody>
                      <a:tcPr marL="68580" marR="68580" marT="34290" marB="34290">
                        <a:solidFill>
                          <a:schemeClr val="bg2">
                            <a:lumMod val="75000"/>
                          </a:schemeClr>
                        </a:solidFill>
                      </a:tcPr>
                    </a:tc>
                    <a:tc>
                      <a:txBody>
                        <a:bodyPr/>
                        <a:lstStyle/>
                        <a:p>
                          <a:r>
                            <a:rPr lang="en-US" sz="1100" dirty="0">
                              <a:latin typeface="+mn-lt"/>
                              <a:cs typeface="Arial" panose="020B0604020202020204" pitchFamily="34" charset="0"/>
                            </a:rPr>
                            <a:t>Definition</a:t>
                          </a:r>
                        </a:p>
                      </a:txBody>
                      <a:tcPr marL="68580" marR="68580" marT="34290" marB="34290">
                        <a:solidFill>
                          <a:schemeClr val="bg2">
                            <a:lumMod val="75000"/>
                          </a:schemeClr>
                        </a:solidFill>
                      </a:tcPr>
                    </a:tc>
                    <a:tc>
                      <a:txBody>
                        <a:bodyPr/>
                        <a:lstStyle/>
                        <a:p>
                          <a:r>
                            <a:rPr lang="en-US" sz="1100" dirty="0">
                              <a:latin typeface="+mn-lt"/>
                              <a:cs typeface="Arial" panose="020B0604020202020204" pitchFamily="34" charset="0"/>
                            </a:rPr>
                            <a:t>When to Use</a:t>
                          </a:r>
                        </a:p>
                      </a:txBody>
                      <a:tcPr marL="68580" marR="68580" marT="34290" marB="34290">
                        <a:solidFill>
                          <a:schemeClr val="bg2">
                            <a:lumMod val="75000"/>
                          </a:schemeClr>
                        </a:solidFill>
                      </a:tcPr>
                    </a:tc>
                    <a:tc>
                      <a:txBody>
                        <a:bodyPr/>
                        <a:lstStyle/>
                        <a:p>
                          <a:r>
                            <a:rPr lang="en-US" sz="1100" dirty="0">
                              <a:latin typeface="+mn-lt"/>
                              <a:cs typeface="Arial" panose="020B0604020202020204" pitchFamily="34" charset="0"/>
                            </a:rPr>
                            <a:t>Example</a:t>
                          </a:r>
                        </a:p>
                      </a:txBody>
                      <a:tcPr marL="68580" marR="68580" marT="34290" marB="34290">
                        <a:solidFill>
                          <a:schemeClr val="bg2">
                            <a:lumMod val="75000"/>
                          </a:schemeClr>
                        </a:solidFill>
                      </a:tcPr>
                    </a:tc>
                    <a:extLst>
                      <a:ext uri="{0D108BD9-81ED-4DB2-BD59-A6C34878D82A}">
                        <a16:rowId xmlns:a16="http://schemas.microsoft.com/office/drawing/2014/main" val="3167553140"/>
                      </a:ext>
                    </a:extLst>
                  </a:tr>
                  <a:tr h="1176046">
                    <a:tc>
                      <a:txBody>
                        <a:bodyPr/>
                        <a:lstStyle/>
                        <a:p>
                          <a:r>
                            <a:rPr lang="en-US" sz="1000" dirty="0">
                              <a:latin typeface="+mn-lt"/>
                              <a:cs typeface="Arial" panose="020B0604020202020204" pitchFamily="34" charset="0"/>
                            </a:rPr>
                            <a:t>Percentile</a:t>
                          </a:r>
                        </a:p>
                      </a:txBody>
                      <a:tcPr marL="68580" marR="68580" marT="34290" marB="34290"/>
                    </a:tc>
                    <a:tc>
                      <a:txBody>
                        <a:bodyPr/>
                        <a:lstStyle/>
                        <a:p>
                          <a:r>
                            <a:rPr lang="en-US" sz="1000" dirty="0">
                              <a:latin typeface="+mn-lt"/>
                              <a:cs typeface="Arial" panose="020B0604020202020204" pitchFamily="34" charset="0"/>
                            </a:rPr>
                            <a:t>Value below which x% of the data falls</a:t>
                          </a:r>
                        </a:p>
                        <a:p>
                          <a:endParaRPr lang="en-US" sz="1000" dirty="0">
                            <a:latin typeface="+mn-lt"/>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000" i="1" smtClean="0">
                                        <a:latin typeface="Cambria Math" panose="02040503050406030204" pitchFamily="18" charset="0"/>
                                      </a:rPr>
                                    </m:ctrlPr>
                                  </m:sSubPr>
                                  <m:e>
                                    <m:r>
                                      <a:rPr lang="en-US" sz="1000" b="0" i="1" smtClean="0">
                                        <a:latin typeface="Cambria Math" panose="02040503050406030204" pitchFamily="18" charset="0"/>
                                      </a:rPr>
                                      <m:t>𝑃</m:t>
                                    </m:r>
                                  </m:e>
                                  <m:sub>
                                    <m:r>
                                      <a:rPr lang="en-US" sz="1000" b="0" i="1" smtClean="0">
                                        <a:latin typeface="Cambria Math" panose="02040503050406030204" pitchFamily="18" charset="0"/>
                                      </a:rPr>
                                      <m:t>𝑥</m:t>
                                    </m:r>
                                  </m:sub>
                                </m:sSub>
                                <m:r>
                                  <a:rPr lang="en-US" sz="1000" i="1" smtClean="0">
                                    <a:latin typeface="Cambria Math" panose="02040503050406030204" pitchFamily="18" charset="0"/>
                                    <a:ea typeface="Cambria Math" panose="02040503050406030204" pitchFamily="18" charset="0"/>
                                  </a:rPr>
                                  <m:t>≈</m:t>
                                </m:r>
                                <m:d>
                                  <m:dPr>
                                    <m:ctrlPr>
                                      <a:rPr lang="en-US" sz="1000" b="0" i="1" smtClean="0">
                                        <a:latin typeface="Cambria Math" panose="02040503050406030204" pitchFamily="18" charset="0"/>
                                        <a:ea typeface="Cambria Math" panose="02040503050406030204" pitchFamily="18" charset="0"/>
                                      </a:rPr>
                                    </m:ctrlPr>
                                  </m:dPr>
                                  <m:e>
                                    <m:f>
                                      <m:fPr>
                                        <m:ctrlPr>
                                          <a:rPr lang="en-US" sz="1000" b="0" i="1" smtClean="0">
                                            <a:latin typeface="Cambria Math" panose="02040503050406030204" pitchFamily="18" charset="0"/>
                                            <a:ea typeface="Cambria Math" panose="02040503050406030204" pitchFamily="18" charset="0"/>
                                          </a:rPr>
                                        </m:ctrlPr>
                                      </m:fPr>
                                      <m:num>
                                        <m:r>
                                          <a:rPr lang="en-US" sz="1000" b="0" i="1" smtClean="0">
                                            <a:latin typeface="Cambria Math" panose="02040503050406030204" pitchFamily="18" charset="0"/>
                                            <a:ea typeface="Cambria Math" panose="02040503050406030204" pitchFamily="18" charset="0"/>
                                          </a:rPr>
                                          <m:t>𝑥</m:t>
                                        </m:r>
                                      </m:num>
                                      <m:den>
                                        <m:r>
                                          <a:rPr lang="en-US" sz="1000" b="0" i="1" smtClean="0">
                                            <a:latin typeface="Cambria Math" panose="02040503050406030204" pitchFamily="18" charset="0"/>
                                            <a:ea typeface="Cambria Math" panose="02040503050406030204" pitchFamily="18" charset="0"/>
                                          </a:rPr>
                                          <m:t>100</m:t>
                                        </m:r>
                                      </m:den>
                                    </m:f>
                                  </m:e>
                                </m:d>
                                <m:sSup>
                                  <m:sSupPr>
                                    <m:ctrlPr>
                                      <a:rPr lang="en-US" sz="1000" b="0" i="1" smtClean="0">
                                        <a:latin typeface="Cambria Math" panose="02040503050406030204" pitchFamily="18" charset="0"/>
                                        <a:ea typeface="Cambria Math" panose="02040503050406030204" pitchFamily="18" charset="0"/>
                                      </a:rPr>
                                    </m:ctrlPr>
                                  </m:sSupPr>
                                  <m:e>
                                    <m:r>
                                      <a:rPr lang="en-US" sz="1000" b="0" i="1" smtClean="0">
                                        <a:latin typeface="Cambria Math" panose="02040503050406030204" pitchFamily="18" charset="0"/>
                                        <a:ea typeface="Cambria Math" panose="02040503050406030204" pitchFamily="18" charset="0"/>
                                      </a:rPr>
                                      <m:t>(</m:t>
                                    </m:r>
                                    <m:r>
                                      <a:rPr lang="en-US" sz="1000" b="0" i="1" smtClean="0">
                                        <a:latin typeface="Cambria Math" panose="02040503050406030204" pitchFamily="18" charset="0"/>
                                        <a:ea typeface="Cambria Math" panose="02040503050406030204" pitchFamily="18" charset="0"/>
                                      </a:rPr>
                                      <m:t>𝑛</m:t>
                                    </m:r>
                                    <m:r>
                                      <a:rPr lang="en-US" sz="1000" b="0" i="1" smtClean="0">
                                        <a:latin typeface="Cambria Math" panose="02040503050406030204" pitchFamily="18" charset="0"/>
                                        <a:ea typeface="Cambria Math" panose="02040503050406030204" pitchFamily="18" charset="0"/>
                                      </a:rPr>
                                      <m:t>+1)</m:t>
                                    </m:r>
                                  </m:e>
                                  <m:sup>
                                    <m:r>
                                      <a:rPr lang="en-US" sz="1000" b="0" i="1" smtClean="0">
                                        <a:latin typeface="Cambria Math" panose="02040503050406030204" pitchFamily="18" charset="0"/>
                                        <a:ea typeface="Cambria Math" panose="02040503050406030204" pitchFamily="18" charset="0"/>
                                      </a:rPr>
                                      <m:t>𝑡h</m:t>
                                    </m:r>
                                  </m:sup>
                                </m:sSup>
                                <m:r>
                                  <m:rPr>
                                    <m:sty m:val="p"/>
                                  </m:rPr>
                                  <a:rPr lang="en-US" sz="1000" b="0" i="0" smtClean="0">
                                    <a:latin typeface="Cambria Math" panose="02040503050406030204" pitchFamily="18" charset="0"/>
                                    <a:ea typeface="Cambria Math" panose="02040503050406030204" pitchFamily="18" charset="0"/>
                                  </a:rPr>
                                  <m:t>value</m:t>
                                </m:r>
                              </m:oMath>
                            </m:oMathPara>
                          </a14:m>
                          <a:endParaRPr lang="en-US" sz="1000" dirty="0">
                            <a:latin typeface="+mn-lt"/>
                            <a:cs typeface="Arial" panose="020B0604020202020204" pitchFamily="34" charset="0"/>
                          </a:endParaRPr>
                        </a:p>
                        <a:p>
                          <a:pPr algn="l" fontAlgn="base">
                            <a:lnSpc>
                              <a:spcPct val="100000"/>
                            </a:lnSpc>
                          </a:pPr>
                          <a:r>
                            <a:rPr lang="en-US" sz="1000" b="0" i="0" dirty="0">
                              <a:solidFill>
                                <a:srgbClr val="000000"/>
                              </a:solidFill>
                              <a:effectLst/>
                              <a:latin typeface="+mn-lt"/>
                              <a:cs typeface="Arial" panose="020B0604020202020204" pitchFamily="34" charset="0"/>
                            </a:rPr>
                            <a:t>Where:</a:t>
                          </a:r>
                        </a:p>
                        <a:p>
                          <a:pPr algn="l" fontAlgn="base">
                            <a:lnSpc>
                              <a:spcPct val="100000"/>
                            </a:lnSpc>
                          </a:pP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mn-ea"/>
                                  <a:cs typeface="+mn-cs"/>
                                  <a:sym typeface="Arial"/>
                                </a:rPr>
                                <m:t>𝑃</m:t>
                              </m:r>
                            </m:oMath>
                          </a14:m>
                          <a:r>
                            <a:rPr lang="en-US" sz="1000" b="0" i="1" u="none" strike="noStrike" cap="none" baseline="-25000" dirty="0">
                              <a:solidFill>
                                <a:schemeClr val="tx1"/>
                              </a:solidFill>
                              <a:effectLst/>
                              <a:latin typeface="+mn-lt"/>
                              <a:ea typeface="+mn-ea"/>
                              <a:cs typeface="Arial" panose="020B0604020202020204" pitchFamily="34" charset="0"/>
                              <a:sym typeface="Arial"/>
                            </a:rPr>
                            <a:t>x</a:t>
                          </a:r>
                          <a:r>
                            <a:rPr lang="en-US" sz="1000" b="0" i="0" u="none" strike="noStrike" cap="none" dirty="0">
                              <a:solidFill>
                                <a:schemeClr val="tx1"/>
                              </a:solidFill>
                              <a:effectLst/>
                              <a:latin typeface="+mn-lt"/>
                              <a:ea typeface="+mn-ea"/>
                              <a:cs typeface="Arial" panose="020B0604020202020204" pitchFamily="34" charset="0"/>
                              <a:sym typeface="Arial"/>
                            </a:rPr>
                            <a:t> = </a:t>
                          </a:r>
                          <a:r>
                            <a:rPr lang="en-US" sz="1000" b="0" i="0" u="none" strike="noStrike" cap="none" dirty="0">
                              <a:solidFill>
                                <a:schemeClr val="dk1"/>
                              </a:solidFill>
                              <a:effectLst/>
                              <a:latin typeface="+mn-lt"/>
                              <a:ea typeface="+mn-ea"/>
                              <a:cs typeface="Arial" panose="020B0604020202020204" pitchFamily="34" charset="0"/>
                              <a:sym typeface="Arial"/>
                            </a:rPr>
                            <a:t>the x</a:t>
                          </a:r>
                          <a:r>
                            <a:rPr lang="en-US" sz="1000" b="0" i="0" u="none" strike="noStrike" cap="none" baseline="30000" dirty="0">
                              <a:solidFill>
                                <a:schemeClr val="dk1"/>
                              </a:solidFill>
                              <a:effectLst/>
                              <a:latin typeface="+mn-lt"/>
                              <a:ea typeface="+mn-ea"/>
                              <a:cs typeface="Arial" panose="020B0604020202020204" pitchFamily="34" charset="0"/>
                              <a:sym typeface="Arial"/>
                            </a:rPr>
                            <a:t>th</a:t>
                          </a:r>
                          <a:r>
                            <a:rPr lang="en-US" sz="1000" b="0" i="0" u="none" strike="noStrike" cap="none" dirty="0">
                              <a:solidFill>
                                <a:schemeClr val="dk1"/>
                              </a:solidFill>
                              <a:effectLst/>
                              <a:latin typeface="+mn-lt"/>
                              <a:ea typeface="+mn-ea"/>
                              <a:cs typeface="Arial" panose="020B0604020202020204" pitchFamily="34" charset="0"/>
                              <a:sym typeface="Arial"/>
                            </a:rPr>
                            <a:t> percentile</a:t>
                          </a:r>
                          <a:endParaRPr lang="en-US" sz="1000" b="0" i="0" u="none" strike="noStrike" cap="none" dirty="0">
                            <a:solidFill>
                              <a:schemeClr val="tx1"/>
                            </a:solidFill>
                            <a:effectLst/>
                            <a:latin typeface="+mn-lt"/>
                            <a:ea typeface="+mn-ea"/>
                            <a:cs typeface="Arial" panose="020B0604020202020204" pitchFamily="34" charset="0"/>
                            <a:sym typeface="Arial"/>
                          </a:endParaRPr>
                        </a:p>
                        <a:p>
                          <a:pPr algn="l" fontAlgn="base">
                            <a:lnSpc>
                              <a:spcPct val="100000"/>
                            </a:lnSpc>
                          </a:pPr>
                          <a14:m>
                            <m:oMath xmlns:m="http://schemas.openxmlformats.org/officeDocument/2006/math">
                              <m:r>
                                <a:rPr lang="en-US" sz="1000" b="0" i="1" smtClean="0">
                                  <a:solidFill>
                                    <a:srgbClr val="000000"/>
                                  </a:solidFill>
                                  <a:effectLst/>
                                  <a:latin typeface="Cambria Math" panose="02040503050406030204" pitchFamily="18" charset="0"/>
                                  <a:cs typeface="Arial" panose="020B0604020202020204" pitchFamily="34" charset="0"/>
                                </a:rPr>
                                <m:t> </m:t>
                              </m:r>
                              <m:r>
                                <a:rPr lang="en-US" sz="1000" b="0" i="1" smtClean="0">
                                  <a:solidFill>
                                    <a:srgbClr val="000000"/>
                                  </a:solidFill>
                                  <a:effectLst/>
                                  <a:latin typeface="Cambria Math" panose="02040503050406030204" pitchFamily="18" charset="0"/>
                                  <a:cs typeface="Arial" panose="020B0604020202020204" pitchFamily="34" charset="0"/>
                                </a:rPr>
                                <m:t>𝑛</m:t>
                              </m:r>
                            </m:oMath>
                          </a14:m>
                          <a:r>
                            <a:rPr lang="en-US" sz="1000" b="0" i="0" u="none" strike="noStrike" cap="none" dirty="0">
                              <a:solidFill>
                                <a:schemeClr val="tx1"/>
                              </a:solidFill>
                              <a:effectLst/>
                              <a:latin typeface="+mn-lt"/>
                              <a:ea typeface="+mn-ea"/>
                              <a:cs typeface="Arial" panose="020B0604020202020204" pitchFamily="34" charset="0"/>
                              <a:sym typeface="Arial"/>
                            </a:rPr>
                            <a:t> = number of data points</a:t>
                          </a:r>
                        </a:p>
                        <a:p>
                          <a:pPr algn="l" fontAlgn="base">
                            <a:lnSpc>
                              <a:spcPct val="100000"/>
                            </a:lnSpc>
                          </a:pPr>
                          <a14:m>
                            <m:oMath xmlns:m="http://schemas.openxmlformats.org/officeDocument/2006/math">
                              <m:r>
                                <a:rPr lang="en-US" sz="1000" b="0" i="1" smtClean="0">
                                  <a:latin typeface="Cambria Math" panose="02040503050406030204" pitchFamily="18" charset="0"/>
                                  <a:ea typeface="Cambria Math" panose="02040503050406030204" pitchFamily="18" charset="0"/>
                                </a:rPr>
                                <m:t> </m:t>
                              </m:r>
                              <m:r>
                                <a:rPr lang="en-US" sz="1000" b="0" i="1" smtClean="0">
                                  <a:latin typeface="Cambria Math" panose="02040503050406030204" pitchFamily="18" charset="0"/>
                                  <a:ea typeface="Cambria Math" panose="02040503050406030204" pitchFamily="18" charset="0"/>
                                </a:rPr>
                                <m:t>𝑥</m:t>
                              </m:r>
                            </m:oMath>
                          </a14:m>
                          <a:r>
                            <a:rPr lang="en-US" sz="1000" b="0" i="0" u="none" strike="noStrike" cap="none" dirty="0">
                              <a:solidFill>
                                <a:schemeClr val="tx1"/>
                              </a:solidFill>
                              <a:effectLst/>
                              <a:latin typeface="+mn-lt"/>
                              <a:ea typeface="+mn-ea"/>
                              <a:cs typeface="Arial" panose="020B0604020202020204" pitchFamily="34" charset="0"/>
                              <a:sym typeface="Arial"/>
                            </a:rPr>
                            <a:t> = </a:t>
                          </a:r>
                          <a:r>
                            <a:rPr lang="en-US" sz="1000" b="0" i="0" u="none" strike="noStrike" cap="none" dirty="0">
                              <a:solidFill>
                                <a:schemeClr val="dk1"/>
                              </a:solidFill>
                              <a:effectLst/>
                              <a:latin typeface="+mn-lt"/>
                              <a:ea typeface="+mn-ea"/>
                              <a:cs typeface="Arial" panose="020B0604020202020204" pitchFamily="34" charset="0"/>
                              <a:sym typeface="Arial"/>
                            </a:rPr>
                            <a:t>the desired percentile</a:t>
                          </a:r>
                          <a:endParaRPr lang="en-US" sz="1000" b="0" i="0" u="none" strike="noStrike" cap="none" dirty="0">
                            <a:solidFill>
                              <a:schemeClr val="tx1"/>
                            </a:solidFill>
                            <a:effectLst/>
                            <a:latin typeface="+mn-lt"/>
                            <a:ea typeface="+mn-ea"/>
                            <a:cs typeface="Arial" panose="020B0604020202020204" pitchFamily="34" charset="0"/>
                            <a:sym typeface="Arial"/>
                          </a:endParaRPr>
                        </a:p>
                      </a:txBody>
                      <a:tcPr marL="68580" marR="68580" marT="34290" marB="34290"/>
                    </a:tc>
                    <a:tc>
                      <a:txBody>
                        <a:bodyPr/>
                        <a:lstStyle/>
                        <a:p>
                          <a:r>
                            <a:rPr lang="en-US" sz="1000" dirty="0">
                              <a:latin typeface="+mn-lt"/>
                              <a:cs typeface="Arial" panose="020B0604020202020204" pitchFamily="34" charset="0"/>
                            </a:rPr>
                            <a:t>When analyzing an individual data point in relation to the dataset</a:t>
                          </a:r>
                        </a:p>
                      </a:txBody>
                      <a:tcPr marL="68580" marR="68580" marT="34290" marB="34290"/>
                    </a:tc>
                    <a:tc>
                      <a:txBody>
                        <a:bodyPr/>
                        <a:lstStyle/>
                        <a:p>
                          <a:r>
                            <a:rPr lang="en-US" sz="1000" b="0" i="0" u="none" strike="noStrike" cap="none" dirty="0">
                              <a:solidFill>
                                <a:schemeClr val="dk1"/>
                              </a:solidFill>
                              <a:effectLst/>
                              <a:latin typeface="+mn-lt"/>
                              <a:ea typeface="+mn-ea"/>
                              <a:cs typeface="Arial" panose="020B0604020202020204" pitchFamily="34" charset="0"/>
                              <a:sym typeface="Arial"/>
                            </a:rPr>
                            <a:t>A health clinic collects heart rate measurements from 100 adults.</a:t>
                          </a:r>
                          <a:br>
                            <a:rPr lang="en-US" sz="1000" b="0" dirty="0">
                              <a:latin typeface="+mn-lt"/>
                              <a:cs typeface="Arial" panose="020B0604020202020204" pitchFamily="34" charset="0"/>
                            </a:rPr>
                          </a:br>
                          <a:r>
                            <a:rPr lang="en-US" sz="1000" b="0" i="0" u="none" strike="noStrike" cap="none" dirty="0">
                              <a:solidFill>
                                <a:schemeClr val="dk1"/>
                              </a:solidFill>
                              <a:effectLst/>
                              <a:latin typeface="+mn-lt"/>
                              <a:ea typeface="+mn-ea"/>
                              <a:cs typeface="Arial" panose="020B0604020202020204" pitchFamily="34" charset="0"/>
                              <a:sym typeface="Arial"/>
                            </a:rPr>
                            <a:t>Based on the dataset, the 62nd percentile is calculated to be 75 bpm, meaning that 62% of participants have heart rates below 75 bpm.</a:t>
                          </a:r>
                          <a:endParaRPr lang="en-US" sz="1000" b="0" dirty="0">
                            <a:latin typeface="+mn-lt"/>
                            <a:cs typeface="Arial" panose="020B0604020202020204" pitchFamily="34" charset="0"/>
                          </a:endParaRPr>
                        </a:p>
                      </a:txBody>
                      <a:tcPr marL="68580" marR="68580" marT="34290" marB="34290"/>
                    </a:tc>
                    <a:extLst>
                      <a:ext uri="{0D108BD9-81ED-4DB2-BD59-A6C34878D82A}">
                        <a16:rowId xmlns:a16="http://schemas.microsoft.com/office/drawing/2014/main" val="2475408901"/>
                      </a:ext>
                    </a:extLst>
                  </a:tr>
                  <a:tr h="955538">
                    <a:tc>
                      <a:txBody>
                        <a:bodyPr/>
                        <a:lstStyle/>
                        <a:p>
                          <a:r>
                            <a:rPr lang="en-US" sz="1000" dirty="0">
                              <a:latin typeface="+mn-lt"/>
                              <a:cs typeface="Arial" panose="020B0604020202020204" pitchFamily="34" charset="0"/>
                            </a:rPr>
                            <a:t>Quartiles (Q1, Q2, Q3)</a:t>
                          </a:r>
                        </a:p>
                      </a:txBody>
                      <a:tcPr marL="68580" marR="68580" marT="34290" marB="34290"/>
                    </a:tc>
                    <a:tc>
                      <a:txBody>
                        <a:bodyPr/>
                        <a:lstStyle/>
                        <a:p>
                          <a:r>
                            <a:rPr lang="en-US" sz="1000" dirty="0">
                              <a:latin typeface="+mn-lt"/>
                              <a:cs typeface="Arial" panose="020B0604020202020204" pitchFamily="34" charset="0"/>
                            </a:rPr>
                            <a:t>Divides dataset into four equal parts</a:t>
                          </a:r>
                        </a:p>
                        <a:p>
                          <a:endParaRPr lang="en-US" sz="1000" dirty="0">
                            <a:latin typeface="+mn-lt"/>
                            <a:cs typeface="Arial" panose="020B0604020202020204" pitchFamily="34" charset="0"/>
                          </a:endParaRPr>
                        </a:p>
                        <a:p>
                          <a:pPr marL="171450" indent="-171450">
                            <a:buFont typeface="Arial" panose="020B0604020202020204" pitchFamily="34" charset="0"/>
                            <a:buChar char="•"/>
                          </a:pPr>
                          <a:r>
                            <a:rPr lang="en-US" sz="1000" dirty="0">
                              <a:latin typeface="+mn-lt"/>
                              <a:cs typeface="Arial" panose="020B0604020202020204" pitchFamily="34" charset="0"/>
                            </a:rPr>
                            <a:t>First quartile (Q1): 25% of the data falls below this value (25</a:t>
                          </a:r>
                          <a:r>
                            <a:rPr lang="en-US" sz="1000" baseline="30000" dirty="0">
                              <a:latin typeface="+mn-lt"/>
                              <a:cs typeface="Arial" panose="020B0604020202020204" pitchFamily="34" charset="0"/>
                            </a:rPr>
                            <a:t>th</a:t>
                          </a:r>
                          <a:r>
                            <a:rPr lang="en-US" sz="1000" dirty="0">
                              <a:latin typeface="+mn-lt"/>
                              <a:cs typeface="Arial" panose="020B0604020202020204" pitchFamily="34" charset="0"/>
                            </a:rPr>
                            <a:t> percentile).</a:t>
                          </a:r>
                        </a:p>
                        <a:p>
                          <a:pPr marL="171450" indent="-171450">
                            <a:buFont typeface="Arial" panose="020B0604020202020204" pitchFamily="34" charset="0"/>
                            <a:buChar char="•"/>
                          </a:pPr>
                          <a:r>
                            <a:rPr lang="en-US" sz="1000" dirty="0">
                              <a:latin typeface="+mn-lt"/>
                              <a:cs typeface="Arial" panose="020B0604020202020204" pitchFamily="34" charset="0"/>
                            </a:rPr>
                            <a:t>Second quartile (Q2): The median. 50% of the data falls below this value.</a:t>
                          </a:r>
                        </a:p>
                        <a:p>
                          <a:pPr marL="171450" indent="-171450">
                            <a:buFont typeface="Arial" panose="020B0604020202020204" pitchFamily="34" charset="0"/>
                            <a:buChar char="•"/>
                          </a:pPr>
                          <a:r>
                            <a:rPr lang="en-US" sz="1000" dirty="0">
                              <a:latin typeface="+mn-lt"/>
                              <a:cs typeface="Arial" panose="020B0604020202020204" pitchFamily="34" charset="0"/>
                            </a:rPr>
                            <a:t>Third quartile (Q3): 75% of the data falls below this value (75</a:t>
                          </a:r>
                          <a:r>
                            <a:rPr lang="en-US" sz="1000" baseline="30000" dirty="0">
                              <a:latin typeface="+mn-lt"/>
                              <a:cs typeface="Arial" panose="020B0604020202020204" pitchFamily="34" charset="0"/>
                            </a:rPr>
                            <a:t>th</a:t>
                          </a:r>
                          <a:r>
                            <a:rPr lang="en-US" sz="1000" dirty="0">
                              <a:latin typeface="+mn-lt"/>
                              <a:cs typeface="Arial" panose="020B0604020202020204" pitchFamily="34" charset="0"/>
                            </a:rPr>
                            <a:t> percentile).</a:t>
                          </a:r>
                        </a:p>
                      </a:txBody>
                      <a:tcPr marL="68580" marR="68580" marT="34290" marB="34290"/>
                    </a:tc>
                    <a:tc>
                      <a:txBody>
                        <a:bodyPr/>
                        <a:lstStyle/>
                        <a:p>
                          <a:r>
                            <a:rPr lang="en-US" sz="1000" dirty="0">
                              <a:latin typeface="+mn-lt"/>
                              <a:cs typeface="Arial" panose="020B0604020202020204" pitchFamily="34" charset="0"/>
                            </a:rPr>
                            <a:t>When analyzing data with outliers</a:t>
                          </a:r>
                        </a:p>
                      </a:txBody>
                      <a:tcPr marL="68580" marR="68580" marT="34290" marB="34290"/>
                    </a:tc>
                    <a:tc>
                      <a:txBody>
                        <a:bodyPr/>
                        <a:lstStyle/>
                        <a:p>
                          <a:r>
                            <a:rPr lang="en-US" sz="1000" b="0" i="0" u="none" strike="noStrike" cap="none" dirty="0">
                              <a:solidFill>
                                <a:schemeClr val="dk1"/>
                              </a:solidFill>
                              <a:effectLst/>
                              <a:latin typeface="+mn-lt"/>
                              <a:ea typeface="+mn-ea"/>
                              <a:cs typeface="Arial" panose="020B0604020202020204" pitchFamily="34" charset="0"/>
                              <a:sym typeface="Arial"/>
                            </a:rPr>
                            <a:t>A health clinic collects heart rate data from 100 adults (with measurements ranging from 0-100 bpm). Based on the specific dataset, it has been calculated that the third quartile (Q3) is 80 bpm, meaning 75% of participants have a heart rate below 80 bpm, and 25% are above it.</a:t>
                          </a:r>
                          <a:endParaRPr lang="en-US" sz="1000" b="0" dirty="0">
                            <a:latin typeface="+mn-lt"/>
                            <a:cs typeface="Arial" panose="020B0604020202020204" pitchFamily="34" charset="0"/>
                          </a:endParaRPr>
                        </a:p>
                      </a:txBody>
                      <a:tcPr marL="68580" marR="68580" marT="34290" marB="34290"/>
                    </a:tc>
                    <a:extLst>
                      <a:ext uri="{0D108BD9-81ED-4DB2-BD59-A6C34878D82A}">
                        <a16:rowId xmlns:a16="http://schemas.microsoft.com/office/drawing/2014/main" val="1089560578"/>
                      </a:ext>
                    </a:extLst>
                  </a:tr>
                </a:tbl>
              </a:graphicData>
            </a:graphic>
          </p:graphicFrame>
        </mc:Choice>
        <mc:Fallback xmlns="">
          <p:graphicFrame>
            <p:nvGraphicFramePr>
              <p:cNvPr id="4" name="Table 3">
                <a:extLst>
                  <a:ext uri="{FF2B5EF4-FFF2-40B4-BE49-F238E27FC236}">
                    <a16:creationId xmlns:a16="http://schemas.microsoft.com/office/drawing/2014/main" id="{C635B108-CF85-F4FF-D184-4175EF9D5B9E}"/>
                  </a:ext>
                </a:extLst>
              </p:cNvPr>
              <p:cNvGraphicFramePr>
                <a:graphicFrameLocks noGrp="1"/>
              </p:cNvGraphicFramePr>
              <p:nvPr>
                <p:extLst>
                  <p:ext uri="{D42A27DB-BD31-4B8C-83A1-F6EECF244321}">
                    <p14:modId xmlns:p14="http://schemas.microsoft.com/office/powerpoint/2010/main" val="207890760"/>
                  </p:ext>
                </p:extLst>
              </p:nvPr>
            </p:nvGraphicFramePr>
            <p:xfrm>
              <a:off x="381001" y="1134666"/>
              <a:ext cx="8382001" cy="3587756"/>
            </p:xfrm>
            <a:graphic>
              <a:graphicData uri="http://schemas.openxmlformats.org/drawingml/2006/table">
                <a:tbl>
                  <a:tblPr firstRow="1" bandRow="1">
                    <a:tableStyleId>{5C22544A-7EE6-4342-B048-85BDC9FD1C3A}</a:tableStyleId>
                  </a:tblPr>
                  <a:tblGrid>
                    <a:gridCol w="1956682">
                      <a:extLst>
                        <a:ext uri="{9D8B030D-6E8A-4147-A177-3AD203B41FA5}">
                          <a16:colId xmlns:a16="http://schemas.microsoft.com/office/drawing/2014/main" val="250889169"/>
                        </a:ext>
                      </a:extLst>
                    </a:gridCol>
                    <a:gridCol w="1849637">
                      <a:extLst>
                        <a:ext uri="{9D8B030D-6E8A-4147-A177-3AD203B41FA5}">
                          <a16:colId xmlns:a16="http://schemas.microsoft.com/office/drawing/2014/main" val="3418018561"/>
                        </a:ext>
                      </a:extLst>
                    </a:gridCol>
                    <a:gridCol w="2131313">
                      <a:extLst>
                        <a:ext uri="{9D8B030D-6E8A-4147-A177-3AD203B41FA5}">
                          <a16:colId xmlns:a16="http://schemas.microsoft.com/office/drawing/2014/main" val="7047845"/>
                        </a:ext>
                      </a:extLst>
                    </a:gridCol>
                    <a:gridCol w="2444369">
                      <a:extLst>
                        <a:ext uri="{9D8B030D-6E8A-4147-A177-3AD203B41FA5}">
                          <a16:colId xmlns:a16="http://schemas.microsoft.com/office/drawing/2014/main" val="2185496906"/>
                        </a:ext>
                      </a:extLst>
                    </a:gridCol>
                  </a:tblGrid>
                  <a:tr h="294011">
                    <a:tc>
                      <a:txBody>
                        <a:bodyPr/>
                        <a:lstStyle/>
                        <a:p>
                          <a:r>
                            <a:rPr lang="en-US" sz="1100" dirty="0">
                              <a:latin typeface="+mn-lt"/>
                              <a:cs typeface="Arial" panose="020B0604020202020204" pitchFamily="34" charset="0"/>
                            </a:rPr>
                            <a:t>Measure</a:t>
                          </a:r>
                        </a:p>
                      </a:txBody>
                      <a:tcPr marL="68580" marR="68580" marT="34290" marB="34290">
                        <a:solidFill>
                          <a:schemeClr val="bg2">
                            <a:lumMod val="75000"/>
                          </a:schemeClr>
                        </a:solidFill>
                      </a:tcPr>
                    </a:tc>
                    <a:tc>
                      <a:txBody>
                        <a:bodyPr/>
                        <a:lstStyle/>
                        <a:p>
                          <a:r>
                            <a:rPr lang="en-US" sz="1100" dirty="0">
                              <a:latin typeface="+mn-lt"/>
                              <a:cs typeface="Arial" panose="020B0604020202020204" pitchFamily="34" charset="0"/>
                            </a:rPr>
                            <a:t>Definition</a:t>
                          </a:r>
                        </a:p>
                      </a:txBody>
                      <a:tcPr marL="68580" marR="68580" marT="34290" marB="34290">
                        <a:solidFill>
                          <a:schemeClr val="bg2">
                            <a:lumMod val="75000"/>
                          </a:schemeClr>
                        </a:solidFill>
                      </a:tcPr>
                    </a:tc>
                    <a:tc>
                      <a:txBody>
                        <a:bodyPr/>
                        <a:lstStyle/>
                        <a:p>
                          <a:r>
                            <a:rPr lang="en-US" sz="1100" dirty="0">
                              <a:latin typeface="+mn-lt"/>
                              <a:cs typeface="Arial" panose="020B0604020202020204" pitchFamily="34" charset="0"/>
                            </a:rPr>
                            <a:t>When to Use</a:t>
                          </a:r>
                        </a:p>
                      </a:txBody>
                      <a:tcPr marL="68580" marR="68580" marT="34290" marB="34290">
                        <a:solidFill>
                          <a:schemeClr val="bg2">
                            <a:lumMod val="75000"/>
                          </a:schemeClr>
                        </a:solidFill>
                      </a:tcPr>
                    </a:tc>
                    <a:tc>
                      <a:txBody>
                        <a:bodyPr/>
                        <a:lstStyle/>
                        <a:p>
                          <a:r>
                            <a:rPr lang="en-US" sz="1100" dirty="0">
                              <a:latin typeface="+mn-lt"/>
                              <a:cs typeface="Arial" panose="020B0604020202020204" pitchFamily="34" charset="0"/>
                            </a:rPr>
                            <a:t>Example</a:t>
                          </a:r>
                        </a:p>
                      </a:txBody>
                      <a:tcPr marL="68580" marR="68580" marT="34290" marB="34290">
                        <a:solidFill>
                          <a:schemeClr val="bg2">
                            <a:lumMod val="75000"/>
                          </a:schemeClr>
                        </a:solidFill>
                      </a:tcPr>
                    </a:tc>
                    <a:extLst>
                      <a:ext uri="{0D108BD9-81ED-4DB2-BD59-A6C34878D82A}">
                        <a16:rowId xmlns:a16="http://schemas.microsoft.com/office/drawing/2014/main" val="3167553140"/>
                      </a:ext>
                    </a:extLst>
                  </a:tr>
                  <a:tr h="1396365">
                    <a:tc>
                      <a:txBody>
                        <a:bodyPr/>
                        <a:lstStyle/>
                        <a:p>
                          <a:r>
                            <a:rPr lang="en-US" sz="1000" dirty="0">
                              <a:latin typeface="+mn-lt"/>
                              <a:cs typeface="Arial" panose="020B0604020202020204" pitchFamily="34" charset="0"/>
                            </a:rPr>
                            <a:t>Percentile</a:t>
                          </a:r>
                        </a:p>
                      </a:txBody>
                      <a:tcPr marL="68580" marR="68580" marT="34290" marB="34290"/>
                    </a:tc>
                    <a:tc>
                      <a:txBody>
                        <a:bodyPr/>
                        <a:lstStyle/>
                        <a:p>
                          <a:endParaRPr lang="en-US"/>
                        </a:p>
                      </a:txBody>
                      <a:tcPr marL="68580" marR="68580" marT="34290" marB="34290">
                        <a:blipFill>
                          <a:blip r:embed="rId3"/>
                          <a:stretch>
                            <a:fillRect l="-106164" t="-21818" r="-248630" b="-140000"/>
                          </a:stretch>
                        </a:blipFill>
                      </a:tcPr>
                    </a:tc>
                    <a:tc>
                      <a:txBody>
                        <a:bodyPr/>
                        <a:lstStyle/>
                        <a:p>
                          <a:r>
                            <a:rPr lang="en-US" sz="1000" dirty="0">
                              <a:latin typeface="+mn-lt"/>
                              <a:cs typeface="Arial" panose="020B0604020202020204" pitchFamily="34" charset="0"/>
                            </a:rPr>
                            <a:t>When analyzing an individual data point in relation to the dataset</a:t>
                          </a:r>
                        </a:p>
                      </a:txBody>
                      <a:tcPr marL="68580" marR="68580" marT="34290" marB="34290"/>
                    </a:tc>
                    <a:tc>
                      <a:txBody>
                        <a:bodyPr/>
                        <a:lstStyle/>
                        <a:p>
                          <a:r>
                            <a:rPr lang="en-US" sz="1000" b="0" i="0" u="none" strike="noStrike" cap="none" dirty="0">
                              <a:solidFill>
                                <a:schemeClr val="dk1"/>
                              </a:solidFill>
                              <a:effectLst/>
                              <a:latin typeface="+mn-lt"/>
                              <a:ea typeface="+mn-ea"/>
                              <a:cs typeface="Arial" panose="020B0604020202020204" pitchFamily="34" charset="0"/>
                              <a:sym typeface="Arial"/>
                            </a:rPr>
                            <a:t>A health clinic collects heart rate measurements from 100 adults.</a:t>
                          </a:r>
                          <a:br>
                            <a:rPr lang="en-US" sz="1000" b="0" dirty="0">
                              <a:latin typeface="+mn-lt"/>
                              <a:cs typeface="Arial" panose="020B0604020202020204" pitchFamily="34" charset="0"/>
                            </a:rPr>
                          </a:br>
                          <a:r>
                            <a:rPr lang="en-US" sz="1000" b="0" i="0" u="none" strike="noStrike" cap="none" dirty="0">
                              <a:solidFill>
                                <a:schemeClr val="dk1"/>
                              </a:solidFill>
                              <a:effectLst/>
                              <a:latin typeface="+mn-lt"/>
                              <a:ea typeface="+mn-ea"/>
                              <a:cs typeface="Arial" panose="020B0604020202020204" pitchFamily="34" charset="0"/>
                              <a:sym typeface="Arial"/>
                            </a:rPr>
                            <a:t>Based on the dataset, the 62nd percentile is calculated to be 75 bpm, meaning that 62% of participants have heart rates below 75 bpm.</a:t>
                          </a:r>
                          <a:endParaRPr lang="en-US" sz="1000" b="0" dirty="0">
                            <a:latin typeface="+mn-lt"/>
                            <a:cs typeface="Arial" panose="020B0604020202020204" pitchFamily="34" charset="0"/>
                          </a:endParaRPr>
                        </a:p>
                      </a:txBody>
                      <a:tcPr marL="68580" marR="68580" marT="34290" marB="34290"/>
                    </a:tc>
                    <a:extLst>
                      <a:ext uri="{0D108BD9-81ED-4DB2-BD59-A6C34878D82A}">
                        <a16:rowId xmlns:a16="http://schemas.microsoft.com/office/drawing/2014/main" val="2475408901"/>
                      </a:ext>
                    </a:extLst>
                  </a:tr>
                  <a:tr h="1897380">
                    <a:tc>
                      <a:txBody>
                        <a:bodyPr/>
                        <a:lstStyle/>
                        <a:p>
                          <a:r>
                            <a:rPr lang="en-US" sz="1000" dirty="0">
                              <a:latin typeface="+mn-lt"/>
                              <a:cs typeface="Arial" panose="020B0604020202020204" pitchFamily="34" charset="0"/>
                            </a:rPr>
                            <a:t>Quartiles (Q1, Q2, Q3)</a:t>
                          </a:r>
                        </a:p>
                      </a:txBody>
                      <a:tcPr marL="68580" marR="68580" marT="34290" marB="34290"/>
                    </a:tc>
                    <a:tc>
                      <a:txBody>
                        <a:bodyPr/>
                        <a:lstStyle/>
                        <a:p>
                          <a:r>
                            <a:rPr lang="en-US" sz="1000" dirty="0">
                              <a:latin typeface="+mn-lt"/>
                              <a:cs typeface="Arial" panose="020B0604020202020204" pitchFamily="34" charset="0"/>
                            </a:rPr>
                            <a:t>Divides dataset into four equal parts</a:t>
                          </a:r>
                        </a:p>
                        <a:p>
                          <a:endParaRPr lang="en-US" sz="1000" dirty="0">
                            <a:latin typeface="+mn-lt"/>
                            <a:cs typeface="Arial" panose="020B0604020202020204" pitchFamily="34" charset="0"/>
                          </a:endParaRPr>
                        </a:p>
                        <a:p>
                          <a:pPr marL="171450" indent="-171450">
                            <a:buFont typeface="Arial" panose="020B0604020202020204" pitchFamily="34" charset="0"/>
                            <a:buChar char="•"/>
                          </a:pPr>
                          <a:r>
                            <a:rPr lang="en-US" sz="1000" dirty="0">
                              <a:latin typeface="+mn-lt"/>
                              <a:cs typeface="Arial" panose="020B0604020202020204" pitchFamily="34" charset="0"/>
                            </a:rPr>
                            <a:t>First quartile (Q1): 25% of the data falls below this value (25</a:t>
                          </a:r>
                          <a:r>
                            <a:rPr lang="en-US" sz="1000" baseline="30000" dirty="0">
                              <a:latin typeface="+mn-lt"/>
                              <a:cs typeface="Arial" panose="020B0604020202020204" pitchFamily="34" charset="0"/>
                            </a:rPr>
                            <a:t>th</a:t>
                          </a:r>
                          <a:r>
                            <a:rPr lang="en-US" sz="1000" dirty="0">
                              <a:latin typeface="+mn-lt"/>
                              <a:cs typeface="Arial" panose="020B0604020202020204" pitchFamily="34" charset="0"/>
                            </a:rPr>
                            <a:t> percentile).</a:t>
                          </a:r>
                        </a:p>
                        <a:p>
                          <a:pPr marL="171450" indent="-171450">
                            <a:buFont typeface="Arial" panose="020B0604020202020204" pitchFamily="34" charset="0"/>
                            <a:buChar char="•"/>
                          </a:pPr>
                          <a:r>
                            <a:rPr lang="en-US" sz="1000" dirty="0">
                              <a:latin typeface="+mn-lt"/>
                              <a:cs typeface="Arial" panose="020B0604020202020204" pitchFamily="34" charset="0"/>
                            </a:rPr>
                            <a:t>Second quartile (Q2): The median. 50% of the data falls below this value.</a:t>
                          </a:r>
                        </a:p>
                        <a:p>
                          <a:pPr marL="171450" indent="-171450">
                            <a:buFont typeface="Arial" panose="020B0604020202020204" pitchFamily="34" charset="0"/>
                            <a:buChar char="•"/>
                          </a:pPr>
                          <a:r>
                            <a:rPr lang="en-US" sz="1000" dirty="0">
                              <a:latin typeface="+mn-lt"/>
                              <a:cs typeface="Arial" panose="020B0604020202020204" pitchFamily="34" charset="0"/>
                            </a:rPr>
                            <a:t>Third quartile (Q3): 75% of the data falls below this value (75</a:t>
                          </a:r>
                          <a:r>
                            <a:rPr lang="en-US" sz="1000" baseline="30000" dirty="0">
                              <a:latin typeface="+mn-lt"/>
                              <a:cs typeface="Arial" panose="020B0604020202020204" pitchFamily="34" charset="0"/>
                            </a:rPr>
                            <a:t>th</a:t>
                          </a:r>
                          <a:r>
                            <a:rPr lang="en-US" sz="1000" dirty="0">
                              <a:latin typeface="+mn-lt"/>
                              <a:cs typeface="Arial" panose="020B0604020202020204" pitchFamily="34" charset="0"/>
                            </a:rPr>
                            <a:t> percentile).</a:t>
                          </a:r>
                        </a:p>
                      </a:txBody>
                      <a:tcPr marL="68580" marR="68580" marT="34290" marB="34290"/>
                    </a:tc>
                    <a:tc>
                      <a:txBody>
                        <a:bodyPr/>
                        <a:lstStyle/>
                        <a:p>
                          <a:r>
                            <a:rPr lang="en-US" sz="1000" dirty="0">
                              <a:latin typeface="+mn-lt"/>
                              <a:cs typeface="Arial" panose="020B0604020202020204" pitchFamily="34" charset="0"/>
                            </a:rPr>
                            <a:t>When analyzing data with outliers</a:t>
                          </a:r>
                        </a:p>
                      </a:txBody>
                      <a:tcPr marL="68580" marR="68580" marT="34290" marB="34290"/>
                    </a:tc>
                    <a:tc>
                      <a:txBody>
                        <a:bodyPr/>
                        <a:lstStyle/>
                        <a:p>
                          <a:r>
                            <a:rPr lang="en-US" sz="1000" b="0" i="0" u="none" strike="noStrike" cap="none" dirty="0">
                              <a:solidFill>
                                <a:schemeClr val="dk1"/>
                              </a:solidFill>
                              <a:effectLst/>
                              <a:latin typeface="+mn-lt"/>
                              <a:ea typeface="+mn-ea"/>
                              <a:cs typeface="Arial" panose="020B0604020202020204" pitchFamily="34" charset="0"/>
                              <a:sym typeface="Arial"/>
                            </a:rPr>
                            <a:t>A health clinic collects heart rate data from 100 adults (with measurements ranging from 0-100 bpm). Based on the specific dataset, it has been calculated that the third quartile (Q3) is 80 bpm, meaning 75% of participants have a heart rate below 80 bpm, and 25% are above it.</a:t>
                          </a:r>
                          <a:endParaRPr lang="en-US" sz="1000" b="0" dirty="0">
                            <a:latin typeface="+mn-lt"/>
                            <a:cs typeface="Arial" panose="020B0604020202020204" pitchFamily="34" charset="0"/>
                          </a:endParaRPr>
                        </a:p>
                      </a:txBody>
                      <a:tcPr marL="68580" marR="68580" marT="34290" marB="34290"/>
                    </a:tc>
                    <a:extLst>
                      <a:ext uri="{0D108BD9-81ED-4DB2-BD59-A6C34878D82A}">
                        <a16:rowId xmlns:a16="http://schemas.microsoft.com/office/drawing/2014/main" val="1089560578"/>
                      </a:ext>
                    </a:extLst>
                  </a:tr>
                </a:tbl>
              </a:graphicData>
            </a:graphic>
          </p:graphicFrame>
        </mc:Fallback>
      </mc:AlternateContent>
    </p:spTree>
    <p:extLst>
      <p:ext uri="{BB962C8B-B14F-4D97-AF65-F5344CB8AC3E}">
        <p14:creationId xmlns:p14="http://schemas.microsoft.com/office/powerpoint/2010/main" val="1775270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F4D64-6C5B-723B-9F3B-8810B6135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21555-CF6A-28A4-A9E9-3D0D379D3836}"/>
              </a:ext>
            </a:extLst>
          </p:cNvPr>
          <p:cNvSpPr>
            <a:spLocks noGrp="1"/>
          </p:cNvSpPr>
          <p:nvPr>
            <p:ph type="title"/>
          </p:nvPr>
        </p:nvSpPr>
        <p:spPr>
          <a:xfrm>
            <a:off x="311700" y="97892"/>
            <a:ext cx="8520600" cy="572700"/>
          </a:xfrm>
        </p:spPr>
        <p:txBody>
          <a:bodyPr/>
          <a:lstStyle/>
          <a:p>
            <a:r>
              <a:rPr lang="en-US" dirty="0">
                <a:solidFill>
                  <a:schemeClr val="accent1"/>
                </a:solidFill>
                <a:latin typeface="Arial" panose="020B0604020202020204" pitchFamily="34" charset="0"/>
                <a:cs typeface="Arial" panose="020B0604020202020204" pitchFamily="34" charset="0"/>
              </a:rPr>
              <a:t>Location</a:t>
            </a:r>
          </a:p>
        </p:txBody>
      </p:sp>
      <p:graphicFrame>
        <p:nvGraphicFramePr>
          <p:cNvPr id="4" name="Table 3">
            <a:extLst>
              <a:ext uri="{FF2B5EF4-FFF2-40B4-BE49-F238E27FC236}">
                <a16:creationId xmlns:a16="http://schemas.microsoft.com/office/drawing/2014/main" id="{0CC39491-3134-9282-C5DB-EEF7785FC126}"/>
              </a:ext>
            </a:extLst>
          </p:cNvPr>
          <p:cNvGraphicFramePr>
            <a:graphicFrameLocks noGrp="1"/>
          </p:cNvGraphicFramePr>
          <p:nvPr>
            <p:extLst>
              <p:ext uri="{D42A27DB-BD31-4B8C-83A1-F6EECF244321}">
                <p14:modId xmlns:p14="http://schemas.microsoft.com/office/powerpoint/2010/main" val="3602508705"/>
              </p:ext>
            </p:extLst>
          </p:nvPr>
        </p:nvGraphicFramePr>
        <p:xfrm>
          <a:off x="0" y="1120276"/>
          <a:ext cx="9144000" cy="3410591"/>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50889169"/>
                    </a:ext>
                  </a:extLst>
                </a:gridCol>
                <a:gridCol w="2475947">
                  <a:extLst>
                    <a:ext uri="{9D8B030D-6E8A-4147-A177-3AD203B41FA5}">
                      <a16:colId xmlns:a16="http://schemas.microsoft.com/office/drawing/2014/main" val="3418018561"/>
                    </a:ext>
                  </a:extLst>
                </a:gridCol>
                <a:gridCol w="2325068">
                  <a:extLst>
                    <a:ext uri="{9D8B030D-6E8A-4147-A177-3AD203B41FA5}">
                      <a16:colId xmlns:a16="http://schemas.microsoft.com/office/drawing/2014/main" val="7047845"/>
                    </a:ext>
                  </a:extLst>
                </a:gridCol>
                <a:gridCol w="2666585">
                  <a:extLst>
                    <a:ext uri="{9D8B030D-6E8A-4147-A177-3AD203B41FA5}">
                      <a16:colId xmlns:a16="http://schemas.microsoft.com/office/drawing/2014/main" val="2185496906"/>
                    </a:ext>
                  </a:extLst>
                </a:gridCol>
              </a:tblGrid>
              <a:tr h="294011">
                <a:tc>
                  <a:txBody>
                    <a:bodyPr/>
                    <a:lstStyle/>
                    <a:p>
                      <a:r>
                        <a:rPr lang="en-US" sz="1100" dirty="0"/>
                        <a:t>Measure</a:t>
                      </a:r>
                    </a:p>
                  </a:txBody>
                  <a:tcPr marL="68580" marR="68580" marT="34290" marB="34290">
                    <a:solidFill>
                      <a:schemeClr val="bg2">
                        <a:lumMod val="75000"/>
                      </a:schemeClr>
                    </a:solidFill>
                  </a:tcPr>
                </a:tc>
                <a:tc>
                  <a:txBody>
                    <a:bodyPr/>
                    <a:lstStyle/>
                    <a:p>
                      <a:r>
                        <a:rPr lang="en-US" sz="1100" dirty="0"/>
                        <a:t>Definition</a:t>
                      </a:r>
                    </a:p>
                  </a:txBody>
                  <a:tcPr marL="68580" marR="68580" marT="34290" marB="34290">
                    <a:solidFill>
                      <a:schemeClr val="bg2">
                        <a:lumMod val="75000"/>
                      </a:schemeClr>
                    </a:solidFill>
                  </a:tcPr>
                </a:tc>
                <a:tc>
                  <a:txBody>
                    <a:bodyPr/>
                    <a:lstStyle/>
                    <a:p>
                      <a:r>
                        <a:rPr lang="en-US" sz="1100" dirty="0"/>
                        <a:t>When to Use</a:t>
                      </a:r>
                    </a:p>
                  </a:txBody>
                  <a:tcPr marL="68580" marR="68580" marT="34290" marB="34290">
                    <a:solidFill>
                      <a:schemeClr val="bg2">
                        <a:lumMod val="75000"/>
                      </a:schemeClr>
                    </a:solidFill>
                  </a:tcPr>
                </a:tc>
                <a:tc>
                  <a:txBody>
                    <a:bodyPr/>
                    <a:lstStyle/>
                    <a:p>
                      <a:r>
                        <a:rPr lang="en-US" sz="1100" dirty="0"/>
                        <a:t>Example</a:t>
                      </a:r>
                    </a:p>
                  </a:txBody>
                  <a:tcPr marL="68580" marR="68580" marT="34290" marB="34290">
                    <a:solidFill>
                      <a:schemeClr val="bg2">
                        <a:lumMod val="75000"/>
                      </a:schemeClr>
                    </a:solidFill>
                  </a:tcPr>
                </a:tc>
                <a:extLst>
                  <a:ext uri="{0D108BD9-81ED-4DB2-BD59-A6C34878D82A}">
                    <a16:rowId xmlns:a16="http://schemas.microsoft.com/office/drawing/2014/main" val="3167553140"/>
                  </a:ext>
                </a:extLst>
              </a:tr>
              <a:tr h="1176046">
                <a:tc>
                  <a:txBody>
                    <a:bodyPr/>
                    <a:lstStyle/>
                    <a:p>
                      <a:r>
                        <a:rPr lang="en-US" sz="1000" dirty="0"/>
                        <a:t>Deciles (D</a:t>
                      </a:r>
                      <a:r>
                        <a:rPr lang="en-US" sz="1000" baseline="-25000" dirty="0"/>
                        <a:t>1</a:t>
                      </a:r>
                      <a:r>
                        <a:rPr lang="en-US" sz="1000" baseline="0" dirty="0"/>
                        <a:t>– D</a:t>
                      </a:r>
                      <a:r>
                        <a:rPr lang="en-US" sz="1000" baseline="-25000" dirty="0"/>
                        <a:t>10</a:t>
                      </a:r>
                      <a:r>
                        <a:rPr lang="en-US" sz="1000" baseline="0" dirty="0"/>
                        <a:t>)</a:t>
                      </a:r>
                      <a:endParaRPr lang="en-US" sz="1000" dirty="0"/>
                    </a:p>
                  </a:txBody>
                  <a:tcPr marL="68580" marR="68580" marT="34290" marB="34290">
                    <a:solidFill>
                      <a:schemeClr val="bg1">
                        <a:lumMod val="85000"/>
                      </a:schemeClr>
                    </a:solidFill>
                  </a:tcPr>
                </a:tc>
                <a:tc>
                  <a:txBody>
                    <a:bodyPr/>
                    <a:lstStyle/>
                    <a:p>
                      <a:r>
                        <a:rPr lang="en-US" sz="1000" dirty="0"/>
                        <a:t>Divides data into ten parts</a:t>
                      </a:r>
                    </a:p>
                    <a:p>
                      <a:pPr marL="171450" indent="-171450">
                        <a:buFont typeface="Arial" panose="020B0604020202020204" pitchFamily="34" charset="0"/>
                        <a:buChar char="•"/>
                      </a:pPr>
                      <a:r>
                        <a:rPr lang="en-US" sz="1000" dirty="0"/>
                        <a:t>First decile (D1): 10% of the data falls below this value.</a:t>
                      </a:r>
                    </a:p>
                    <a:p>
                      <a:pPr marL="171450" indent="-171450">
                        <a:buFont typeface="Arial" panose="020B0604020202020204" pitchFamily="34" charset="0"/>
                        <a:buChar char="•"/>
                      </a:pPr>
                      <a:r>
                        <a:rPr lang="en-US" sz="1000" dirty="0"/>
                        <a:t>Second decile (D2): 20% of the data falls below this value.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Third decile (D3): 30% of the data falls below this value.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Fourth decile (D4): 40% of the data falls below this value.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Fifth decile (D5): 50% of the data falls below this value. The median.</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Sixth decile (D6): 60% of the data falls below this value.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Seventh decile (D7): 70% of the data falls below this value.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Eighth decile (D8): 80% of the data falls below this value.</a:t>
                      </a:r>
                    </a:p>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lang="en-US" sz="1000" dirty="0"/>
                        <a:t>Ninth decile (D9): 90% of the data falls below this value.</a:t>
                      </a:r>
                    </a:p>
                    <a:p>
                      <a:pPr marL="171450" indent="-171450">
                        <a:buFont typeface="Arial" panose="020B0604020202020204" pitchFamily="34" charset="0"/>
                        <a:buChar char="•"/>
                      </a:pPr>
                      <a:endParaRPr lang="en-US" sz="1000" dirty="0"/>
                    </a:p>
                  </a:txBody>
                  <a:tcPr marL="68580" marR="68580" marT="34290" marB="34290">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t>Similar to quartiles, but more beneficial for larger datasets</a:t>
                      </a:r>
                    </a:p>
                    <a:p>
                      <a:endParaRPr lang="en-US" sz="1000" dirty="0"/>
                    </a:p>
                  </a:txBody>
                  <a:tcPr marL="68580" marR="68580" marT="34290" marB="34290">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cap="none" dirty="0">
                          <a:solidFill>
                            <a:schemeClr val="dk1"/>
                          </a:solidFill>
                          <a:effectLst/>
                          <a:latin typeface="+mn-lt"/>
                          <a:ea typeface="+mn-ea"/>
                          <a:cs typeface="+mn-cs"/>
                          <a:sym typeface="Arial"/>
                        </a:rPr>
                        <a:t>In the same dataset, it has been calculated that the ninth decile (D9) is 85 bpm, meaning 90% of participants have a heart rate below 85 bpm.</a:t>
                      </a:r>
                      <a:endParaRPr lang="en-US" sz="1000" b="0" dirty="0"/>
                    </a:p>
                  </a:txBody>
                  <a:tcPr marL="68580" marR="68580" marT="34290" marB="34290">
                    <a:solidFill>
                      <a:schemeClr val="bg1">
                        <a:lumMod val="85000"/>
                      </a:schemeClr>
                    </a:solidFill>
                  </a:tcPr>
                </a:tc>
                <a:extLst>
                  <a:ext uri="{0D108BD9-81ED-4DB2-BD59-A6C34878D82A}">
                    <a16:rowId xmlns:a16="http://schemas.microsoft.com/office/drawing/2014/main" val="1043388"/>
                  </a:ext>
                </a:extLst>
              </a:tr>
            </a:tbl>
          </a:graphicData>
        </a:graphic>
      </p:graphicFrame>
    </p:spTree>
    <p:extLst>
      <p:ext uri="{BB962C8B-B14F-4D97-AF65-F5344CB8AC3E}">
        <p14:creationId xmlns:p14="http://schemas.microsoft.com/office/powerpoint/2010/main" val="1944818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76202-C526-FFEC-5C1F-06D37DC429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41141-C838-7CB1-9DC5-6CBF26FDF1B4}"/>
              </a:ext>
            </a:extLst>
          </p:cNvPr>
          <p:cNvSpPr>
            <a:spLocks noGrp="1"/>
          </p:cNvSpPr>
          <p:nvPr>
            <p:ph type="title"/>
          </p:nvPr>
        </p:nvSpPr>
        <p:spPr>
          <a:xfrm>
            <a:off x="311700" y="149195"/>
            <a:ext cx="8520600" cy="572700"/>
          </a:xfrm>
        </p:spPr>
        <p:txBody>
          <a:bodyPr/>
          <a:lstStyle/>
          <a:p>
            <a:r>
              <a:rPr lang="en-US" dirty="0">
                <a:solidFill>
                  <a:schemeClr val="accent1"/>
                </a:solidFill>
                <a:latin typeface="Arial" panose="020B0604020202020204" pitchFamily="34" charset="0"/>
                <a:cs typeface="Arial" panose="020B0604020202020204" pitchFamily="34" charset="0"/>
              </a:rPr>
              <a:t>Proportions and rates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4E9CA4DB-4210-0F4E-AC56-84C576C4AD30}"/>
                  </a:ext>
                </a:extLst>
              </p:cNvPr>
              <p:cNvGraphicFramePr>
                <a:graphicFrameLocks noGrp="1"/>
              </p:cNvGraphicFramePr>
              <p:nvPr>
                <p:ph idx="1"/>
                <p:extLst>
                  <p:ext uri="{D42A27DB-BD31-4B8C-83A1-F6EECF244321}">
                    <p14:modId xmlns:p14="http://schemas.microsoft.com/office/powerpoint/2010/main" val="4204900802"/>
                  </p:ext>
                </p:extLst>
              </p:nvPr>
            </p:nvGraphicFramePr>
            <p:xfrm>
              <a:off x="180976" y="844728"/>
              <a:ext cx="8782047" cy="4311193"/>
            </p:xfrm>
            <a:graphic>
              <a:graphicData uri="http://schemas.openxmlformats.org/drawingml/2006/table">
                <a:tbl>
                  <a:tblPr/>
                  <a:tblGrid>
                    <a:gridCol w="969843">
                      <a:extLst>
                        <a:ext uri="{9D8B030D-6E8A-4147-A177-3AD203B41FA5}">
                          <a16:colId xmlns:a16="http://schemas.microsoft.com/office/drawing/2014/main" val="1209147392"/>
                        </a:ext>
                      </a:extLst>
                    </a:gridCol>
                    <a:gridCol w="2885444">
                      <a:extLst>
                        <a:ext uri="{9D8B030D-6E8A-4147-A177-3AD203B41FA5}">
                          <a16:colId xmlns:a16="http://schemas.microsoft.com/office/drawing/2014/main" val="3281974425"/>
                        </a:ext>
                      </a:extLst>
                    </a:gridCol>
                    <a:gridCol w="1116115">
                      <a:extLst>
                        <a:ext uri="{9D8B030D-6E8A-4147-A177-3AD203B41FA5}">
                          <a16:colId xmlns:a16="http://schemas.microsoft.com/office/drawing/2014/main" val="4093091222"/>
                        </a:ext>
                      </a:extLst>
                    </a:gridCol>
                    <a:gridCol w="3810645">
                      <a:extLst>
                        <a:ext uri="{9D8B030D-6E8A-4147-A177-3AD203B41FA5}">
                          <a16:colId xmlns:a16="http://schemas.microsoft.com/office/drawing/2014/main" val="2619532457"/>
                        </a:ext>
                      </a:extLst>
                    </a:gridCol>
                  </a:tblGrid>
                  <a:tr h="359110">
                    <a:tc>
                      <a:txBody>
                        <a:bodyPr/>
                        <a:lstStyle/>
                        <a:p>
                          <a:pPr algn="l" fontAlgn="base">
                            <a:lnSpc>
                              <a:spcPts val="2175"/>
                            </a:lnSpc>
                          </a:pPr>
                          <a:r>
                            <a:rPr lang="en-US" sz="1200" b="1" i="0" dirty="0">
                              <a:solidFill>
                                <a:srgbClr val="FFFFFF"/>
                              </a:solidFill>
                              <a:effectLst/>
                              <a:latin typeface="+mn-lt"/>
                            </a:rPr>
                            <a:t>Measure​</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mn-lt"/>
                            </a:rPr>
                            <a:t>Definition​</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mn-lt"/>
                            </a:rPr>
                            <a:t>When to Use​</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mn-lt"/>
                            </a:rPr>
                            <a:t>Example​</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972300">
                    <a:tc>
                      <a:txBody>
                        <a:bodyPr/>
                        <a:lstStyle/>
                        <a:p>
                          <a:pPr algn="l" fontAlgn="base">
                            <a:lnSpc>
                              <a:spcPct val="100000"/>
                            </a:lnSpc>
                          </a:pPr>
                          <a:r>
                            <a:rPr lang="en-US" sz="1000" b="0" i="0" dirty="0">
                              <a:solidFill>
                                <a:srgbClr val="000000"/>
                              </a:solidFill>
                              <a:effectLst/>
                              <a:latin typeface="+mn-lt"/>
                              <a:cs typeface="Arial" panose="020B0604020202020204" pitchFamily="34" charset="0"/>
                            </a:rPr>
                            <a:t>Prevalence</a:t>
                          </a:r>
                        </a:p>
                        <a:p>
                          <a:pPr algn="l" fontAlgn="base">
                            <a:lnSpc>
                              <a:spcPct val="100000"/>
                            </a:lnSpc>
                          </a:pPr>
                          <a:r>
                            <a:rPr lang="en-US" sz="1000" b="0" i="0" dirty="0">
                              <a:solidFill>
                                <a:srgbClr val="000000"/>
                              </a:solidFill>
                              <a:effectLst/>
                              <a:latin typeface="+mn-lt"/>
                              <a:cs typeface="Arial" panose="020B0604020202020204" pitchFamily="34" charset="0"/>
                            </a:rPr>
                            <a: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The proportion of individuals in a population who have a condition at a specific point in time</a:t>
                          </a:r>
                        </a:p>
                        <a:p>
                          <a:pPr algn="l" fontAlgn="base">
                            <a:lnSpc>
                              <a:spcPct val="100000"/>
                            </a:lnSpc>
                          </a:pPr>
                          <a:endParaRPr lang="en-US" sz="1000" b="0" i="0" u="none" strike="noStrike" cap="none" dirty="0">
                            <a:solidFill>
                              <a:schemeClr val="tx1"/>
                            </a:solidFill>
                            <a:effectLst/>
                            <a:latin typeface="+mn-lt"/>
                            <a:ea typeface="+mn-ea"/>
                            <a:cs typeface="Arial" panose="020B0604020202020204" pitchFamily="34" charset="0"/>
                            <a:sym typeface="Arial"/>
                          </a:endParaRPr>
                        </a:p>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Prevalence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ctrlPr>
                                </m:fPr>
                                <m:num>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𝑁𝑢𝑚𝑏𝑒𝑟</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𝑜𝑓</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𝑒𝑥𝑖𝑠𝑡𝑖𝑛𝑔</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𝑐𝑎𝑠𝑒𝑠</m:t>
                                  </m:r>
                                </m:num>
                                <m:den>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𝑇𝑜𝑡𝑎𝑙</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𝑝𝑜𝑝𝑢𝑙𝑎𝑡𝑖𝑜𝑛</m:t>
                                  </m:r>
                                </m:den>
                              </m:f>
                            </m:oMath>
                          </a14:m>
                          <a:r>
                            <a:rPr lang="en-US" sz="1000" b="0" i="0" u="none" strike="noStrike" cap="none" dirty="0">
                              <a:solidFill>
                                <a:schemeClr val="tx1"/>
                              </a:solidFill>
                              <a:effectLst/>
                              <a:latin typeface="+mn-lt"/>
                              <a:ea typeface="+mn-ea"/>
                              <a:cs typeface="Arial" panose="020B0604020202020204" pitchFamily="34" charset="0"/>
                              <a:sym typeface="Arial"/>
                            </a:rPr>
                            <a:t> </a:t>
                          </a:r>
                          <a14:m>
                            <m:oMath xmlns:m="http://schemas.openxmlformats.org/officeDocument/2006/math">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Arial" panose="020B0604020202020204" pitchFamily="34" charset="0"/>
                                  <a:sym typeface="Arial"/>
                                </a:rPr>
                                <m:t>× 100</m:t>
                              </m:r>
                            </m:oMath>
                          </a14:m>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dirty="0">
                              <a:solidFill>
                                <a:srgbClr val="000000"/>
                              </a:solidFill>
                              <a:effectLst/>
                              <a:latin typeface="+mn-lt"/>
                              <a:cs typeface="Arial" panose="020B0604020202020204" pitchFamily="34" charset="0"/>
                            </a:rPr>
                            <a:t>To describe </a:t>
                          </a:r>
                          <a:r>
                            <a:rPr lang="en-US" sz="1000" b="0" i="0" u="none" strike="noStrike" cap="none" dirty="0">
                              <a:solidFill>
                                <a:schemeClr val="tx1"/>
                              </a:solidFill>
                              <a:effectLst/>
                              <a:latin typeface="+mn-lt"/>
                              <a:ea typeface="+mn-ea"/>
                              <a:cs typeface="Arial" panose="020B0604020202020204" pitchFamily="34" charset="0"/>
                              <a:sym typeface="Arial"/>
                            </a:rPr>
                            <a:t>how common a disease or condition is within a population.</a:t>
                          </a:r>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A health clinic surveys 200 adults. A researcher finds that 60 adults within the survey population have</a:t>
                          </a:r>
                          <a:r>
                            <a:rPr lang="en-US" sz="1000" b="0" i="0" u="none" strike="noStrike" cap="none" baseline="0" dirty="0">
                              <a:solidFill>
                                <a:schemeClr val="tx1"/>
                              </a:solidFill>
                              <a:effectLst/>
                              <a:latin typeface="+mn-lt"/>
                              <a:ea typeface="+mn-ea"/>
                              <a:cs typeface="Arial" panose="020B0604020202020204" pitchFamily="34" charset="0"/>
                              <a:sym typeface="Arial"/>
                            </a:rPr>
                            <a:t> high blood pressure. </a:t>
                          </a:r>
                          <a:r>
                            <a:rPr lang="en-US" sz="1000" b="0" i="0" u="none" strike="noStrike" cap="none" dirty="0">
                              <a:solidFill>
                                <a:schemeClr val="tx1"/>
                              </a:solidFill>
                              <a:effectLst/>
                              <a:latin typeface="+mn-lt"/>
                              <a:ea typeface="+mn-ea"/>
                              <a:cs typeface="Arial" panose="020B0604020202020204" pitchFamily="34" charset="0"/>
                              <a:sym typeface="Arial"/>
                            </a:rPr>
                            <a:t>The prevalence would be calculated as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ctrlPr>
                                </m:fPr>
                                <m:num>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60</m:t>
                                  </m:r>
                                </m:num>
                                <m:den>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200</m:t>
                                  </m:r>
                                </m:den>
                              </m:f>
                            </m:oMath>
                          </a14:m>
                          <a:r>
                            <a:rPr lang="en-US" sz="1000" b="0" dirty="0">
                              <a:latin typeface="+mn-lt"/>
                              <a:cs typeface="Arial" panose="020B0604020202020204" pitchFamily="34" charset="0"/>
                            </a:rPr>
                            <a:t>  x (100) = 30%</a:t>
                          </a:r>
                          <a:br>
                            <a:rPr lang="en-US" sz="1000" b="0" dirty="0">
                              <a:latin typeface="+mn-lt"/>
                              <a:cs typeface="Arial" panose="020B0604020202020204" pitchFamily="34" charset="0"/>
                            </a:rPr>
                          </a:br>
                          <a:endParaRPr lang="en-US" sz="1000" b="0" dirty="0">
                            <a:latin typeface="+mn-lt"/>
                            <a:cs typeface="Arial" panose="020B0604020202020204" pitchFamily="34" charset="0"/>
                          </a:endParaRPr>
                        </a:p>
                        <a:p>
                          <a:pPr algn="l" fontAlgn="base">
                            <a:lnSpc>
                              <a:spcPct val="100000"/>
                            </a:lnSpc>
                          </a:pPr>
                          <a:r>
                            <a:rPr lang="en-US" sz="1000" b="0" i="0" dirty="0">
                              <a:solidFill>
                                <a:srgbClr val="000000"/>
                              </a:solidFill>
                              <a:effectLst/>
                              <a:latin typeface="+mn-lt"/>
                              <a:cs typeface="Arial" panose="020B0604020202020204" pitchFamily="34" charset="0"/>
                            </a:rPr>
                            <a:t>Therefore 30% of the sample has high blood pressure.</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97400344"/>
                      </a:ext>
                    </a:extLst>
                  </a:tr>
                  <a:tr h="2877937">
                    <a:tc>
                      <a:txBody>
                        <a:bodyPr/>
                        <a:lstStyle/>
                        <a:p>
                          <a:pPr algn="l" fontAlgn="base">
                            <a:lnSpc>
                              <a:spcPct val="100000"/>
                            </a:lnSpc>
                          </a:pPr>
                          <a:r>
                            <a:rPr lang="en-US" sz="1000" b="0" i="0" dirty="0">
                              <a:solidFill>
                                <a:srgbClr val="000000"/>
                              </a:solidFill>
                              <a:effectLst/>
                              <a:latin typeface="+mn-lt"/>
                              <a:cs typeface="Arial" panose="020B0604020202020204" pitchFamily="34" charset="0"/>
                            </a:rPr>
                            <a:t>Risk Ratio (Relative risk)</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The ratio of the probability of an outcome in an exposed group compared to an unexposed group.</a:t>
                          </a:r>
                        </a:p>
                        <a:p>
                          <a:pPr algn="l" fontAlgn="base">
                            <a:lnSpc>
                              <a:spcPct val="100000"/>
                            </a:lnSpc>
                          </a:pPr>
                          <a:endParaRPr lang="en-US" sz="1000" b="0" i="0" u="none" strike="noStrike" cap="none" dirty="0">
                            <a:solidFill>
                              <a:schemeClr val="tx1"/>
                            </a:solidFill>
                            <a:effectLst/>
                            <a:latin typeface="+mn-lt"/>
                            <a:ea typeface="+mn-ea"/>
                            <a:cs typeface="Arial" panose="020B0604020202020204" pitchFamily="34" charset="0"/>
                            <a:sym typeface="Arial"/>
                          </a:endParaRPr>
                        </a:p>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RR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ctrlPr>
                                </m:fPr>
                                <m:num>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𝑅𝑖𝑠𝑘</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𝑖𝑛</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𝑒𝑥𝑝𝑜𝑠𝑒𝑑</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𝑔𝑟𝑜𝑢𝑝</m:t>
                                  </m:r>
                                </m:num>
                                <m:den>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𝑅𝑖𝑠𝑘</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𝑖𝑛</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𝑢𝑛𝑒𝑥𝑝𝑜𝑠𝑒𝑑</m:t>
                                  </m:r>
                                  <m:r>
                                    <a:rPr lang="en-US" sz="1000" b="0" i="1" u="none" strike="noStrike" cap="none" smtClean="0">
                                      <a:solidFill>
                                        <a:schemeClr val="tx1"/>
                                      </a:solidFill>
                                      <a:effectLst/>
                                      <a:latin typeface="Cambria Math" panose="02040503050406030204" pitchFamily="18" charset="0"/>
                                      <a:ea typeface="+mn-ea"/>
                                      <a:cs typeface="Arial" panose="020B0604020202020204" pitchFamily="34" charset="0"/>
                                      <a:sym typeface="Arial"/>
                                    </a:rPr>
                                    <m:t> </m:t>
                                  </m:r>
                                </m:den>
                              </m:f>
                            </m:oMath>
                          </a14:m>
                          <a:endParaRPr lang="en-US" sz="1000" b="0" i="0" u="none" strike="noStrike" cap="none" dirty="0">
                            <a:solidFill>
                              <a:schemeClr val="tx1"/>
                            </a:solidFill>
                            <a:effectLst/>
                            <a:latin typeface="+mn-lt"/>
                            <a:ea typeface="+mn-ea"/>
                            <a:cs typeface="Arial" panose="020B0604020202020204" pitchFamily="34" charset="0"/>
                            <a:sym typeface="Arial"/>
                          </a:endParaRPr>
                        </a:p>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      =</a:t>
                          </a:r>
                          <a14:m>
                            <m:oMath xmlns:m="http://schemas.openxmlformats.org/officeDocument/2006/math">
                              <m:r>
                                <a:rPr lang="en-US" sz="1000" b="0" i="0" u="none" strike="noStrike" cap="none" smtClean="0">
                                  <a:solidFill>
                                    <a:schemeClr val="tx1"/>
                                  </a:solidFill>
                                  <a:effectLst/>
                                  <a:latin typeface="Cambria Math" panose="02040503050406030204" pitchFamily="18" charset="0"/>
                                  <a:ea typeface="+mn-ea"/>
                                  <a:cs typeface="+mn-cs"/>
                                  <a:sym typeface="Arial"/>
                                </a:rPr>
                                <m:t> </m:t>
                              </m:r>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𝑎</m:t>
                                  </m:r>
                                  <m:r>
                                    <a:rPr lang="en-US" sz="1000" b="0" i="1" u="none" strike="noStrike" cap="none" smtClean="0">
                                      <a:solidFill>
                                        <a:schemeClr val="tx1"/>
                                      </a:solidFill>
                                      <a:effectLst/>
                                      <a:latin typeface="Cambria Math" panose="02040503050406030204" pitchFamily="18" charset="0"/>
                                      <a:ea typeface="+mn-ea"/>
                                      <a:cs typeface="+mn-cs"/>
                                      <a:sym typeface="Arial"/>
                                    </a:rPr>
                                    <m:t>/(</m:t>
                                  </m:r>
                                  <m:r>
                                    <a:rPr lang="en-US" sz="1000" b="0" i="1" u="none" strike="noStrike" cap="none" smtClean="0">
                                      <a:solidFill>
                                        <a:schemeClr val="tx1"/>
                                      </a:solidFill>
                                      <a:effectLst/>
                                      <a:latin typeface="Cambria Math" panose="02040503050406030204" pitchFamily="18" charset="0"/>
                                      <a:ea typeface="+mn-ea"/>
                                      <a:cs typeface="+mn-cs"/>
                                      <a:sym typeface="Arial"/>
                                    </a:rPr>
                                    <m:t>𝑎</m:t>
                                  </m:r>
                                  <m:r>
                                    <a:rPr lang="en-US" sz="1000" b="0" i="1" u="none" strike="noStrike" cap="none" smtClean="0">
                                      <a:solidFill>
                                        <a:schemeClr val="tx1"/>
                                      </a:solidFill>
                                      <a:effectLst/>
                                      <a:latin typeface="Cambria Math" panose="02040503050406030204" pitchFamily="18" charset="0"/>
                                      <a:ea typeface="+mn-ea"/>
                                      <a:cs typeface="+mn-cs"/>
                                      <a:sym typeface="Arial"/>
                                    </a:rPr>
                                    <m:t>+</m:t>
                                  </m:r>
                                  <m:r>
                                    <a:rPr lang="en-US" sz="1000" b="0" i="1" u="none" strike="noStrike" cap="none" smtClean="0">
                                      <a:solidFill>
                                        <a:schemeClr val="tx1"/>
                                      </a:solidFill>
                                      <a:effectLst/>
                                      <a:latin typeface="Cambria Math" panose="02040503050406030204" pitchFamily="18" charset="0"/>
                                      <a:ea typeface="+mn-ea"/>
                                      <a:cs typeface="+mn-cs"/>
                                      <a:sym typeface="Arial"/>
                                    </a:rPr>
                                    <m:t>𝑏</m:t>
                                  </m:r>
                                  <m:r>
                                    <a:rPr lang="en-US" sz="1000" b="0" i="1" u="none" strike="noStrike" cap="none" smtClean="0">
                                      <a:solidFill>
                                        <a:schemeClr val="tx1"/>
                                      </a:solidFill>
                                      <a:effectLst/>
                                      <a:latin typeface="Cambria Math" panose="02040503050406030204" pitchFamily="18" charset="0"/>
                                      <a:ea typeface="+mn-ea"/>
                                      <a:cs typeface="+mn-cs"/>
                                      <a:sym typeface="Arial"/>
                                    </a:rPr>
                                    <m:t>)</m:t>
                                  </m:r>
                                </m:num>
                                <m:den>
                                  <m:r>
                                    <a:rPr lang="en-US" sz="1000" b="0" i="1" u="none" strike="noStrike" cap="none" smtClean="0">
                                      <a:solidFill>
                                        <a:schemeClr val="tx1"/>
                                      </a:solidFill>
                                      <a:effectLst/>
                                      <a:latin typeface="Cambria Math" panose="02040503050406030204" pitchFamily="18" charset="0"/>
                                      <a:ea typeface="+mn-ea"/>
                                      <a:cs typeface="+mn-cs"/>
                                      <a:sym typeface="Arial"/>
                                    </a:rPr>
                                    <m:t>𝑐</m:t>
                                  </m:r>
                                  <m:r>
                                    <a:rPr lang="en-US" sz="1000" b="0" i="1" u="none" strike="noStrike" cap="none" smtClean="0">
                                      <a:solidFill>
                                        <a:schemeClr val="tx1"/>
                                      </a:solidFill>
                                      <a:effectLst/>
                                      <a:latin typeface="Cambria Math" panose="02040503050406030204" pitchFamily="18" charset="0"/>
                                      <a:ea typeface="+mn-ea"/>
                                      <a:cs typeface="+mn-cs"/>
                                      <a:sym typeface="Arial"/>
                                    </a:rPr>
                                    <m:t>/(</m:t>
                                  </m:r>
                                  <m:r>
                                    <a:rPr lang="en-US" sz="1000" b="0" i="1" u="none" strike="noStrike" cap="none" smtClean="0">
                                      <a:solidFill>
                                        <a:schemeClr val="tx1"/>
                                      </a:solidFill>
                                      <a:effectLst/>
                                      <a:latin typeface="Cambria Math" panose="02040503050406030204" pitchFamily="18" charset="0"/>
                                      <a:ea typeface="+mn-ea"/>
                                      <a:cs typeface="+mn-cs"/>
                                      <a:sym typeface="Arial"/>
                                    </a:rPr>
                                    <m:t>𝑐</m:t>
                                  </m:r>
                                  <m:r>
                                    <a:rPr lang="en-US" sz="1000" b="0" i="1" u="none" strike="noStrike" cap="none" smtClean="0">
                                      <a:solidFill>
                                        <a:schemeClr val="tx1"/>
                                      </a:solidFill>
                                      <a:effectLst/>
                                      <a:latin typeface="Cambria Math" panose="02040503050406030204" pitchFamily="18" charset="0"/>
                                      <a:ea typeface="+mn-ea"/>
                                      <a:cs typeface="+mn-cs"/>
                                      <a:sym typeface="Arial"/>
                                    </a:rPr>
                                    <m:t>+</m:t>
                                  </m:r>
                                  <m:r>
                                    <a:rPr lang="en-US" sz="1000" b="0" i="1" u="none" strike="noStrike" cap="none" smtClean="0">
                                      <a:solidFill>
                                        <a:schemeClr val="tx1"/>
                                      </a:solidFill>
                                      <a:effectLst/>
                                      <a:latin typeface="Cambria Math" panose="02040503050406030204" pitchFamily="18" charset="0"/>
                                      <a:ea typeface="+mn-ea"/>
                                      <a:cs typeface="+mn-cs"/>
                                      <a:sym typeface="Arial"/>
                                    </a:rPr>
                                    <m:t>𝑑</m:t>
                                  </m:r>
                                  <m:r>
                                    <a:rPr lang="en-US" sz="1000" b="0" i="1" u="none" strike="noStrike" cap="none" smtClean="0">
                                      <a:solidFill>
                                        <a:schemeClr val="tx1"/>
                                      </a:solidFill>
                                      <a:effectLst/>
                                      <a:latin typeface="Cambria Math" panose="02040503050406030204" pitchFamily="18" charset="0"/>
                                      <a:ea typeface="+mn-ea"/>
                                      <a:cs typeface="+mn-cs"/>
                                      <a:sym typeface="Arial"/>
                                    </a:rPr>
                                    <m:t>)</m:t>
                                  </m:r>
                                </m:den>
                              </m:f>
                            </m:oMath>
                          </a14:m>
                          <a:r>
                            <a:rPr lang="en-US" sz="1000" b="0" i="0" u="none" strike="noStrike" cap="none" dirty="0">
                              <a:solidFill>
                                <a:schemeClr val="tx1"/>
                              </a:solidFill>
                              <a:effectLst/>
                              <a:latin typeface="+mn-lt"/>
                              <a:ea typeface="+mn-ea"/>
                              <a:cs typeface="Arial" panose="020B0604020202020204" pitchFamily="34" charset="0"/>
                              <a:sym typeface="Arial"/>
                            </a:rPr>
                            <a:t> </a:t>
                          </a:r>
                        </a:p>
                        <a:p>
                          <a:pPr algn="l" fontAlgn="base">
                            <a:lnSpc>
                              <a:spcPct val="100000"/>
                            </a:lnSpc>
                          </a:pPr>
                          <a:endParaRPr lang="en-US" sz="1000" b="0" i="0" u="none" strike="noStrike" cap="none" dirty="0">
                            <a:solidFill>
                              <a:schemeClr val="tx1"/>
                            </a:solidFill>
                            <a:effectLst/>
                            <a:latin typeface="+mn-lt"/>
                            <a:ea typeface="+mn-ea"/>
                            <a:cs typeface="Arial" panose="020B0604020202020204" pitchFamily="34" charset="0"/>
                            <a:sym typeface="Arial"/>
                          </a:endParaRPr>
                        </a:p>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Where:</a:t>
                          </a:r>
                        </a:p>
                        <a:p>
                          <a:pPr marL="285750" indent="-285750">
                            <a:buFont typeface="Arial" panose="020B0604020202020204" pitchFamily="34" charset="0"/>
                            <a:buChar char="•"/>
                          </a:pPr>
                          <a:r>
                            <a:rPr lang="en-US" sz="1000" b="0" i="0" u="none" strike="noStrike" cap="none" dirty="0">
                              <a:solidFill>
                                <a:schemeClr val="tx1"/>
                              </a:solidFill>
                              <a:effectLst/>
                              <a:latin typeface="+mn-lt"/>
                              <a:ea typeface="+mn-ea"/>
                              <a:cs typeface="Arial" panose="020B0604020202020204" pitchFamily="34" charset="0"/>
                              <a:sym typeface="Arial"/>
                            </a:rPr>
                            <a:t>a = # with outcome in exposed group</a:t>
                          </a:r>
                        </a:p>
                        <a:p>
                          <a:pPr marL="285750" indent="-285750">
                            <a:buFont typeface="Arial" panose="020B0604020202020204" pitchFamily="34" charset="0"/>
                            <a:buChar char="•"/>
                          </a:pPr>
                          <a:r>
                            <a:rPr lang="en-US" sz="1000" b="0" i="0" u="none" strike="noStrike" cap="none" dirty="0">
                              <a:solidFill>
                                <a:schemeClr val="tx1"/>
                              </a:solidFill>
                              <a:effectLst/>
                              <a:latin typeface="+mn-lt"/>
                              <a:ea typeface="+mn-ea"/>
                              <a:cs typeface="Arial" panose="020B0604020202020204" pitchFamily="34" charset="0"/>
                              <a:sym typeface="Arial"/>
                            </a:rPr>
                            <a:t>b = # without outcome in exposed group</a:t>
                          </a:r>
                        </a:p>
                        <a:p>
                          <a:pPr marL="285750" indent="-285750">
                            <a:buFont typeface="Arial" panose="020B0604020202020204" pitchFamily="34" charset="0"/>
                            <a:buChar char="•"/>
                          </a:pPr>
                          <a:r>
                            <a:rPr lang="en-US" sz="1000" b="0" i="0" u="none" strike="noStrike" cap="none" dirty="0">
                              <a:solidFill>
                                <a:schemeClr val="tx1"/>
                              </a:solidFill>
                              <a:effectLst/>
                              <a:latin typeface="+mn-lt"/>
                              <a:ea typeface="+mn-ea"/>
                              <a:cs typeface="Arial" panose="020B0604020202020204" pitchFamily="34" charset="0"/>
                              <a:sym typeface="Arial"/>
                            </a:rPr>
                            <a:t>c = # with outcome in unexposed group</a:t>
                          </a:r>
                        </a:p>
                        <a:p>
                          <a:pPr marL="285750" indent="-285750">
                            <a:buFont typeface="Arial" panose="020B0604020202020204" pitchFamily="34" charset="0"/>
                            <a:buChar char="•"/>
                          </a:pPr>
                          <a:r>
                            <a:rPr lang="en-US" sz="1000" b="0" i="0" u="none" strike="noStrike" cap="none" dirty="0">
                              <a:solidFill>
                                <a:schemeClr val="tx1"/>
                              </a:solidFill>
                              <a:effectLst/>
                              <a:latin typeface="+mn-lt"/>
                              <a:ea typeface="+mn-ea"/>
                              <a:cs typeface="Arial" panose="020B0604020202020204" pitchFamily="34" charset="0"/>
                              <a:sym typeface="Arial"/>
                            </a:rPr>
                            <a:t>d= # without outcome in unexposed group</a:t>
                          </a:r>
                        </a:p>
                        <a:p>
                          <a:pPr marL="285750" indent="-285750">
                            <a:buFont typeface="Arial" panose="020B0604020202020204" pitchFamily="34" charset="0"/>
                            <a:buChar char="•"/>
                          </a:pPr>
                          <a:endParaRPr lang="en-US" sz="1000" b="0" i="0" u="none" strike="noStrike" cap="none" dirty="0">
                            <a:solidFill>
                              <a:schemeClr val="tx1"/>
                            </a:solidFill>
                            <a:effectLst/>
                            <a:latin typeface="+mn-lt"/>
                            <a:ea typeface="+mn-ea"/>
                            <a:cs typeface="Arial" panose="020B0604020202020204" pitchFamily="34" charset="0"/>
                            <a:sym typeface="Arial"/>
                          </a:endParaRPr>
                        </a:p>
                        <a:p>
                          <a:r>
                            <a:rPr lang="en-US" sz="1000" b="0" i="0" u="none" strike="noStrike" cap="none" dirty="0">
                              <a:solidFill>
                                <a:schemeClr val="tx1"/>
                              </a:solidFill>
                              <a:effectLst/>
                              <a:latin typeface="+mn-lt"/>
                              <a:ea typeface="+mn-ea"/>
                              <a:cs typeface="+mn-cs"/>
                              <a:sym typeface="Arial"/>
                            </a:rPr>
                            <a:t>If…</a:t>
                          </a:r>
                        </a:p>
                        <a:p>
                          <a:r>
                            <a:rPr lang="en-US" sz="1000" b="0" i="0" u="none" strike="noStrike" cap="none" dirty="0">
                              <a:solidFill>
                                <a:schemeClr val="tx1"/>
                              </a:solidFill>
                              <a:effectLst/>
                              <a:latin typeface="+mn-lt"/>
                              <a:ea typeface="+mn-ea"/>
                              <a:cs typeface="+mn-cs"/>
                              <a:sym typeface="Arial"/>
                            </a:rPr>
                            <a:t>RR = 1: there is no association</a:t>
                          </a:r>
                        </a:p>
                        <a:p>
                          <a:r>
                            <a:rPr lang="en-US" sz="1000" b="0" i="0" u="none" strike="noStrike" cap="none" dirty="0">
                              <a:solidFill>
                                <a:schemeClr val="tx1"/>
                              </a:solidFill>
                              <a:effectLst/>
                              <a:latin typeface="+mn-lt"/>
                              <a:ea typeface="+mn-ea"/>
                              <a:cs typeface="+mn-cs"/>
                              <a:sym typeface="Arial"/>
                            </a:rPr>
                            <a:t>RR &gt; 1: exposure increases risk for disease  </a:t>
                          </a:r>
                        </a:p>
                        <a:p>
                          <a:r>
                            <a:rPr lang="en-US" sz="1000" b="0" i="0" u="none" strike="noStrike" cap="none" dirty="0">
                              <a:solidFill>
                                <a:schemeClr val="tx1"/>
                              </a:solidFill>
                              <a:effectLst/>
                              <a:latin typeface="+mn-lt"/>
                              <a:ea typeface="+mn-ea"/>
                              <a:cs typeface="+mn-cs"/>
                              <a:sym typeface="Arial"/>
                            </a:rPr>
                            <a:t>RR &lt; 1: exposure decreases risk for disease</a:t>
                          </a:r>
                        </a:p>
                        <a:p>
                          <a:pPr algn="l" fontAlgn="base">
                            <a:lnSpc>
                              <a:spcPct val="100000"/>
                            </a:lnSpc>
                          </a:pPr>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In cohort studies or clinical trials to compare risk between two groups.</a:t>
                          </a:r>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000" b="0" i="0" u="none" strike="noStrike" cap="none" dirty="0">
                              <a:solidFill>
                                <a:schemeClr val="tx1"/>
                              </a:solidFill>
                              <a:effectLst/>
                              <a:latin typeface="+mn-lt"/>
                              <a:ea typeface="+mn-ea"/>
                              <a:cs typeface="Arial" panose="020B0604020202020204" pitchFamily="34" charset="0"/>
                              <a:sym typeface="Arial"/>
                            </a:rPr>
                            <a:t>In the same study, </a:t>
                          </a:r>
                          <a:r>
                            <a:rPr lang="en-US" sz="1000" b="0" i="0" u="none" strike="noStrike" cap="none" dirty="0">
                              <a:solidFill>
                                <a:schemeClr val="tx1"/>
                              </a:solidFill>
                              <a:effectLst/>
                              <a:latin typeface="+mn-lt"/>
                              <a:ea typeface="+mn-ea"/>
                              <a:cs typeface="+mn-cs"/>
                              <a:sym typeface="Arial"/>
                            </a:rPr>
                            <a:t>100 people exercise regularly and 20 of these individuals have high blood pressure. Additionally, it was found </a:t>
                          </a:r>
                          <a:r>
                            <a:rPr lang="en-US" sz="1000" b="0" i="0" u="none" strike="noStrike" cap="none" dirty="0">
                              <a:solidFill>
                                <a:schemeClr val="tx1"/>
                              </a:solidFill>
                              <a:effectLst/>
                              <a:latin typeface="+mn-lt"/>
                              <a:ea typeface="+mn-ea"/>
                              <a:cs typeface="Arial" panose="020B0604020202020204" pitchFamily="34" charset="0"/>
                              <a:sym typeface="Arial"/>
                            </a:rPr>
                            <a:t>that 100 people do not exercise and 40 of these individuals have high blood pressure.</a:t>
                          </a:r>
                        </a:p>
                        <a:p>
                          <a:endParaRPr lang="en-US" sz="1000" b="0" i="0" u="none" strike="noStrike" cap="none" dirty="0">
                            <a:solidFill>
                              <a:schemeClr val="tx1"/>
                            </a:solidFill>
                            <a:effectLst/>
                            <a:latin typeface="+mn-lt"/>
                            <a:ea typeface="+mn-ea"/>
                            <a:cs typeface="Arial" panose="020B0604020202020204" pitchFamily="34" charset="0"/>
                            <a:sym typeface="Arial"/>
                          </a:endParaRPr>
                        </a:p>
                        <a:p>
                          <a:r>
                            <a:rPr lang="en-US" sz="1000" b="0" i="0" u="none" strike="noStrike" cap="none" dirty="0">
                              <a:solidFill>
                                <a:schemeClr val="tx1"/>
                              </a:solidFill>
                              <a:effectLst/>
                              <a:latin typeface="+mn-lt"/>
                              <a:ea typeface="+mn-ea"/>
                              <a:cs typeface="Arial" panose="020B0604020202020204" pitchFamily="34" charset="0"/>
                              <a:sym typeface="Arial"/>
                            </a:rPr>
                            <a:t>Risk in exercisers=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20</m:t>
                                  </m:r>
                                </m:num>
                                <m:den>
                                  <m:r>
                                    <a:rPr lang="en-US" sz="1000" b="0" i="1" u="none" strike="noStrike" cap="none" smtClean="0">
                                      <a:solidFill>
                                        <a:schemeClr val="tx1"/>
                                      </a:solidFill>
                                      <a:effectLst/>
                                      <a:latin typeface="Cambria Math" panose="02040503050406030204" pitchFamily="18" charset="0"/>
                                      <a:ea typeface="+mn-ea"/>
                                      <a:cs typeface="+mn-cs"/>
                                      <a:sym typeface="Arial"/>
                                    </a:rPr>
                                    <m:t>100</m:t>
                                  </m:r>
                                </m:den>
                              </m:f>
                              <m:r>
                                <a:rPr lang="en-US" sz="1000" b="0" i="0" u="none" strike="noStrike" cap="none" smtClean="0">
                                  <a:solidFill>
                                    <a:schemeClr val="tx1"/>
                                  </a:solidFill>
                                  <a:effectLst/>
                                  <a:latin typeface="Cambria Math" panose="02040503050406030204" pitchFamily="18" charset="0"/>
                                  <a:ea typeface="+mn-ea"/>
                                  <a:cs typeface="+mn-cs"/>
                                  <a:sym typeface="Arial"/>
                                </a:rPr>
                                <m:t> </m:t>
                              </m:r>
                            </m:oMath>
                          </a14:m>
                          <a:r>
                            <a:rPr lang="en-US" sz="1000" b="0" i="0" u="none" strike="noStrike" cap="none" dirty="0">
                              <a:solidFill>
                                <a:schemeClr val="tx1"/>
                              </a:solidFill>
                              <a:effectLst/>
                              <a:latin typeface="+mn-lt"/>
                              <a:ea typeface="+mn-ea"/>
                              <a:cs typeface="Arial" panose="020B0604020202020204" pitchFamily="34" charset="0"/>
                              <a:sym typeface="Arial"/>
                            </a:rPr>
                            <a:t>= 0.20 = 20%</a:t>
                          </a:r>
                        </a:p>
                        <a:p>
                          <a:r>
                            <a:rPr lang="en-US" sz="1000" b="0" i="0" u="none" strike="noStrike" cap="none" dirty="0">
                              <a:solidFill>
                                <a:schemeClr val="tx1"/>
                              </a:solidFill>
                              <a:effectLst/>
                              <a:latin typeface="+mn-lt"/>
                              <a:ea typeface="+mn-ea"/>
                              <a:cs typeface="Arial" panose="020B0604020202020204" pitchFamily="34" charset="0"/>
                              <a:sym typeface="Arial"/>
                            </a:rPr>
                            <a:t>Risk in non-exercisers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40</m:t>
                                  </m:r>
                                </m:num>
                                <m:den>
                                  <m:r>
                                    <a:rPr lang="en-US" sz="1000" b="0" i="1" u="none" strike="noStrike" cap="none" smtClean="0">
                                      <a:solidFill>
                                        <a:schemeClr val="tx1"/>
                                      </a:solidFill>
                                      <a:effectLst/>
                                      <a:latin typeface="Cambria Math" panose="02040503050406030204" pitchFamily="18" charset="0"/>
                                      <a:ea typeface="+mn-ea"/>
                                      <a:cs typeface="+mn-cs"/>
                                      <a:sym typeface="Arial"/>
                                    </a:rPr>
                                    <m:t>100</m:t>
                                  </m:r>
                                </m:den>
                              </m:f>
                            </m:oMath>
                          </a14:m>
                          <a:r>
                            <a:rPr lang="en-US" sz="1000" b="0" i="0" u="none" strike="noStrike" cap="none" dirty="0">
                              <a:solidFill>
                                <a:schemeClr val="tx1"/>
                              </a:solidFill>
                              <a:effectLst/>
                              <a:latin typeface="+mn-lt"/>
                              <a:ea typeface="+mn-ea"/>
                              <a:cs typeface="Arial" panose="020B0604020202020204" pitchFamily="34" charset="0"/>
                              <a:sym typeface="Arial"/>
                            </a:rPr>
                            <a:t> = 0.5 = 40%</a:t>
                          </a:r>
                        </a:p>
                        <a:p>
                          <a:r>
                            <a:rPr lang="en-US" sz="1000" b="0" i="0" u="none" strike="noStrike" cap="none" dirty="0">
                              <a:solidFill>
                                <a:schemeClr val="tx1"/>
                              </a:solidFill>
                              <a:effectLst/>
                              <a:latin typeface="+mn-lt"/>
                              <a:ea typeface="+mn-ea"/>
                              <a:cs typeface="Arial" panose="020B0604020202020204" pitchFamily="34" charset="0"/>
                              <a:sym typeface="Arial"/>
                            </a:rPr>
                            <a:t>RR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0.2</m:t>
                                  </m:r>
                                </m:num>
                                <m:den>
                                  <m:r>
                                    <a:rPr lang="en-US" sz="1000" b="0" i="1" u="none" strike="noStrike" cap="none" smtClean="0">
                                      <a:solidFill>
                                        <a:schemeClr val="tx1"/>
                                      </a:solidFill>
                                      <a:effectLst/>
                                      <a:latin typeface="Cambria Math" panose="02040503050406030204" pitchFamily="18" charset="0"/>
                                      <a:ea typeface="+mn-ea"/>
                                      <a:cs typeface="+mn-cs"/>
                                      <a:sym typeface="Arial"/>
                                    </a:rPr>
                                    <m:t>0.4</m:t>
                                  </m:r>
                                </m:den>
                              </m:f>
                            </m:oMath>
                          </a14:m>
                          <a:r>
                            <a:rPr lang="en-US" sz="1000" b="0" i="0" u="none" strike="noStrike" cap="none" dirty="0">
                              <a:solidFill>
                                <a:schemeClr val="tx1"/>
                              </a:solidFill>
                              <a:effectLst/>
                              <a:latin typeface="+mn-lt"/>
                              <a:ea typeface="+mn-ea"/>
                              <a:cs typeface="Arial" panose="020B0604020202020204" pitchFamily="34" charset="0"/>
                              <a:sym typeface="Arial"/>
                            </a:rPr>
                            <a:t> = 0.5 </a:t>
                          </a:r>
                        </a:p>
                        <a:p>
                          <a:endParaRPr lang="en-US" sz="1000" b="0" i="0" u="none" strike="noStrike" cap="none" dirty="0">
                            <a:solidFill>
                              <a:schemeClr val="tx1"/>
                            </a:solidFill>
                            <a:effectLst/>
                            <a:latin typeface="+mn-lt"/>
                            <a:ea typeface="+mn-ea"/>
                            <a:cs typeface="Arial" panose="020B0604020202020204" pitchFamily="34" charset="0"/>
                            <a:sym typeface="Arial"/>
                          </a:endParaRPr>
                        </a:p>
                        <a:p>
                          <a:r>
                            <a:rPr lang="en-US" sz="1000" b="0" i="0" u="none" strike="noStrike" cap="none" dirty="0">
                              <a:solidFill>
                                <a:schemeClr val="tx1"/>
                              </a:solidFill>
                              <a:effectLst/>
                              <a:latin typeface="+mn-lt"/>
                              <a:ea typeface="+mn-ea"/>
                              <a:cs typeface="Arial" panose="020B0604020202020204" pitchFamily="34" charset="0"/>
                              <a:sym typeface="Arial"/>
                            </a:rPr>
                            <a:t>Therefore, individuals who exercise regularly have half the risk of developing high blood pressure compared to those who don’t.</a:t>
                          </a:r>
                        </a:p>
                        <a:p>
                          <a:br>
                            <a:rPr lang="en-US" sz="1000" b="0" i="0" u="none" strike="noStrike" cap="none" dirty="0">
                              <a:solidFill>
                                <a:schemeClr val="tx1"/>
                              </a:solidFill>
                              <a:effectLst/>
                              <a:latin typeface="+mn-lt"/>
                              <a:ea typeface="+mn-ea"/>
                              <a:cs typeface="Arial" panose="020B0604020202020204" pitchFamily="34" charset="0"/>
                              <a:sym typeface="Arial"/>
                            </a:rPr>
                          </a:br>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279982959"/>
                      </a:ext>
                    </a:extLst>
                  </a:tr>
                </a:tbl>
              </a:graphicData>
            </a:graphic>
          </p:graphicFrame>
        </mc:Choice>
        <mc:Fallback xmlns="">
          <p:graphicFrame>
            <p:nvGraphicFramePr>
              <p:cNvPr id="4" name="Content Placeholder 3">
                <a:extLst>
                  <a:ext uri="{FF2B5EF4-FFF2-40B4-BE49-F238E27FC236}">
                    <a16:creationId xmlns:a16="http://schemas.microsoft.com/office/drawing/2014/main" id="{4E9CA4DB-4210-0F4E-AC56-84C576C4AD30}"/>
                  </a:ext>
                </a:extLst>
              </p:cNvPr>
              <p:cNvGraphicFramePr>
                <a:graphicFrameLocks noGrp="1"/>
              </p:cNvGraphicFramePr>
              <p:nvPr>
                <p:ph idx="1"/>
                <p:extLst>
                  <p:ext uri="{D42A27DB-BD31-4B8C-83A1-F6EECF244321}">
                    <p14:modId xmlns:p14="http://schemas.microsoft.com/office/powerpoint/2010/main" val="4204900802"/>
                  </p:ext>
                </p:extLst>
              </p:nvPr>
            </p:nvGraphicFramePr>
            <p:xfrm>
              <a:off x="180976" y="844728"/>
              <a:ext cx="8782047" cy="4311193"/>
            </p:xfrm>
            <a:graphic>
              <a:graphicData uri="http://schemas.openxmlformats.org/drawingml/2006/table">
                <a:tbl>
                  <a:tblPr/>
                  <a:tblGrid>
                    <a:gridCol w="969843">
                      <a:extLst>
                        <a:ext uri="{9D8B030D-6E8A-4147-A177-3AD203B41FA5}">
                          <a16:colId xmlns:a16="http://schemas.microsoft.com/office/drawing/2014/main" val="1209147392"/>
                        </a:ext>
                      </a:extLst>
                    </a:gridCol>
                    <a:gridCol w="2885444">
                      <a:extLst>
                        <a:ext uri="{9D8B030D-6E8A-4147-A177-3AD203B41FA5}">
                          <a16:colId xmlns:a16="http://schemas.microsoft.com/office/drawing/2014/main" val="3281974425"/>
                        </a:ext>
                      </a:extLst>
                    </a:gridCol>
                    <a:gridCol w="1116115">
                      <a:extLst>
                        <a:ext uri="{9D8B030D-6E8A-4147-A177-3AD203B41FA5}">
                          <a16:colId xmlns:a16="http://schemas.microsoft.com/office/drawing/2014/main" val="4093091222"/>
                        </a:ext>
                      </a:extLst>
                    </a:gridCol>
                    <a:gridCol w="3810645">
                      <a:extLst>
                        <a:ext uri="{9D8B030D-6E8A-4147-A177-3AD203B41FA5}">
                          <a16:colId xmlns:a16="http://schemas.microsoft.com/office/drawing/2014/main" val="2619532457"/>
                        </a:ext>
                      </a:extLst>
                    </a:gridCol>
                  </a:tblGrid>
                  <a:tr h="359110">
                    <a:tc>
                      <a:txBody>
                        <a:bodyPr/>
                        <a:lstStyle/>
                        <a:p>
                          <a:pPr algn="l" fontAlgn="base">
                            <a:lnSpc>
                              <a:spcPts val="2175"/>
                            </a:lnSpc>
                          </a:pPr>
                          <a:r>
                            <a:rPr lang="en-US" sz="1200" b="1" i="0" dirty="0">
                              <a:solidFill>
                                <a:srgbClr val="FFFFFF"/>
                              </a:solidFill>
                              <a:effectLst/>
                              <a:latin typeface="+mn-lt"/>
                            </a:rPr>
                            <a:t>Measure​</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mn-lt"/>
                            </a:rPr>
                            <a:t>Definition​</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mn-lt"/>
                            </a:rPr>
                            <a:t>When to Use​</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mn-lt"/>
                            </a:rPr>
                            <a:t>Example​</a:t>
                          </a:r>
                          <a:endParaRPr lang="en-US" sz="900" b="1" i="0" dirty="0">
                            <a:solidFill>
                              <a:srgbClr val="FFFFFF"/>
                            </a:solidFill>
                            <a:effectLst/>
                            <a:latin typeface="+mn-lt"/>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972300">
                    <a:tc>
                      <a:txBody>
                        <a:bodyPr/>
                        <a:lstStyle/>
                        <a:p>
                          <a:pPr algn="l" fontAlgn="base">
                            <a:lnSpc>
                              <a:spcPct val="100000"/>
                            </a:lnSpc>
                          </a:pPr>
                          <a:r>
                            <a:rPr lang="en-US" sz="1000" b="0" i="0" dirty="0">
                              <a:solidFill>
                                <a:srgbClr val="000000"/>
                              </a:solidFill>
                              <a:effectLst/>
                              <a:latin typeface="+mn-lt"/>
                              <a:cs typeface="Arial" panose="020B0604020202020204" pitchFamily="34" charset="0"/>
                            </a:rPr>
                            <a:t>Prevalence</a:t>
                          </a:r>
                        </a:p>
                        <a:p>
                          <a:pPr algn="l" fontAlgn="base">
                            <a:lnSpc>
                              <a:spcPct val="100000"/>
                            </a:lnSpc>
                          </a:pPr>
                          <a:r>
                            <a:rPr lang="en-US" sz="1000" b="0" i="0" dirty="0">
                              <a:solidFill>
                                <a:srgbClr val="000000"/>
                              </a:solidFill>
                              <a:effectLst/>
                              <a:latin typeface="+mn-lt"/>
                              <a:cs typeface="Arial" panose="020B0604020202020204" pitchFamily="34" charset="0"/>
                            </a:rPr>
                            <a:t>​</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blipFill>
                          <a:blip r:embed="rId3"/>
                          <a:stretch>
                            <a:fillRect l="-33755" t="-37500" r="-171097" b="-306875"/>
                          </a:stretch>
                        </a:blipFill>
                      </a:tcPr>
                    </a:tc>
                    <a:tc>
                      <a:txBody>
                        <a:bodyPr/>
                        <a:lstStyle/>
                        <a:p>
                          <a:pPr algn="l" fontAlgn="base">
                            <a:lnSpc>
                              <a:spcPct val="100000"/>
                            </a:lnSpc>
                          </a:pPr>
                          <a:r>
                            <a:rPr lang="en-US" sz="1000" b="0" i="0" dirty="0">
                              <a:solidFill>
                                <a:srgbClr val="000000"/>
                              </a:solidFill>
                              <a:effectLst/>
                              <a:latin typeface="+mn-lt"/>
                              <a:cs typeface="Arial" panose="020B0604020202020204" pitchFamily="34" charset="0"/>
                            </a:rPr>
                            <a:t>To describe </a:t>
                          </a:r>
                          <a:r>
                            <a:rPr lang="en-US" sz="1000" b="0" i="0" u="none" strike="noStrike" cap="none" dirty="0">
                              <a:solidFill>
                                <a:schemeClr val="tx1"/>
                              </a:solidFill>
                              <a:effectLst/>
                              <a:latin typeface="+mn-lt"/>
                              <a:ea typeface="+mn-ea"/>
                              <a:cs typeface="Arial" panose="020B0604020202020204" pitchFamily="34" charset="0"/>
                              <a:sym typeface="Arial"/>
                            </a:rPr>
                            <a:t>how common a disease or condition is within a population.</a:t>
                          </a:r>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blipFill>
                          <a:blip r:embed="rId3"/>
                          <a:stretch>
                            <a:fillRect l="-130511" t="-37500" r="-319" b="-306875"/>
                          </a:stretch>
                        </a:blipFill>
                      </a:tcPr>
                    </a:tc>
                    <a:extLst>
                      <a:ext uri="{0D108BD9-81ED-4DB2-BD59-A6C34878D82A}">
                        <a16:rowId xmlns:a16="http://schemas.microsoft.com/office/drawing/2014/main" val="3797400344"/>
                      </a:ext>
                    </a:extLst>
                  </a:tr>
                  <a:tr h="2979783">
                    <a:tc>
                      <a:txBody>
                        <a:bodyPr/>
                        <a:lstStyle/>
                        <a:p>
                          <a:pPr algn="l" fontAlgn="base">
                            <a:lnSpc>
                              <a:spcPct val="100000"/>
                            </a:lnSpc>
                          </a:pPr>
                          <a:r>
                            <a:rPr lang="en-US" sz="1000" b="0" i="0" dirty="0">
                              <a:solidFill>
                                <a:srgbClr val="000000"/>
                              </a:solidFill>
                              <a:effectLst/>
                              <a:latin typeface="+mn-lt"/>
                              <a:cs typeface="Arial" panose="020B0604020202020204" pitchFamily="34" charset="0"/>
                            </a:rPr>
                            <a:t>Risk Ratio (Relative risk)</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blipFill>
                          <a:blip r:embed="rId3"/>
                          <a:stretch>
                            <a:fillRect l="-33755" t="-44990" r="-171097" b="-409"/>
                          </a:stretch>
                        </a:blipFill>
                      </a:tcPr>
                    </a:tc>
                    <a:tc>
                      <a:txBody>
                        <a:bodyPr/>
                        <a:lstStyle/>
                        <a:p>
                          <a:pPr algn="l" fontAlgn="base">
                            <a:lnSpc>
                              <a:spcPct val="100000"/>
                            </a:lnSpc>
                          </a:pPr>
                          <a:r>
                            <a:rPr lang="en-US" sz="1000" b="0" i="0" u="none" strike="noStrike" cap="none" dirty="0">
                              <a:solidFill>
                                <a:schemeClr val="tx1"/>
                              </a:solidFill>
                              <a:effectLst/>
                              <a:latin typeface="+mn-lt"/>
                              <a:ea typeface="+mn-ea"/>
                              <a:cs typeface="Arial" panose="020B0604020202020204" pitchFamily="34" charset="0"/>
                              <a:sym typeface="Arial"/>
                            </a:rPr>
                            <a:t>In cohort studies or clinical trials to compare risk between two groups.</a:t>
                          </a:r>
                          <a:endParaRPr lang="en-US" sz="1000" b="0" i="0" dirty="0">
                            <a:solidFill>
                              <a:srgbClr val="000000"/>
                            </a:solidFill>
                            <a:effectLst/>
                            <a:latin typeface="+mn-lt"/>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1">
                            <a:lumMod val="85000"/>
                          </a:schemeClr>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blipFill>
                          <a:blip r:embed="rId3"/>
                          <a:stretch>
                            <a:fillRect l="-130511" t="-44990" r="-319" b="-409"/>
                          </a:stretch>
                        </a:blipFill>
                      </a:tcPr>
                    </a:tc>
                    <a:extLst>
                      <a:ext uri="{0D108BD9-81ED-4DB2-BD59-A6C34878D82A}">
                        <a16:rowId xmlns:a16="http://schemas.microsoft.com/office/drawing/2014/main" val="2279982959"/>
                      </a:ext>
                    </a:extLst>
                  </a:tr>
                </a:tbl>
              </a:graphicData>
            </a:graphic>
          </p:graphicFrame>
        </mc:Fallback>
      </mc:AlternateContent>
    </p:spTree>
    <p:extLst>
      <p:ext uri="{BB962C8B-B14F-4D97-AF65-F5344CB8AC3E}">
        <p14:creationId xmlns:p14="http://schemas.microsoft.com/office/powerpoint/2010/main" val="3443215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BD4E3-F3B8-EF73-9834-55B64B4485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98BC9B-F3E5-9062-A593-DC815B50CEEA}"/>
              </a:ext>
            </a:extLst>
          </p:cNvPr>
          <p:cNvSpPr>
            <a:spLocks noGrp="1"/>
          </p:cNvSpPr>
          <p:nvPr>
            <p:ph type="title"/>
          </p:nvPr>
        </p:nvSpPr>
        <p:spPr>
          <a:xfrm>
            <a:off x="311699" y="256199"/>
            <a:ext cx="8520600" cy="572700"/>
          </a:xfrm>
        </p:spPr>
        <p:txBody>
          <a:bodyPr/>
          <a:lstStyle/>
          <a:p>
            <a:r>
              <a:rPr lang="en-US" dirty="0">
                <a:solidFill>
                  <a:schemeClr val="accent1"/>
                </a:solidFill>
                <a:latin typeface="Arial" panose="020B0604020202020204" pitchFamily="34" charset="0"/>
                <a:cs typeface="Arial" panose="020B0604020202020204" pitchFamily="34" charset="0"/>
              </a:rPr>
              <a:t>Proportions and rates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BFC5B3DF-2C77-6512-D384-41E8FB147CB9}"/>
                  </a:ext>
                </a:extLst>
              </p:cNvPr>
              <p:cNvGraphicFramePr>
                <a:graphicFrameLocks noGrp="1"/>
              </p:cNvGraphicFramePr>
              <p:nvPr>
                <p:ph idx="1"/>
                <p:extLst>
                  <p:ext uri="{D42A27DB-BD31-4B8C-83A1-F6EECF244321}">
                    <p14:modId xmlns:p14="http://schemas.microsoft.com/office/powerpoint/2010/main" val="4269480903"/>
                  </p:ext>
                </p:extLst>
              </p:nvPr>
            </p:nvGraphicFramePr>
            <p:xfrm>
              <a:off x="186855" y="1065536"/>
              <a:ext cx="8770288" cy="3907629"/>
            </p:xfrm>
            <a:graphic>
              <a:graphicData uri="http://schemas.openxmlformats.org/drawingml/2006/table">
                <a:tbl>
                  <a:tblPr/>
                  <a:tblGrid>
                    <a:gridCol w="968544">
                      <a:extLst>
                        <a:ext uri="{9D8B030D-6E8A-4147-A177-3AD203B41FA5}">
                          <a16:colId xmlns:a16="http://schemas.microsoft.com/office/drawing/2014/main" val="1209147392"/>
                        </a:ext>
                      </a:extLst>
                    </a:gridCol>
                    <a:gridCol w="2844624">
                      <a:extLst>
                        <a:ext uri="{9D8B030D-6E8A-4147-A177-3AD203B41FA5}">
                          <a16:colId xmlns:a16="http://schemas.microsoft.com/office/drawing/2014/main" val="3281974425"/>
                        </a:ext>
                      </a:extLst>
                    </a:gridCol>
                    <a:gridCol w="1151577">
                      <a:extLst>
                        <a:ext uri="{9D8B030D-6E8A-4147-A177-3AD203B41FA5}">
                          <a16:colId xmlns:a16="http://schemas.microsoft.com/office/drawing/2014/main" val="4093091222"/>
                        </a:ext>
                      </a:extLst>
                    </a:gridCol>
                    <a:gridCol w="3805543">
                      <a:extLst>
                        <a:ext uri="{9D8B030D-6E8A-4147-A177-3AD203B41FA5}">
                          <a16:colId xmlns:a16="http://schemas.microsoft.com/office/drawing/2014/main" val="2619532457"/>
                        </a:ext>
                      </a:extLst>
                    </a:gridCol>
                  </a:tblGrid>
                  <a:tr h="427529">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Measure​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Definition​</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When to Use​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Example​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1157545">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Odds Ratio</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The ratio of the odds of an outcome occurring in one group to the odds in another group.</a:t>
                          </a:r>
                        </a:p>
                        <a:p>
                          <a:pPr algn="l" fontAlgn="base">
                            <a:lnSpc>
                              <a:spcPct val="100000"/>
                            </a:lnSpc>
                          </a:pPr>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OR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𝑎</m:t>
                                  </m:r>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m:t>
                                  </m:r>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𝑑</m:t>
                                  </m:r>
                                </m:num>
                                <m:den>
                                  <m:r>
                                    <a:rPr lang="en-US" sz="1000" b="0" i="1" u="none" strike="noStrike" cap="none" smtClean="0">
                                      <a:solidFill>
                                        <a:schemeClr val="tx1"/>
                                      </a:solidFill>
                                      <a:effectLst/>
                                      <a:latin typeface="Cambria Math" panose="02040503050406030204" pitchFamily="18" charset="0"/>
                                      <a:ea typeface="+mn-ea"/>
                                      <a:cs typeface="+mn-cs"/>
                                      <a:sym typeface="Arial"/>
                                    </a:rPr>
                                    <m:t>𝑏</m:t>
                                  </m:r>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m:t>
                                  </m:r>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𝑐</m:t>
                                  </m:r>
                                </m:den>
                              </m:f>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Where:</a:t>
                          </a:r>
                        </a:p>
                        <a:p>
                          <a:pPr marL="285750" indent="-2857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a = # with outcome in exposed group</a:t>
                          </a:r>
                        </a:p>
                        <a:p>
                          <a:pPr marL="285750" indent="-2857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b = # without outcome in exposed group</a:t>
                          </a:r>
                        </a:p>
                        <a:p>
                          <a:pPr marL="285750" indent="-2857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c = # with outcome in unexposed group</a:t>
                          </a:r>
                        </a:p>
                        <a:p>
                          <a:pPr marL="285750" indent="-2857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d = # without outcome in unexposed group</a:t>
                          </a:r>
                        </a:p>
                        <a:p>
                          <a:pPr marL="285750" indent="-285750">
                            <a:buFont typeface="Arial" panose="020B0604020202020204" pitchFamily="34" charset="0"/>
                            <a:buChar char="•"/>
                          </a:pPr>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If</a:t>
                          </a: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the odds ratio is…</a:t>
                          </a:r>
                        </a:p>
                        <a:p>
                          <a:pPr marL="171450" indent="-1714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1.0 (or close to 1.0): there is no association between exposure and the disease.</a:t>
                          </a:r>
                        </a:p>
                        <a:p>
                          <a:pPr marL="171450" indent="-1714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Greater than 1.0: suggests a positive association (the exposure might be a risk factor for the disease).</a:t>
                          </a:r>
                        </a:p>
                        <a:p>
                          <a:pPr marL="171450" indent="-171450">
                            <a:buFont typeface="Arial" panose="020B0604020202020204" pitchFamily="34" charset="0"/>
                            <a:buChar char="•"/>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Less than 1.0: suggests a negative association (the exposure might have a protective effect on the disease).</a:t>
                          </a:r>
                        </a:p>
                        <a:p>
                          <a:endParaRPr lang="en-US" sz="10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lumMod val="85000"/>
                          </a:schemeClr>
                        </a:solidFill>
                      </a:tcPr>
                    </a:tc>
                    <a:tc>
                      <a:txBody>
                        <a:bodyPr/>
                        <a:lstStyle/>
                        <a:p>
                          <a:pPr algn="l" fontAlgn="base">
                            <a:lnSpc>
                              <a:spcPct val="100000"/>
                            </a:lnSpc>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Case-control studies or when the outcome is rare.</a:t>
                          </a:r>
                          <a:endParaRPr lang="en-US" sz="10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000" dirty="0">
                              <a:latin typeface="Arial" panose="020B0604020202020204" pitchFamily="34" charset="0"/>
                              <a:cs typeface="Arial" panose="020B0604020202020204" pitchFamily="34" charset="0"/>
                            </a:rPr>
                            <a:t>Among cases with heart disease, 40% smoked (a = 40), 60% did not (c = 60)</a:t>
                          </a:r>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Among controls (no heart disease), 20% smoked (b = 20), 80% did not (d = 80)</a:t>
                          </a:r>
                        </a:p>
                        <a:p>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OR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40</m:t>
                                  </m:r>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×80</m:t>
                                  </m:r>
                                </m:num>
                                <m:den>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20×60</m:t>
                                  </m:r>
                                </m:den>
                              </m:f>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  </a:t>
                          </a:r>
                          <a14:m>
                            <m:oMath xmlns:m="http://schemas.openxmlformats.org/officeDocument/2006/math">
                              <m:f>
                                <m:fPr>
                                  <m:ctrlPr>
                                    <a:rPr lang="en-US" sz="1000" b="0" i="1" u="none" strike="noStrike" cap="none" smtClean="0">
                                      <a:solidFill>
                                        <a:schemeClr val="tx1"/>
                                      </a:solidFill>
                                      <a:effectLst/>
                                      <a:latin typeface="Cambria Math" panose="02040503050406030204" pitchFamily="18" charset="0"/>
                                      <a:ea typeface="+mn-ea"/>
                                      <a:cs typeface="+mn-cs"/>
                                      <a:sym typeface="Arial"/>
                                    </a:rPr>
                                  </m:ctrlPr>
                                </m:fPr>
                                <m:num>
                                  <m:r>
                                    <a:rPr lang="en-US" sz="1000" b="0" i="1" u="none" strike="noStrike" cap="none" smtClean="0">
                                      <a:solidFill>
                                        <a:schemeClr val="tx1"/>
                                      </a:solidFill>
                                      <a:effectLst/>
                                      <a:latin typeface="Cambria Math" panose="02040503050406030204" pitchFamily="18" charset="0"/>
                                      <a:ea typeface="+mn-ea"/>
                                      <a:cs typeface="+mn-cs"/>
                                      <a:sym typeface="Arial"/>
                                    </a:rPr>
                                    <m:t>3200</m:t>
                                  </m:r>
                                </m:num>
                                <m:den>
                                  <m:r>
                                    <a:rPr lang="en-US" sz="1000" b="0" i="1" u="none" strike="noStrike" cap="none" smtClean="0">
                                      <a:solidFill>
                                        <a:schemeClr val="tx1"/>
                                      </a:solidFill>
                                      <a:effectLst/>
                                      <a:latin typeface="Cambria Math" panose="02040503050406030204" pitchFamily="18" charset="0"/>
                                      <a:ea typeface="Cambria Math" panose="02040503050406030204" pitchFamily="18" charset="0"/>
                                      <a:cs typeface="+mn-cs"/>
                                      <a:sym typeface="Arial"/>
                                    </a:rPr>
                                    <m:t>1200</m:t>
                                  </m:r>
                                </m:den>
                              </m:f>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       =</a:t>
                          </a:r>
                          <a:r>
                            <a:rPr lang="en-US" sz="1000" b="0" i="0" u="none" strike="noStrike" cap="none" baseline="0" dirty="0">
                              <a:solidFill>
                                <a:schemeClr val="tx1"/>
                              </a:solidFill>
                              <a:effectLst/>
                              <a:latin typeface="Arial" panose="020B0604020202020204" pitchFamily="34" charset="0"/>
                              <a:ea typeface="+mn-ea"/>
                              <a:cs typeface="Arial" panose="020B0604020202020204" pitchFamily="34" charset="0"/>
                              <a:sym typeface="Arial"/>
                            </a:rPr>
                            <a:t> </a:t>
                          </a:r>
                          <a14:m>
                            <m:oMath xmlns:m="http://schemas.openxmlformats.org/officeDocument/2006/math">
                              <m:r>
                                <a:rPr lang="en-US" sz="1000" b="0" i="1" u="none" strike="noStrike" cap="none" baseline="0" smtClean="0">
                                  <a:solidFill>
                                    <a:schemeClr val="tx1"/>
                                  </a:solidFill>
                                  <a:effectLst/>
                                  <a:latin typeface="Cambria Math" panose="02040503050406030204" pitchFamily="18" charset="0"/>
                                  <a:ea typeface="+mn-ea"/>
                                  <a:cs typeface="Arial" panose="020B0604020202020204" pitchFamily="34" charset="0"/>
                                  <a:sym typeface="Arial"/>
                                </a:rPr>
                                <m:t>2.67</m:t>
                              </m:r>
                            </m:oMath>
                          </a14:m>
                          <a:endPar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endParaRPr>
                        </a:p>
                        <a:p>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In this example, smokers had 2.67 times the odds of heart disease.</a:t>
                          </a:r>
                        </a:p>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 </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8288458"/>
                      </a:ext>
                    </a:extLst>
                  </a:tr>
                </a:tbl>
              </a:graphicData>
            </a:graphic>
          </p:graphicFrame>
        </mc:Choice>
        <mc:Fallback xmlns="">
          <p:graphicFrame>
            <p:nvGraphicFramePr>
              <p:cNvPr id="4" name="Content Placeholder 3">
                <a:extLst>
                  <a:ext uri="{FF2B5EF4-FFF2-40B4-BE49-F238E27FC236}">
                    <a16:creationId xmlns:a16="http://schemas.microsoft.com/office/drawing/2014/main" id="{BFC5B3DF-2C77-6512-D384-41E8FB147CB9}"/>
                  </a:ext>
                </a:extLst>
              </p:cNvPr>
              <p:cNvGraphicFramePr>
                <a:graphicFrameLocks noGrp="1"/>
              </p:cNvGraphicFramePr>
              <p:nvPr>
                <p:ph idx="1"/>
                <p:extLst>
                  <p:ext uri="{D42A27DB-BD31-4B8C-83A1-F6EECF244321}">
                    <p14:modId xmlns:p14="http://schemas.microsoft.com/office/powerpoint/2010/main" val="4269480903"/>
                  </p:ext>
                </p:extLst>
              </p:nvPr>
            </p:nvGraphicFramePr>
            <p:xfrm>
              <a:off x="186855" y="1065536"/>
              <a:ext cx="8770288" cy="3907629"/>
            </p:xfrm>
            <a:graphic>
              <a:graphicData uri="http://schemas.openxmlformats.org/drawingml/2006/table">
                <a:tbl>
                  <a:tblPr/>
                  <a:tblGrid>
                    <a:gridCol w="968544">
                      <a:extLst>
                        <a:ext uri="{9D8B030D-6E8A-4147-A177-3AD203B41FA5}">
                          <a16:colId xmlns:a16="http://schemas.microsoft.com/office/drawing/2014/main" val="1209147392"/>
                        </a:ext>
                      </a:extLst>
                    </a:gridCol>
                    <a:gridCol w="2844624">
                      <a:extLst>
                        <a:ext uri="{9D8B030D-6E8A-4147-A177-3AD203B41FA5}">
                          <a16:colId xmlns:a16="http://schemas.microsoft.com/office/drawing/2014/main" val="3281974425"/>
                        </a:ext>
                      </a:extLst>
                    </a:gridCol>
                    <a:gridCol w="1151577">
                      <a:extLst>
                        <a:ext uri="{9D8B030D-6E8A-4147-A177-3AD203B41FA5}">
                          <a16:colId xmlns:a16="http://schemas.microsoft.com/office/drawing/2014/main" val="4093091222"/>
                        </a:ext>
                      </a:extLst>
                    </a:gridCol>
                    <a:gridCol w="3805543">
                      <a:extLst>
                        <a:ext uri="{9D8B030D-6E8A-4147-A177-3AD203B41FA5}">
                          <a16:colId xmlns:a16="http://schemas.microsoft.com/office/drawing/2014/main" val="2619532457"/>
                        </a:ext>
                      </a:extLst>
                    </a:gridCol>
                  </a:tblGrid>
                  <a:tr h="427529">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Measure​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Definition​</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When to Use​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tc>
                      <a:txBody>
                        <a:bodyPr/>
                        <a:lstStyle/>
                        <a:p>
                          <a:pPr algn="l" fontAlgn="base">
                            <a:lnSpc>
                              <a:spcPts val="2175"/>
                            </a:lnSpc>
                          </a:pPr>
                          <a:r>
                            <a:rPr lang="en-US" sz="1200" b="1" i="0" dirty="0">
                              <a:solidFill>
                                <a:srgbClr val="FFFFFF"/>
                              </a:solidFill>
                              <a:effectLst/>
                              <a:latin typeface="Arial" panose="020B0604020202020204" pitchFamily="34" charset="0"/>
                              <a:cs typeface="Arial" panose="020B0604020202020204" pitchFamily="34" charset="0"/>
                            </a:rPr>
                            <a:t>Example​</a:t>
                          </a:r>
                          <a:endParaRPr lang="en-US" sz="900" b="1" i="0" dirty="0">
                            <a:solidFill>
                              <a:srgbClr val="FFFFFF"/>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11192" cap="flat" cmpd="sng" algn="ctr">
                          <a:solidFill>
                            <a:srgbClr val="FFFFFF"/>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2641535133"/>
                      </a:ext>
                    </a:extLst>
                  </a:tr>
                  <a:tr h="3480100">
                    <a:tc>
                      <a:txBody>
                        <a:bodyPr/>
                        <a:lstStyle/>
                        <a:p>
                          <a:pPr algn="l" fontAlgn="base">
                            <a:lnSpc>
                              <a:spcPct val="100000"/>
                            </a:lnSpc>
                          </a:pPr>
                          <a:r>
                            <a:rPr lang="en-US" sz="1000" b="0" i="0" dirty="0">
                              <a:solidFill>
                                <a:srgbClr val="000000"/>
                              </a:solidFill>
                              <a:effectLst/>
                              <a:latin typeface="Arial" panose="020B0604020202020204" pitchFamily="34" charset="0"/>
                              <a:cs typeface="Arial" panose="020B0604020202020204" pitchFamily="34" charset="0"/>
                            </a:rPr>
                            <a:t>Odds Ratio</a:t>
                          </a: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lumMod val="85000"/>
                          </a:schemeClr>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blipFill>
                          <a:blip r:embed="rId3"/>
                          <a:stretch>
                            <a:fillRect l="-34222" t="-12364" r="-174222" b="-364"/>
                          </a:stretch>
                        </a:blipFill>
                      </a:tcPr>
                    </a:tc>
                    <a:tc>
                      <a:txBody>
                        <a:bodyPr/>
                        <a:lstStyle/>
                        <a:p>
                          <a:pPr algn="l" fontAlgn="base">
                            <a:lnSpc>
                              <a:spcPct val="100000"/>
                            </a:lnSpc>
                          </a:pPr>
                          <a:r>
                            <a:rPr lang="en-US" sz="1000" b="0" i="0" u="none" strike="noStrike" cap="none" dirty="0">
                              <a:solidFill>
                                <a:schemeClr val="tx1"/>
                              </a:solidFill>
                              <a:effectLst/>
                              <a:latin typeface="Arial" panose="020B0604020202020204" pitchFamily="34" charset="0"/>
                              <a:ea typeface="+mn-ea"/>
                              <a:cs typeface="Arial" panose="020B0604020202020204" pitchFamily="34" charset="0"/>
                              <a:sym typeface="Arial"/>
                            </a:rPr>
                            <a:t>Case-control studies or when the outcome is rare.</a:t>
                          </a:r>
                          <a:endParaRPr lang="en-US" sz="1000" b="0" i="0" dirty="0">
                            <a:solidFill>
                              <a:srgbClr val="000000"/>
                            </a:solidFill>
                            <a:effectLst/>
                            <a:latin typeface="Arial" panose="020B0604020202020204" pitchFamily="34" charset="0"/>
                            <a:cs typeface="Arial" panose="020B0604020202020204" pitchFamily="34" charset="0"/>
                          </a:endParaRPr>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lumMod val="85000"/>
                          </a:schemeClr>
                        </a:solidFill>
                      </a:tcPr>
                    </a:tc>
                    <a:tc>
                      <a:txBody>
                        <a:bodyPr/>
                        <a:lstStyle/>
                        <a:p>
                          <a:endParaRPr lang="en-US"/>
                        </a:p>
                      </a:txBody>
                      <a:tcPr marL="60180" marR="60180" marT="30090" marB="30090">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11192"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blipFill>
                          <a:blip r:embed="rId3"/>
                          <a:stretch>
                            <a:fillRect l="-131000" t="-12364" r="-333" b="-364"/>
                          </a:stretch>
                        </a:blipFill>
                      </a:tcPr>
                    </a:tc>
                    <a:extLst>
                      <a:ext uri="{0D108BD9-81ED-4DB2-BD59-A6C34878D82A}">
                        <a16:rowId xmlns:a16="http://schemas.microsoft.com/office/drawing/2014/main" val="3378288458"/>
                      </a:ext>
                    </a:extLst>
                  </a:tr>
                </a:tbl>
              </a:graphicData>
            </a:graphic>
          </p:graphicFrame>
        </mc:Fallback>
      </mc:AlternateContent>
    </p:spTree>
    <p:extLst>
      <p:ext uri="{BB962C8B-B14F-4D97-AF65-F5344CB8AC3E}">
        <p14:creationId xmlns:p14="http://schemas.microsoft.com/office/powerpoint/2010/main" val="4099206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31805-719A-B3E1-3A93-2DFACA073060}"/>
              </a:ext>
            </a:extLst>
          </p:cNvPr>
          <p:cNvSpPr>
            <a:spLocks noGrp="1"/>
          </p:cNvSpPr>
          <p:nvPr>
            <p:ph type="title"/>
          </p:nvPr>
        </p:nvSpPr>
        <p:spPr/>
        <p:txBody>
          <a:bodyPr/>
          <a:lstStyle/>
          <a:p>
            <a:r>
              <a:rPr lang="en-PK" dirty="0"/>
              <a:t>Exploratory Data Analysis</a:t>
            </a:r>
          </a:p>
        </p:txBody>
      </p:sp>
      <p:sp>
        <p:nvSpPr>
          <p:cNvPr id="3" name="Content Placeholder 2">
            <a:extLst>
              <a:ext uri="{FF2B5EF4-FFF2-40B4-BE49-F238E27FC236}">
                <a16:creationId xmlns:a16="http://schemas.microsoft.com/office/drawing/2014/main" id="{9F22D9EA-A997-D2BE-C426-DE5752983349}"/>
              </a:ext>
            </a:extLst>
          </p:cNvPr>
          <p:cNvSpPr>
            <a:spLocks noGrp="1"/>
          </p:cNvSpPr>
          <p:nvPr>
            <p:ph idx="1"/>
          </p:nvPr>
        </p:nvSpPr>
        <p:spPr/>
        <p:txBody>
          <a:bodyPr/>
          <a:lstStyle/>
          <a:p>
            <a:pPr marL="114300" indent="0">
              <a:buNone/>
            </a:pPr>
            <a:r>
              <a:rPr lang="en-GB" b="1" dirty="0"/>
              <a:t>Exploratory Data Analysis (EDA)</a:t>
            </a:r>
            <a:r>
              <a:rPr lang="en-GB" dirty="0"/>
              <a:t> is the process of examining and understanding a dataset before building models. It helps discover </a:t>
            </a:r>
            <a:r>
              <a:rPr lang="en-GB" b="1" dirty="0"/>
              <a:t>patterns, relationships, anomalies, and insights</a:t>
            </a:r>
            <a:r>
              <a:rPr lang="en-GB" dirty="0"/>
              <a:t> using statistics and visualizations.</a:t>
            </a:r>
          </a:p>
          <a:p>
            <a:pPr marL="114300" indent="0">
              <a:buNone/>
            </a:pPr>
            <a:endParaRPr lang="en-GB" dirty="0"/>
          </a:p>
          <a:p>
            <a:pPr marL="114300" indent="0">
              <a:buNone/>
            </a:pPr>
            <a:r>
              <a:rPr lang="en-GB" dirty="0"/>
              <a:t>The main goal is to:</a:t>
            </a:r>
          </a:p>
          <a:p>
            <a:r>
              <a:rPr lang="en-GB" dirty="0"/>
              <a:t>Understand the structure of the dataset</a:t>
            </a:r>
          </a:p>
          <a:p>
            <a:r>
              <a:rPr lang="en-GB" dirty="0"/>
              <a:t>Detect missing values and outliers</a:t>
            </a:r>
          </a:p>
          <a:p>
            <a:r>
              <a:rPr lang="en-GB" dirty="0"/>
              <a:t>Identify relationships between variables</a:t>
            </a:r>
          </a:p>
          <a:p>
            <a:r>
              <a:rPr lang="en-GB" dirty="0"/>
              <a:t>Generate insights for further analysis</a:t>
            </a:r>
          </a:p>
          <a:p>
            <a:pPr marL="114300" indent="0">
              <a:buNone/>
            </a:pPr>
            <a:endParaRPr lang="en-PK" dirty="0"/>
          </a:p>
        </p:txBody>
      </p:sp>
    </p:spTree>
    <p:extLst>
      <p:ext uri="{BB962C8B-B14F-4D97-AF65-F5344CB8AC3E}">
        <p14:creationId xmlns:p14="http://schemas.microsoft.com/office/powerpoint/2010/main" val="1388287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89CC0-60E3-7642-900A-1C40A3DB1BBE}"/>
              </a:ext>
            </a:extLst>
          </p:cNvPr>
          <p:cNvSpPr>
            <a:spLocks noGrp="1"/>
          </p:cNvSpPr>
          <p:nvPr>
            <p:ph type="title"/>
          </p:nvPr>
        </p:nvSpPr>
        <p:spPr/>
        <p:txBody>
          <a:bodyPr/>
          <a:lstStyle/>
          <a:p>
            <a:r>
              <a:rPr lang="en-PK" dirty="0"/>
              <a:t>Tools in Python</a:t>
            </a:r>
          </a:p>
        </p:txBody>
      </p:sp>
      <p:sp>
        <p:nvSpPr>
          <p:cNvPr id="3" name="Content Placeholder 2">
            <a:extLst>
              <a:ext uri="{FF2B5EF4-FFF2-40B4-BE49-F238E27FC236}">
                <a16:creationId xmlns:a16="http://schemas.microsoft.com/office/drawing/2014/main" id="{96736395-DEEF-5272-114B-D2443CE90B23}"/>
              </a:ext>
            </a:extLst>
          </p:cNvPr>
          <p:cNvSpPr>
            <a:spLocks noGrp="1"/>
          </p:cNvSpPr>
          <p:nvPr>
            <p:ph idx="1"/>
          </p:nvPr>
        </p:nvSpPr>
        <p:spPr/>
        <p:txBody>
          <a:bodyPr/>
          <a:lstStyle/>
          <a:p>
            <a:pPr marL="114300" indent="0">
              <a:buNone/>
            </a:pPr>
            <a:r>
              <a:rPr lang="en-GB" dirty="0"/>
              <a:t>EDA is commonly performed using these Python libraries:</a:t>
            </a:r>
          </a:p>
          <a:p>
            <a:pPr marL="114300" indent="0">
              <a:buNone/>
            </a:pPr>
            <a:endParaRPr lang="en-GB" dirty="0"/>
          </a:p>
          <a:p>
            <a:r>
              <a:rPr lang="en-GB" b="1" dirty="0"/>
              <a:t>Pandas</a:t>
            </a:r>
            <a:r>
              <a:rPr lang="en-GB" dirty="0"/>
              <a:t> – data manipulation</a:t>
            </a:r>
          </a:p>
          <a:p>
            <a:r>
              <a:rPr lang="en-GB" b="1" dirty="0"/>
              <a:t>NumPy</a:t>
            </a:r>
            <a:r>
              <a:rPr lang="en-GB" dirty="0"/>
              <a:t> – numerical computations</a:t>
            </a:r>
          </a:p>
          <a:p>
            <a:r>
              <a:rPr lang="en-GB" b="1" dirty="0"/>
              <a:t>Matplotlib</a:t>
            </a:r>
            <a:r>
              <a:rPr lang="en-GB" dirty="0"/>
              <a:t> – basic visualization</a:t>
            </a:r>
          </a:p>
          <a:p>
            <a:r>
              <a:rPr lang="en-GB" b="1" dirty="0"/>
              <a:t>Seaborn</a:t>
            </a:r>
            <a:r>
              <a:rPr lang="en-GB" dirty="0"/>
              <a:t> – advanced statistical plots</a:t>
            </a:r>
          </a:p>
          <a:p>
            <a:r>
              <a:rPr lang="en-GB" dirty="0"/>
              <a:t>These libraries allow analysts to explore datasets efficiently. </a:t>
            </a:r>
          </a:p>
          <a:p>
            <a:endParaRPr lang="en-PK" dirty="0"/>
          </a:p>
        </p:txBody>
      </p:sp>
    </p:spTree>
    <p:extLst>
      <p:ext uri="{BB962C8B-B14F-4D97-AF65-F5344CB8AC3E}">
        <p14:creationId xmlns:p14="http://schemas.microsoft.com/office/powerpoint/2010/main" val="3991305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7D9F1-8D83-7E40-C1E0-7D45EC4D1396}"/>
              </a:ext>
            </a:extLst>
          </p:cNvPr>
          <p:cNvSpPr>
            <a:spLocks noGrp="1"/>
          </p:cNvSpPr>
          <p:nvPr>
            <p:ph type="title"/>
          </p:nvPr>
        </p:nvSpPr>
        <p:spPr/>
        <p:txBody>
          <a:bodyPr/>
          <a:lstStyle/>
          <a:p>
            <a:r>
              <a:rPr lang="en-PK" dirty="0"/>
              <a:t>Steps of EDA</a:t>
            </a:r>
          </a:p>
        </p:txBody>
      </p:sp>
      <p:sp>
        <p:nvSpPr>
          <p:cNvPr id="3" name="Content Placeholder 2">
            <a:extLst>
              <a:ext uri="{FF2B5EF4-FFF2-40B4-BE49-F238E27FC236}">
                <a16:creationId xmlns:a16="http://schemas.microsoft.com/office/drawing/2014/main" id="{E9A36F9F-70BF-8D94-B45C-AE8BDC1E1250}"/>
              </a:ext>
            </a:extLst>
          </p:cNvPr>
          <p:cNvSpPr>
            <a:spLocks noGrp="1"/>
          </p:cNvSpPr>
          <p:nvPr>
            <p:ph idx="1"/>
          </p:nvPr>
        </p:nvSpPr>
        <p:spPr>
          <a:xfrm>
            <a:off x="311700" y="1118185"/>
            <a:ext cx="8520600" cy="3416400"/>
          </a:xfrm>
        </p:spPr>
        <p:txBody>
          <a:bodyPr/>
          <a:lstStyle/>
          <a:p>
            <a:pPr marL="114300" indent="0">
              <a:buNone/>
            </a:pPr>
            <a:r>
              <a:rPr lang="en-GB" dirty="0"/>
              <a:t>1. Load necessary Python libraries before analysis.</a:t>
            </a:r>
          </a:p>
          <a:p>
            <a:pPr marL="114300" indent="0">
              <a:buNone/>
            </a:pPr>
            <a:endParaRPr lang="en-GB" dirty="0"/>
          </a:p>
          <a:p>
            <a:pPr marL="114300" indent="0">
              <a:buNone/>
            </a:pPr>
            <a:r>
              <a:rPr lang="en-GB" dirty="0"/>
              <a:t>Example:</a:t>
            </a:r>
          </a:p>
          <a:p>
            <a:pPr marL="114300" indent="0">
              <a:buNone/>
            </a:pPr>
            <a:endParaRPr lang="en-GB" dirty="0"/>
          </a:p>
          <a:p>
            <a:pPr marL="114300" indent="0">
              <a:buNone/>
            </a:pPr>
            <a:r>
              <a:rPr lang="en-GB" dirty="0"/>
              <a:t>import pandas as pd</a:t>
            </a:r>
            <a:br>
              <a:rPr lang="en-GB" dirty="0"/>
            </a:br>
            <a:r>
              <a:rPr lang="en-GB" dirty="0"/>
              <a:t>import </a:t>
            </a:r>
            <a:r>
              <a:rPr lang="en-GB" dirty="0" err="1"/>
              <a:t>numpy</a:t>
            </a:r>
            <a:r>
              <a:rPr lang="en-GB" dirty="0"/>
              <a:t> as np</a:t>
            </a:r>
            <a:br>
              <a:rPr lang="en-GB" dirty="0"/>
            </a:br>
            <a:r>
              <a:rPr lang="en-GB" dirty="0"/>
              <a:t>import </a:t>
            </a:r>
            <a:r>
              <a:rPr lang="en-GB" dirty="0" err="1"/>
              <a:t>matplotlib.pyplot</a:t>
            </a:r>
            <a:r>
              <a:rPr lang="en-GB" dirty="0"/>
              <a:t> as </a:t>
            </a:r>
            <a:r>
              <a:rPr lang="en-GB" dirty="0" err="1"/>
              <a:t>plt</a:t>
            </a:r>
            <a:br>
              <a:rPr lang="en-GB" dirty="0"/>
            </a:br>
            <a:r>
              <a:rPr lang="en-GB" dirty="0"/>
              <a:t>import seaborn as </a:t>
            </a:r>
            <a:r>
              <a:rPr lang="en-GB" dirty="0" err="1"/>
              <a:t>sns</a:t>
            </a:r>
            <a:endParaRPr lang="en-GB" dirty="0"/>
          </a:p>
          <a:p>
            <a:pPr marL="114300" indent="0">
              <a:buNone/>
            </a:pPr>
            <a:endParaRPr lang="en-GB" dirty="0"/>
          </a:p>
          <a:p>
            <a:pPr marL="114300" indent="0">
              <a:buNone/>
            </a:pPr>
            <a:r>
              <a:rPr lang="en-GB" dirty="0"/>
              <a:t>2. Use pandas to read the dataset.</a:t>
            </a:r>
          </a:p>
          <a:p>
            <a:pPr marL="114300" indent="0">
              <a:buNone/>
            </a:pPr>
            <a:endParaRPr lang="en-GB" dirty="0"/>
          </a:p>
          <a:p>
            <a:pPr marL="114300" indent="0">
              <a:buNone/>
            </a:pPr>
            <a:r>
              <a:rPr lang="en-GB" dirty="0"/>
              <a:t>Example:</a:t>
            </a:r>
          </a:p>
          <a:p>
            <a:pPr marL="114300" indent="0">
              <a:buNone/>
            </a:pPr>
            <a:endParaRPr lang="en-GB" dirty="0"/>
          </a:p>
          <a:p>
            <a:pPr marL="114300" indent="0">
              <a:buNone/>
            </a:pPr>
            <a:r>
              <a:rPr lang="en-GB" dirty="0" err="1"/>
              <a:t>df</a:t>
            </a:r>
            <a:r>
              <a:rPr lang="en-GB" dirty="0"/>
              <a:t> = </a:t>
            </a:r>
            <a:r>
              <a:rPr lang="en-GB" dirty="0" err="1"/>
              <a:t>pd.read_csv</a:t>
            </a:r>
            <a:r>
              <a:rPr lang="en-GB" dirty="0"/>
              <a:t>("</a:t>
            </a:r>
            <a:r>
              <a:rPr lang="en-GB" dirty="0" err="1"/>
              <a:t>data.csv</a:t>
            </a:r>
            <a:r>
              <a:rPr lang="en-GB" dirty="0"/>
              <a:t>")</a:t>
            </a:r>
          </a:p>
          <a:p>
            <a:pPr marL="114300" indent="0">
              <a:buNone/>
            </a:pPr>
            <a:endParaRPr lang="en-GB" dirty="0"/>
          </a:p>
          <a:p>
            <a:endParaRPr lang="en-PK" dirty="0"/>
          </a:p>
        </p:txBody>
      </p:sp>
    </p:spTree>
    <p:extLst>
      <p:ext uri="{BB962C8B-B14F-4D97-AF65-F5344CB8AC3E}">
        <p14:creationId xmlns:p14="http://schemas.microsoft.com/office/powerpoint/2010/main" val="1205698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BE61A-7AEA-269F-4E6C-B2487A42A18D}"/>
              </a:ext>
            </a:extLst>
          </p:cNvPr>
          <p:cNvSpPr>
            <a:spLocks noGrp="1"/>
          </p:cNvSpPr>
          <p:nvPr>
            <p:ph type="title"/>
          </p:nvPr>
        </p:nvSpPr>
        <p:spPr/>
        <p:txBody>
          <a:bodyPr/>
          <a:lstStyle/>
          <a:p>
            <a:r>
              <a:rPr lang="en-PK" dirty="0"/>
              <a:t>Steps …</a:t>
            </a:r>
          </a:p>
        </p:txBody>
      </p:sp>
      <p:sp>
        <p:nvSpPr>
          <p:cNvPr id="3" name="Content Placeholder 2">
            <a:extLst>
              <a:ext uri="{FF2B5EF4-FFF2-40B4-BE49-F238E27FC236}">
                <a16:creationId xmlns:a16="http://schemas.microsoft.com/office/drawing/2014/main" id="{2E9686DE-4C21-C5CE-67CD-6F30834A9B95}"/>
              </a:ext>
            </a:extLst>
          </p:cNvPr>
          <p:cNvSpPr>
            <a:spLocks noGrp="1"/>
          </p:cNvSpPr>
          <p:nvPr>
            <p:ph idx="1"/>
          </p:nvPr>
        </p:nvSpPr>
        <p:spPr/>
        <p:txBody>
          <a:bodyPr/>
          <a:lstStyle/>
          <a:p>
            <a:pPr marL="114300" indent="0">
              <a:buNone/>
            </a:pPr>
            <a:r>
              <a:rPr lang="en-GB" dirty="0"/>
              <a:t>Understand dataset structure using:</a:t>
            </a:r>
          </a:p>
          <a:p>
            <a:pPr marL="114300" indent="0">
              <a:buNone/>
            </a:pPr>
            <a:endParaRPr lang="en-GB" dirty="0"/>
          </a:p>
          <a:p>
            <a:r>
              <a:rPr lang="en-GB" dirty="0" err="1"/>
              <a:t>df.head</a:t>
            </a:r>
            <a:r>
              <a:rPr lang="en-GB" dirty="0"/>
              <a:t>() → 		first rows</a:t>
            </a:r>
          </a:p>
          <a:p>
            <a:r>
              <a:rPr lang="en-GB" dirty="0" err="1"/>
              <a:t>df.shape</a:t>
            </a:r>
            <a:r>
              <a:rPr lang="en-GB" dirty="0"/>
              <a:t> → 		rows &amp; columns</a:t>
            </a:r>
          </a:p>
          <a:p>
            <a:r>
              <a:rPr lang="en-GB" dirty="0" err="1"/>
              <a:t>df.columns</a:t>
            </a:r>
            <a:r>
              <a:rPr lang="en-GB" dirty="0"/>
              <a:t> → 	feature names</a:t>
            </a:r>
          </a:p>
          <a:p>
            <a:r>
              <a:rPr lang="en-GB" dirty="0" err="1"/>
              <a:t>df.info</a:t>
            </a:r>
            <a:r>
              <a:rPr lang="en-GB" dirty="0"/>
              <a:t>() → 		data types and missing values</a:t>
            </a:r>
          </a:p>
          <a:p>
            <a:r>
              <a:rPr lang="en-GB" dirty="0" err="1"/>
              <a:t>df.describe</a:t>
            </a:r>
            <a:r>
              <a:rPr lang="en-GB" dirty="0"/>
              <a:t>() → 	statistical summary</a:t>
            </a:r>
          </a:p>
          <a:p>
            <a:pPr marL="114300" indent="0">
              <a:buNone/>
            </a:pPr>
            <a:endParaRPr lang="en-GB" dirty="0"/>
          </a:p>
          <a:p>
            <a:pPr marL="114300" indent="0">
              <a:buNone/>
            </a:pPr>
            <a:r>
              <a:rPr lang="en-GB" dirty="0"/>
              <a:t>These functions provide a quick overview of the dataset. </a:t>
            </a:r>
          </a:p>
          <a:p>
            <a:endParaRPr lang="en-PK" dirty="0"/>
          </a:p>
        </p:txBody>
      </p:sp>
    </p:spTree>
    <p:extLst>
      <p:ext uri="{BB962C8B-B14F-4D97-AF65-F5344CB8AC3E}">
        <p14:creationId xmlns:p14="http://schemas.microsoft.com/office/powerpoint/2010/main" val="9349583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54CA5-DD45-5F62-4EED-B715F23FBD08}"/>
              </a:ext>
            </a:extLst>
          </p:cNvPr>
          <p:cNvSpPr>
            <a:spLocks noGrp="1"/>
          </p:cNvSpPr>
          <p:nvPr>
            <p:ph type="title"/>
          </p:nvPr>
        </p:nvSpPr>
        <p:spPr/>
        <p:txBody>
          <a:bodyPr/>
          <a:lstStyle/>
          <a:p>
            <a:r>
              <a:rPr lang="en-PK" dirty="0"/>
              <a:t>Steps …</a:t>
            </a:r>
          </a:p>
        </p:txBody>
      </p:sp>
      <p:sp>
        <p:nvSpPr>
          <p:cNvPr id="3" name="Content Placeholder 2">
            <a:extLst>
              <a:ext uri="{FF2B5EF4-FFF2-40B4-BE49-F238E27FC236}">
                <a16:creationId xmlns:a16="http://schemas.microsoft.com/office/drawing/2014/main" id="{1AB292DD-383A-9A9B-1628-883CB7AC197A}"/>
              </a:ext>
            </a:extLst>
          </p:cNvPr>
          <p:cNvSpPr>
            <a:spLocks noGrp="1"/>
          </p:cNvSpPr>
          <p:nvPr>
            <p:ph idx="1"/>
          </p:nvPr>
        </p:nvSpPr>
        <p:spPr/>
        <p:txBody>
          <a:bodyPr/>
          <a:lstStyle/>
          <a:p>
            <a:pPr marL="114300" indent="0">
              <a:buNone/>
            </a:pPr>
            <a:r>
              <a:rPr lang="en-GB" dirty="0"/>
              <a:t>EDA includes identifying and handling issues such as:</a:t>
            </a:r>
          </a:p>
          <a:p>
            <a:pPr marL="114300" indent="0">
              <a:buNone/>
            </a:pPr>
            <a:endParaRPr lang="en-GB" dirty="0"/>
          </a:p>
          <a:p>
            <a:r>
              <a:rPr lang="en-GB" dirty="0"/>
              <a:t>Missing values</a:t>
            </a:r>
          </a:p>
          <a:p>
            <a:r>
              <a:rPr lang="en-GB" dirty="0"/>
              <a:t>Duplicate records</a:t>
            </a:r>
          </a:p>
          <a:p>
            <a:r>
              <a:rPr lang="en-GB" dirty="0"/>
              <a:t>Incorrect data types</a:t>
            </a:r>
          </a:p>
          <a:p>
            <a:r>
              <a:rPr lang="en-GB" dirty="0"/>
              <a:t>Outliers</a:t>
            </a:r>
          </a:p>
          <a:p>
            <a:pPr marL="114300" indent="0">
              <a:buNone/>
            </a:pPr>
            <a:endParaRPr lang="en-GB" dirty="0"/>
          </a:p>
          <a:p>
            <a:pPr marL="114300" indent="0">
              <a:buNone/>
            </a:pPr>
            <a:r>
              <a:rPr lang="en-GB" dirty="0"/>
              <a:t>Cleaning improves data quality before </a:t>
            </a:r>
            <a:r>
              <a:rPr lang="en-GB" dirty="0" err="1"/>
              <a:t>modeling</a:t>
            </a:r>
            <a:r>
              <a:rPr lang="en-GB" dirty="0"/>
              <a:t>.</a:t>
            </a:r>
          </a:p>
          <a:p>
            <a:endParaRPr lang="en-PK" dirty="0"/>
          </a:p>
        </p:txBody>
      </p:sp>
    </p:spTree>
    <p:extLst>
      <p:ext uri="{BB962C8B-B14F-4D97-AF65-F5344CB8AC3E}">
        <p14:creationId xmlns:p14="http://schemas.microsoft.com/office/powerpoint/2010/main" val="2662917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98236-4D25-6DAC-980A-212405CE0EA5}"/>
              </a:ext>
            </a:extLst>
          </p:cNvPr>
          <p:cNvSpPr>
            <a:spLocks noGrp="1"/>
          </p:cNvSpPr>
          <p:nvPr>
            <p:ph type="title"/>
          </p:nvPr>
        </p:nvSpPr>
        <p:spPr>
          <a:xfrm>
            <a:off x="311700" y="288275"/>
            <a:ext cx="8520600" cy="572700"/>
          </a:xfrm>
        </p:spPr>
        <p:txBody>
          <a:bodyPr/>
          <a:lstStyle/>
          <a:p>
            <a:r>
              <a:rPr lang="en-PK" dirty="0"/>
              <a:t>Analysis Types</a:t>
            </a:r>
          </a:p>
        </p:txBody>
      </p:sp>
      <p:sp>
        <p:nvSpPr>
          <p:cNvPr id="3" name="Content Placeholder 2">
            <a:extLst>
              <a:ext uri="{FF2B5EF4-FFF2-40B4-BE49-F238E27FC236}">
                <a16:creationId xmlns:a16="http://schemas.microsoft.com/office/drawing/2014/main" id="{E6855017-3B7E-A6EC-FB61-9383C666C11C}"/>
              </a:ext>
            </a:extLst>
          </p:cNvPr>
          <p:cNvSpPr>
            <a:spLocks noGrp="1"/>
          </p:cNvSpPr>
          <p:nvPr>
            <p:ph idx="1"/>
          </p:nvPr>
        </p:nvSpPr>
        <p:spPr>
          <a:xfrm>
            <a:off x="311700" y="1015315"/>
            <a:ext cx="8520600" cy="3416400"/>
          </a:xfrm>
        </p:spPr>
        <p:txBody>
          <a:bodyPr/>
          <a:lstStyle/>
          <a:p>
            <a:pPr marL="114300" indent="0">
              <a:buNone/>
            </a:pPr>
            <a:r>
              <a:rPr lang="en-GB" b="1" dirty="0"/>
              <a:t>Univariate Analysis</a:t>
            </a:r>
          </a:p>
          <a:p>
            <a:pPr marL="114300" indent="0">
              <a:buNone/>
            </a:pPr>
            <a:r>
              <a:rPr lang="en-GB" dirty="0" err="1"/>
              <a:t>Analyzing</a:t>
            </a:r>
            <a:r>
              <a:rPr lang="en-GB" dirty="0"/>
              <a:t> </a:t>
            </a:r>
            <a:r>
              <a:rPr lang="en-GB" b="1" dirty="0"/>
              <a:t>one variable at a time</a:t>
            </a:r>
            <a:r>
              <a:rPr lang="en-GB" dirty="0"/>
              <a:t>.</a:t>
            </a:r>
          </a:p>
          <a:p>
            <a:endParaRPr lang="en-GB" dirty="0"/>
          </a:p>
          <a:p>
            <a:pPr marL="114300" indent="0">
              <a:buNone/>
            </a:pPr>
            <a:r>
              <a:rPr lang="en-GB" dirty="0"/>
              <a:t>Common plots:</a:t>
            </a:r>
          </a:p>
          <a:p>
            <a:endParaRPr lang="en-GB" dirty="0"/>
          </a:p>
          <a:p>
            <a:r>
              <a:rPr lang="en-GB" dirty="0"/>
              <a:t>Histogram</a:t>
            </a:r>
          </a:p>
          <a:p>
            <a:r>
              <a:rPr lang="en-GB" dirty="0"/>
              <a:t>Boxplot</a:t>
            </a:r>
          </a:p>
          <a:p>
            <a:r>
              <a:rPr lang="en-GB" dirty="0" err="1"/>
              <a:t>Countplot</a:t>
            </a:r>
            <a:endParaRPr lang="en-GB" dirty="0"/>
          </a:p>
          <a:p>
            <a:pPr marL="114300" indent="0">
              <a:buNone/>
            </a:pPr>
            <a:endParaRPr lang="en-GB" dirty="0"/>
          </a:p>
          <a:p>
            <a:pPr marL="114300" indent="0">
              <a:buNone/>
            </a:pPr>
            <a:r>
              <a:rPr lang="en-GB" dirty="0"/>
              <a:t>Purpose:</a:t>
            </a:r>
          </a:p>
          <a:p>
            <a:endParaRPr lang="en-GB" dirty="0"/>
          </a:p>
          <a:p>
            <a:r>
              <a:rPr lang="en-GB" dirty="0"/>
              <a:t>Understand distribution</a:t>
            </a:r>
          </a:p>
          <a:p>
            <a:r>
              <a:rPr lang="en-GB" dirty="0"/>
              <a:t>Detect skewness</a:t>
            </a:r>
          </a:p>
          <a:p>
            <a:r>
              <a:rPr lang="en-GB" dirty="0"/>
              <a:t>Identify outliers</a:t>
            </a:r>
          </a:p>
          <a:p>
            <a:endParaRPr lang="en-PK" dirty="0"/>
          </a:p>
        </p:txBody>
      </p:sp>
    </p:spTree>
    <p:extLst>
      <p:ext uri="{BB962C8B-B14F-4D97-AF65-F5344CB8AC3E}">
        <p14:creationId xmlns:p14="http://schemas.microsoft.com/office/powerpoint/2010/main" val="1953287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5644B-700A-04A2-B145-F03C58D83FE8}"/>
              </a:ext>
            </a:extLst>
          </p:cNvPr>
          <p:cNvSpPr>
            <a:spLocks noGrp="1"/>
          </p:cNvSpPr>
          <p:nvPr>
            <p:ph type="title"/>
          </p:nvPr>
        </p:nvSpPr>
        <p:spPr/>
        <p:txBody>
          <a:bodyPr/>
          <a:lstStyle/>
          <a:p>
            <a:r>
              <a:rPr lang="en-PK" dirty="0"/>
              <a:t>Analysis Type</a:t>
            </a:r>
          </a:p>
        </p:txBody>
      </p:sp>
      <p:sp>
        <p:nvSpPr>
          <p:cNvPr id="3" name="Content Placeholder 2">
            <a:extLst>
              <a:ext uri="{FF2B5EF4-FFF2-40B4-BE49-F238E27FC236}">
                <a16:creationId xmlns:a16="http://schemas.microsoft.com/office/drawing/2014/main" id="{A271BC3F-D5AD-4FB7-E5B2-464E166C211D}"/>
              </a:ext>
            </a:extLst>
          </p:cNvPr>
          <p:cNvSpPr>
            <a:spLocks noGrp="1"/>
          </p:cNvSpPr>
          <p:nvPr>
            <p:ph idx="1"/>
          </p:nvPr>
        </p:nvSpPr>
        <p:spPr/>
        <p:txBody>
          <a:bodyPr/>
          <a:lstStyle/>
          <a:p>
            <a:r>
              <a:rPr lang="en-GB" b="1" dirty="0"/>
              <a:t>Bivariate Analysis</a:t>
            </a:r>
          </a:p>
          <a:p>
            <a:pPr marL="114300" indent="0">
              <a:buNone/>
            </a:pPr>
            <a:r>
              <a:rPr lang="en-GB" dirty="0" err="1"/>
              <a:t>Analyzing</a:t>
            </a:r>
            <a:r>
              <a:rPr lang="en-GB" dirty="0"/>
              <a:t> </a:t>
            </a:r>
            <a:r>
              <a:rPr lang="en-GB" b="1" dirty="0"/>
              <a:t>relationships between two variables</a:t>
            </a:r>
            <a:r>
              <a:rPr lang="en-GB" dirty="0"/>
              <a:t>.</a:t>
            </a:r>
          </a:p>
          <a:p>
            <a:pPr marL="114300" indent="0">
              <a:buNone/>
            </a:pPr>
            <a:endParaRPr lang="en-GB" dirty="0"/>
          </a:p>
          <a:p>
            <a:pPr marL="114300" indent="0">
              <a:buNone/>
            </a:pPr>
            <a:r>
              <a:rPr lang="en-GB" dirty="0"/>
              <a:t>Common plots:</a:t>
            </a:r>
          </a:p>
          <a:p>
            <a:r>
              <a:rPr lang="en-GB" dirty="0"/>
              <a:t>Scatter plots</a:t>
            </a:r>
          </a:p>
          <a:p>
            <a:r>
              <a:rPr lang="en-GB" dirty="0"/>
              <a:t>Bar plots</a:t>
            </a:r>
          </a:p>
          <a:p>
            <a:r>
              <a:rPr lang="en-GB" dirty="0"/>
              <a:t>Heatmaps</a:t>
            </a:r>
          </a:p>
          <a:p>
            <a:pPr marL="114300" indent="0">
              <a:buNone/>
            </a:pPr>
            <a:endParaRPr lang="en-GB" dirty="0"/>
          </a:p>
          <a:p>
            <a:pPr marL="114300" indent="0">
              <a:buNone/>
            </a:pPr>
            <a:r>
              <a:rPr lang="en-GB" dirty="0"/>
              <a:t>Purpose:</a:t>
            </a:r>
          </a:p>
          <a:p>
            <a:r>
              <a:rPr lang="en-GB" dirty="0"/>
              <a:t>Detect correlations</a:t>
            </a:r>
          </a:p>
          <a:p>
            <a:r>
              <a:rPr lang="en-GB" dirty="0"/>
              <a:t>Find patterns between features.</a:t>
            </a:r>
          </a:p>
          <a:p>
            <a:endParaRPr lang="en-PK" dirty="0"/>
          </a:p>
        </p:txBody>
      </p:sp>
    </p:spTree>
    <p:extLst>
      <p:ext uri="{BB962C8B-B14F-4D97-AF65-F5344CB8AC3E}">
        <p14:creationId xmlns:p14="http://schemas.microsoft.com/office/powerpoint/2010/main" val="5114612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C1317-EB30-A0C3-EB6F-20F09A1971B0}"/>
              </a:ext>
            </a:extLst>
          </p:cNvPr>
          <p:cNvSpPr>
            <a:spLocks noGrp="1"/>
          </p:cNvSpPr>
          <p:nvPr>
            <p:ph type="title"/>
          </p:nvPr>
        </p:nvSpPr>
        <p:spPr/>
        <p:txBody>
          <a:bodyPr/>
          <a:lstStyle/>
          <a:p>
            <a:r>
              <a:rPr lang="en-PK" dirty="0"/>
              <a:t>Analysis Types</a:t>
            </a:r>
          </a:p>
        </p:txBody>
      </p:sp>
      <p:sp>
        <p:nvSpPr>
          <p:cNvPr id="3" name="Content Placeholder 2">
            <a:extLst>
              <a:ext uri="{FF2B5EF4-FFF2-40B4-BE49-F238E27FC236}">
                <a16:creationId xmlns:a16="http://schemas.microsoft.com/office/drawing/2014/main" id="{018D6ED8-EA75-57DB-4CC6-92B3C3973F4E}"/>
              </a:ext>
            </a:extLst>
          </p:cNvPr>
          <p:cNvSpPr>
            <a:spLocks noGrp="1"/>
          </p:cNvSpPr>
          <p:nvPr>
            <p:ph idx="1"/>
          </p:nvPr>
        </p:nvSpPr>
        <p:spPr/>
        <p:txBody>
          <a:bodyPr/>
          <a:lstStyle/>
          <a:p>
            <a:r>
              <a:rPr lang="en-GB" b="1" dirty="0"/>
              <a:t>Correlation Analysis</a:t>
            </a:r>
          </a:p>
          <a:p>
            <a:pPr marL="114300" indent="0">
              <a:buNone/>
            </a:pPr>
            <a:r>
              <a:rPr lang="en-GB" dirty="0"/>
              <a:t>EDA also examines how variables relate to each other using </a:t>
            </a:r>
            <a:r>
              <a:rPr lang="en-GB" b="1" dirty="0"/>
              <a:t>correlation matrices</a:t>
            </a:r>
            <a:r>
              <a:rPr lang="en-GB" dirty="0"/>
              <a:t>.</a:t>
            </a:r>
          </a:p>
          <a:p>
            <a:pPr marL="114300" indent="0">
              <a:buNone/>
            </a:pPr>
            <a:endParaRPr lang="en-GB" dirty="0"/>
          </a:p>
          <a:p>
            <a:pPr marL="114300" indent="0">
              <a:buNone/>
            </a:pPr>
            <a:r>
              <a:rPr lang="en-GB" dirty="0"/>
              <a:t>Example:</a:t>
            </a:r>
          </a:p>
          <a:p>
            <a:pPr marL="114300" indent="0">
              <a:buNone/>
            </a:pPr>
            <a:endParaRPr lang="en-GB" dirty="0"/>
          </a:p>
          <a:p>
            <a:r>
              <a:rPr lang="en-GB" dirty="0" err="1"/>
              <a:t>df.corr</a:t>
            </a:r>
            <a:r>
              <a:rPr lang="en-GB" dirty="0"/>
              <a:t>()</a:t>
            </a:r>
            <a:br>
              <a:rPr lang="en-GB" dirty="0"/>
            </a:br>
            <a:r>
              <a:rPr lang="en-GB" dirty="0" err="1"/>
              <a:t>sns.heatmap</a:t>
            </a:r>
            <a:r>
              <a:rPr lang="en-GB" dirty="0"/>
              <a:t>(</a:t>
            </a:r>
            <a:r>
              <a:rPr lang="en-GB" dirty="0" err="1"/>
              <a:t>df.corr</a:t>
            </a:r>
            <a:r>
              <a:rPr lang="en-GB" dirty="0"/>
              <a:t>())</a:t>
            </a:r>
          </a:p>
          <a:p>
            <a:endParaRPr lang="en-GB" dirty="0"/>
          </a:p>
          <a:p>
            <a:pPr marL="114300" indent="0">
              <a:buNone/>
            </a:pPr>
            <a:r>
              <a:rPr lang="en-GB" dirty="0"/>
              <a:t>This helps identify features that strongly influence each other.</a:t>
            </a:r>
          </a:p>
          <a:p>
            <a:endParaRPr lang="en-PK" dirty="0"/>
          </a:p>
        </p:txBody>
      </p:sp>
    </p:spTree>
    <p:extLst>
      <p:ext uri="{BB962C8B-B14F-4D97-AF65-F5344CB8AC3E}">
        <p14:creationId xmlns:p14="http://schemas.microsoft.com/office/powerpoint/2010/main" val="1878106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3EBF-F39A-1744-5658-2841D4E500CA}"/>
              </a:ext>
            </a:extLst>
          </p:cNvPr>
          <p:cNvSpPr>
            <a:spLocks noGrp="1"/>
          </p:cNvSpPr>
          <p:nvPr>
            <p:ph type="title"/>
          </p:nvPr>
        </p:nvSpPr>
        <p:spPr/>
        <p:txBody>
          <a:bodyPr/>
          <a:lstStyle/>
          <a:p>
            <a:r>
              <a:rPr lang="en-PK" dirty="0"/>
              <a:t>Analysis Types</a:t>
            </a:r>
          </a:p>
        </p:txBody>
      </p:sp>
      <p:sp>
        <p:nvSpPr>
          <p:cNvPr id="3" name="Content Placeholder 2">
            <a:extLst>
              <a:ext uri="{FF2B5EF4-FFF2-40B4-BE49-F238E27FC236}">
                <a16:creationId xmlns:a16="http://schemas.microsoft.com/office/drawing/2014/main" id="{49C7636A-065C-2A23-333E-421A90299891}"/>
              </a:ext>
            </a:extLst>
          </p:cNvPr>
          <p:cNvSpPr>
            <a:spLocks noGrp="1"/>
          </p:cNvSpPr>
          <p:nvPr>
            <p:ph idx="1"/>
          </p:nvPr>
        </p:nvSpPr>
        <p:spPr/>
        <p:txBody>
          <a:bodyPr/>
          <a:lstStyle/>
          <a:p>
            <a:pPr marL="114300" indent="0">
              <a:buNone/>
            </a:pPr>
            <a:r>
              <a:rPr lang="en-GB" b="1" dirty="0"/>
              <a:t>Visualization in EDA</a:t>
            </a:r>
          </a:p>
          <a:p>
            <a:r>
              <a:rPr lang="en-GB" dirty="0"/>
              <a:t>Visualization is important because it makes patterns easier to understand.</a:t>
            </a:r>
          </a:p>
          <a:p>
            <a:pPr marL="114300" indent="0">
              <a:buNone/>
            </a:pPr>
            <a:endParaRPr lang="en-GB" dirty="0"/>
          </a:p>
          <a:p>
            <a:pPr marL="114300" indent="0">
              <a:buNone/>
            </a:pPr>
            <a:r>
              <a:rPr lang="en-GB" dirty="0"/>
              <a:t>Common visualizations include:</a:t>
            </a:r>
          </a:p>
          <a:p>
            <a:r>
              <a:rPr lang="en-GB" dirty="0"/>
              <a:t>Histograms</a:t>
            </a:r>
          </a:p>
          <a:p>
            <a:r>
              <a:rPr lang="en-GB" dirty="0"/>
              <a:t>Scatter plots</a:t>
            </a:r>
          </a:p>
          <a:p>
            <a:r>
              <a:rPr lang="en-GB" dirty="0"/>
              <a:t>Box plots</a:t>
            </a:r>
          </a:p>
          <a:p>
            <a:r>
              <a:rPr lang="en-GB" dirty="0"/>
              <a:t>Heatmaps</a:t>
            </a:r>
          </a:p>
          <a:p>
            <a:r>
              <a:rPr lang="en-GB" dirty="0"/>
              <a:t>Pair plots</a:t>
            </a:r>
          </a:p>
          <a:p>
            <a:pPr marL="114300" indent="0">
              <a:buNone/>
            </a:pPr>
            <a:endParaRPr lang="en-GB" dirty="0"/>
          </a:p>
          <a:p>
            <a:pPr marL="114300" indent="0">
              <a:buNone/>
            </a:pPr>
            <a:r>
              <a:rPr lang="en-GB" dirty="0"/>
              <a:t>These graphs help reveal trends and anomalies.</a:t>
            </a:r>
          </a:p>
          <a:p>
            <a:endParaRPr lang="en-PK" dirty="0"/>
          </a:p>
        </p:txBody>
      </p:sp>
    </p:spTree>
    <p:extLst>
      <p:ext uri="{BB962C8B-B14F-4D97-AF65-F5344CB8AC3E}">
        <p14:creationId xmlns:p14="http://schemas.microsoft.com/office/powerpoint/2010/main" val="25894855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F6C03-7258-4F45-D151-C48B6F29E7A3}"/>
              </a:ext>
            </a:extLst>
          </p:cNvPr>
          <p:cNvSpPr>
            <a:spLocks noGrp="1"/>
          </p:cNvSpPr>
          <p:nvPr>
            <p:ph type="title"/>
          </p:nvPr>
        </p:nvSpPr>
        <p:spPr/>
        <p:txBody>
          <a:bodyPr/>
          <a:lstStyle/>
          <a:p>
            <a:r>
              <a:rPr lang="en-GB" dirty="0"/>
              <a:t>Why EDA is Important</a:t>
            </a:r>
            <a:br>
              <a:rPr lang="en-GB" dirty="0"/>
            </a:br>
            <a:endParaRPr lang="en-PK" dirty="0"/>
          </a:p>
        </p:txBody>
      </p:sp>
      <p:sp>
        <p:nvSpPr>
          <p:cNvPr id="3" name="Content Placeholder 2">
            <a:extLst>
              <a:ext uri="{FF2B5EF4-FFF2-40B4-BE49-F238E27FC236}">
                <a16:creationId xmlns:a16="http://schemas.microsoft.com/office/drawing/2014/main" id="{9CB49AF6-9896-F9E4-570C-CD03DF780A0E}"/>
              </a:ext>
            </a:extLst>
          </p:cNvPr>
          <p:cNvSpPr>
            <a:spLocks noGrp="1"/>
          </p:cNvSpPr>
          <p:nvPr>
            <p:ph idx="1"/>
          </p:nvPr>
        </p:nvSpPr>
        <p:spPr/>
        <p:txBody>
          <a:bodyPr/>
          <a:lstStyle/>
          <a:p>
            <a:pPr marL="114300" indent="0">
              <a:buNone/>
            </a:pPr>
            <a:r>
              <a:rPr lang="en-GB" dirty="0"/>
              <a:t>EDA is essential because it:</a:t>
            </a:r>
          </a:p>
          <a:p>
            <a:pPr marL="114300" indent="0">
              <a:buNone/>
            </a:pPr>
            <a:endParaRPr lang="en-GB" dirty="0"/>
          </a:p>
          <a:p>
            <a:r>
              <a:rPr lang="en-GB" dirty="0"/>
              <a:t>Helps understand the dataset</a:t>
            </a:r>
          </a:p>
          <a:p>
            <a:r>
              <a:rPr lang="en-GB" dirty="0"/>
              <a:t>Improves data quality</a:t>
            </a:r>
          </a:p>
          <a:p>
            <a:r>
              <a:rPr lang="en-GB" dirty="0"/>
              <a:t>Detects anomalies early</a:t>
            </a:r>
          </a:p>
          <a:p>
            <a:r>
              <a:rPr lang="en-GB" dirty="0"/>
              <a:t>Guides feature selection</a:t>
            </a:r>
          </a:p>
          <a:p>
            <a:r>
              <a:rPr lang="en-GB" dirty="0"/>
              <a:t>Improves machine learning models</a:t>
            </a:r>
          </a:p>
          <a:p>
            <a:pPr marL="114300" indent="0">
              <a:buNone/>
            </a:pPr>
            <a:endParaRPr lang="en-GB" dirty="0"/>
          </a:p>
          <a:p>
            <a:pPr marL="114300" indent="0">
              <a:buNone/>
            </a:pPr>
            <a:r>
              <a:rPr lang="en-GB" dirty="0"/>
              <a:t>Without EDA, building models can lead to incorrect conclusions.</a:t>
            </a:r>
          </a:p>
          <a:p>
            <a:endParaRPr lang="en-PK" dirty="0"/>
          </a:p>
        </p:txBody>
      </p:sp>
    </p:spTree>
    <p:extLst>
      <p:ext uri="{BB962C8B-B14F-4D97-AF65-F5344CB8AC3E}">
        <p14:creationId xmlns:p14="http://schemas.microsoft.com/office/powerpoint/2010/main" val="28927809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923C9-4F99-E714-0D68-A144DDE035A6}"/>
              </a:ext>
            </a:extLst>
          </p:cNvPr>
          <p:cNvSpPr>
            <a:spLocks noGrp="1"/>
          </p:cNvSpPr>
          <p:nvPr>
            <p:ph type="title"/>
          </p:nvPr>
        </p:nvSpPr>
        <p:spPr/>
        <p:txBody>
          <a:bodyPr/>
          <a:lstStyle/>
          <a:p>
            <a:r>
              <a:rPr lang="en-PK" dirty="0"/>
              <a:t>Demos</a:t>
            </a:r>
          </a:p>
        </p:txBody>
      </p:sp>
      <p:sp>
        <p:nvSpPr>
          <p:cNvPr id="3" name="Content Placeholder 2">
            <a:extLst>
              <a:ext uri="{FF2B5EF4-FFF2-40B4-BE49-F238E27FC236}">
                <a16:creationId xmlns:a16="http://schemas.microsoft.com/office/drawing/2014/main" id="{F52C5FF2-0DD4-AEA8-5912-2FD705A032F9}"/>
              </a:ext>
            </a:extLst>
          </p:cNvPr>
          <p:cNvSpPr>
            <a:spLocks noGrp="1"/>
          </p:cNvSpPr>
          <p:nvPr>
            <p:ph idx="1"/>
          </p:nvPr>
        </p:nvSpPr>
        <p:spPr/>
        <p:txBody>
          <a:bodyPr/>
          <a:lstStyle/>
          <a:p>
            <a:r>
              <a:rPr lang="en-PK" dirty="0"/>
              <a:t>Follow the worksheets shared</a:t>
            </a:r>
          </a:p>
        </p:txBody>
      </p:sp>
    </p:spTree>
    <p:extLst>
      <p:ext uri="{BB962C8B-B14F-4D97-AF65-F5344CB8AC3E}">
        <p14:creationId xmlns:p14="http://schemas.microsoft.com/office/powerpoint/2010/main" val="3278012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8473-12F0-00BA-1053-327DB277BF6E}"/>
              </a:ext>
            </a:extLst>
          </p:cNvPr>
          <p:cNvSpPr>
            <a:spLocks noGrp="1"/>
          </p:cNvSpPr>
          <p:nvPr>
            <p:ph type="title"/>
          </p:nvPr>
        </p:nvSpPr>
        <p:spPr>
          <a:xfrm>
            <a:off x="185970" y="158675"/>
            <a:ext cx="8520600" cy="572700"/>
          </a:xfrm>
        </p:spPr>
        <p:txBody>
          <a:bodyPr/>
          <a:lstStyle/>
          <a:p>
            <a:r>
              <a:rPr lang="en-PK" dirty="0"/>
              <a:t>Distributions</a:t>
            </a:r>
          </a:p>
        </p:txBody>
      </p:sp>
      <p:pic>
        <p:nvPicPr>
          <p:cNvPr id="4" name="Picture 3">
            <a:extLst>
              <a:ext uri="{FF2B5EF4-FFF2-40B4-BE49-F238E27FC236}">
                <a16:creationId xmlns:a16="http://schemas.microsoft.com/office/drawing/2014/main" id="{DA668501-CC00-63C9-8711-21DFDF55764B}"/>
              </a:ext>
            </a:extLst>
          </p:cNvPr>
          <p:cNvPicPr>
            <a:picLocks noChangeAspect="1"/>
          </p:cNvPicPr>
          <p:nvPr/>
        </p:nvPicPr>
        <p:blipFill>
          <a:blip r:embed="rId2"/>
          <a:stretch>
            <a:fillRect/>
          </a:stretch>
        </p:blipFill>
        <p:spPr>
          <a:xfrm>
            <a:off x="685800" y="731375"/>
            <a:ext cx="7772400" cy="4178442"/>
          </a:xfrm>
          <a:prstGeom prst="rect">
            <a:avLst/>
          </a:prstGeom>
        </p:spPr>
      </p:pic>
    </p:spTree>
    <p:extLst>
      <p:ext uri="{BB962C8B-B14F-4D97-AF65-F5344CB8AC3E}">
        <p14:creationId xmlns:p14="http://schemas.microsoft.com/office/powerpoint/2010/main" val="2307445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80436D-B377-E9F2-40A5-C72420B1C61E}"/>
              </a:ext>
            </a:extLst>
          </p:cNvPr>
          <p:cNvPicPr>
            <a:picLocks noChangeAspect="1"/>
          </p:cNvPicPr>
          <p:nvPr/>
        </p:nvPicPr>
        <p:blipFill>
          <a:blip r:embed="rId2"/>
          <a:srcRect t="2649" b="16416"/>
          <a:stretch>
            <a:fillRect/>
          </a:stretch>
        </p:blipFill>
        <p:spPr>
          <a:xfrm>
            <a:off x="20" y="10"/>
            <a:ext cx="9143980" cy="5143490"/>
          </a:xfrm>
          <a:prstGeom prst="rect">
            <a:avLst/>
          </a:prstGeom>
          <a:noFill/>
        </p:spPr>
      </p:pic>
    </p:spTree>
    <p:extLst>
      <p:ext uri="{BB962C8B-B14F-4D97-AF65-F5344CB8AC3E}">
        <p14:creationId xmlns:p14="http://schemas.microsoft.com/office/powerpoint/2010/main" val="1510751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401D-6FAB-84FB-85CD-DB9B0D66955A}"/>
              </a:ext>
            </a:extLst>
          </p:cNvPr>
          <p:cNvPicPr>
            <a:picLocks noChangeAspect="1"/>
          </p:cNvPicPr>
          <p:nvPr/>
        </p:nvPicPr>
        <p:blipFill>
          <a:blip r:embed="rId2"/>
          <a:srcRect t="25983" r="2" b="2"/>
          <a:stretch>
            <a:fillRect/>
          </a:stretch>
        </p:blipFill>
        <p:spPr>
          <a:xfrm>
            <a:off x="90488" y="50800"/>
            <a:ext cx="8963025" cy="5041900"/>
          </a:xfrm>
          <a:prstGeom prst="rect">
            <a:avLst/>
          </a:prstGeom>
          <a:noFill/>
        </p:spPr>
      </p:pic>
      <p:sp>
        <p:nvSpPr>
          <p:cNvPr id="5" name="TextBox 4">
            <a:extLst>
              <a:ext uri="{FF2B5EF4-FFF2-40B4-BE49-F238E27FC236}">
                <a16:creationId xmlns:a16="http://schemas.microsoft.com/office/drawing/2014/main" id="{22C52EA7-A2F9-C1D7-2AC7-8F7F8AD6994A}"/>
              </a:ext>
            </a:extLst>
          </p:cNvPr>
          <p:cNvSpPr txBox="1"/>
          <p:nvPr/>
        </p:nvSpPr>
        <p:spPr>
          <a:xfrm>
            <a:off x="5241069" y="397400"/>
            <a:ext cx="3344185" cy="523220"/>
          </a:xfrm>
          <a:prstGeom prst="rect">
            <a:avLst/>
          </a:prstGeom>
          <a:noFill/>
        </p:spPr>
        <p:txBody>
          <a:bodyPr wrap="none" rtlCol="0">
            <a:spAutoFit/>
          </a:bodyPr>
          <a:lstStyle/>
          <a:p>
            <a:r>
              <a:rPr lang="en-PK" sz="2800" dirty="0"/>
              <a:t>Uniform Distribution</a:t>
            </a:r>
          </a:p>
        </p:txBody>
      </p:sp>
    </p:spTree>
    <p:extLst>
      <p:ext uri="{BB962C8B-B14F-4D97-AF65-F5344CB8AC3E}">
        <p14:creationId xmlns:p14="http://schemas.microsoft.com/office/powerpoint/2010/main" val="750987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7371D-7BD6-4570-E4EC-6BEE5C85CBE7}"/>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DD7FACED-26BA-459E-40FE-B7C083F5C729}"/>
              </a:ext>
            </a:extLst>
          </p:cNvPr>
          <p:cNvSpPr>
            <a:spLocks noGrp="1"/>
          </p:cNvSpPr>
          <p:nvPr>
            <p:ph idx="1"/>
          </p:nvPr>
        </p:nvSpPr>
        <p:spPr/>
        <p:txBody>
          <a:bodyPr/>
          <a:lstStyle/>
          <a:p>
            <a:endParaRPr lang="en-PK"/>
          </a:p>
        </p:txBody>
      </p:sp>
      <p:pic>
        <p:nvPicPr>
          <p:cNvPr id="4" name="Picture 3">
            <a:extLst>
              <a:ext uri="{FF2B5EF4-FFF2-40B4-BE49-F238E27FC236}">
                <a16:creationId xmlns:a16="http://schemas.microsoft.com/office/drawing/2014/main" id="{6739B999-98F0-8DE1-7925-4C9459409C77}"/>
              </a:ext>
            </a:extLst>
          </p:cNvPr>
          <p:cNvPicPr>
            <a:picLocks noChangeAspect="1"/>
          </p:cNvPicPr>
          <p:nvPr/>
        </p:nvPicPr>
        <p:blipFill>
          <a:blip r:embed="rId2"/>
          <a:stretch>
            <a:fillRect/>
          </a:stretch>
        </p:blipFill>
        <p:spPr>
          <a:xfrm>
            <a:off x="1163656" y="0"/>
            <a:ext cx="6816687" cy="5143500"/>
          </a:xfrm>
          <a:prstGeom prst="rect">
            <a:avLst/>
          </a:prstGeom>
        </p:spPr>
      </p:pic>
    </p:spTree>
    <p:extLst>
      <p:ext uri="{BB962C8B-B14F-4D97-AF65-F5344CB8AC3E}">
        <p14:creationId xmlns:p14="http://schemas.microsoft.com/office/powerpoint/2010/main" val="42621265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D5A575-1C62-63F3-74F9-434B4CBD86EE}"/>
              </a:ext>
            </a:extLst>
          </p:cNvPr>
          <p:cNvPicPr>
            <a:picLocks noChangeAspect="1"/>
          </p:cNvPicPr>
          <p:nvPr/>
        </p:nvPicPr>
        <p:blipFill>
          <a:blip r:embed="rId2"/>
          <a:stretch>
            <a:fillRect/>
          </a:stretch>
        </p:blipFill>
        <p:spPr>
          <a:xfrm>
            <a:off x="168594" y="50800"/>
            <a:ext cx="8806812" cy="5041900"/>
          </a:xfrm>
          <a:prstGeom prst="rect">
            <a:avLst/>
          </a:prstGeom>
          <a:noFill/>
        </p:spPr>
      </p:pic>
    </p:spTree>
    <p:extLst>
      <p:ext uri="{BB962C8B-B14F-4D97-AF65-F5344CB8AC3E}">
        <p14:creationId xmlns:p14="http://schemas.microsoft.com/office/powerpoint/2010/main" val="1124130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C18626D-2EF4-0B71-2994-50B4252ABAE8}"/>
              </a:ext>
            </a:extLst>
          </p:cNvPr>
          <p:cNvPicPr>
            <a:picLocks noChangeAspect="1"/>
          </p:cNvPicPr>
          <p:nvPr/>
        </p:nvPicPr>
        <p:blipFill>
          <a:blip r:embed="rId2"/>
          <a:stretch>
            <a:fillRect/>
          </a:stretch>
        </p:blipFill>
        <p:spPr>
          <a:xfrm>
            <a:off x="0" y="39756"/>
            <a:ext cx="6797228" cy="5041900"/>
          </a:xfrm>
          <a:prstGeom prst="rect">
            <a:avLst/>
          </a:prstGeom>
          <a:noFill/>
        </p:spPr>
      </p:pic>
      <p:sp>
        <p:nvSpPr>
          <p:cNvPr id="6" name="TextBox 5">
            <a:extLst>
              <a:ext uri="{FF2B5EF4-FFF2-40B4-BE49-F238E27FC236}">
                <a16:creationId xmlns:a16="http://schemas.microsoft.com/office/drawing/2014/main" id="{3377C2BE-4DDB-F931-A1E4-3B9024862138}"/>
              </a:ext>
            </a:extLst>
          </p:cNvPr>
          <p:cNvSpPr txBox="1"/>
          <p:nvPr/>
        </p:nvSpPr>
        <p:spPr>
          <a:xfrm>
            <a:off x="4676681" y="658806"/>
            <a:ext cx="4362638" cy="2462213"/>
          </a:xfrm>
          <a:prstGeom prst="rect">
            <a:avLst/>
          </a:prstGeom>
          <a:noFill/>
        </p:spPr>
        <p:txBody>
          <a:bodyPr wrap="square">
            <a:spAutoFit/>
          </a:bodyPr>
          <a:lstStyle/>
          <a:p>
            <a:r>
              <a:rPr lang="en-GB" b="0" i="0" dirty="0">
                <a:solidFill>
                  <a:srgbClr val="13161B"/>
                </a:solidFill>
                <a:effectLst/>
                <a:latin typeface="-apple-system"/>
              </a:rPr>
              <a:t>Poisson distribution deals with the frequency with which an event occurs within a specific interval. </a:t>
            </a:r>
          </a:p>
          <a:p>
            <a:endParaRPr lang="en-GB" dirty="0">
              <a:solidFill>
                <a:srgbClr val="13161B"/>
              </a:solidFill>
              <a:latin typeface="-apple-system"/>
            </a:endParaRPr>
          </a:p>
          <a:p>
            <a:r>
              <a:rPr lang="en-GB" b="0" i="0" dirty="0">
                <a:solidFill>
                  <a:srgbClr val="13161B"/>
                </a:solidFill>
                <a:effectLst/>
                <a:latin typeface="-apple-system"/>
              </a:rPr>
              <a:t>Instead of the probability of an event, Poisson distribution requires knowing how often it happens in a particular period or distance. </a:t>
            </a:r>
          </a:p>
          <a:p>
            <a:endParaRPr lang="en-GB" dirty="0">
              <a:solidFill>
                <a:srgbClr val="13161B"/>
              </a:solidFill>
              <a:latin typeface="-apple-system"/>
            </a:endParaRPr>
          </a:p>
          <a:p>
            <a:r>
              <a:rPr lang="en-GB" b="0" i="0" dirty="0">
                <a:solidFill>
                  <a:srgbClr val="13161B"/>
                </a:solidFill>
                <a:effectLst/>
                <a:latin typeface="-apple-system"/>
              </a:rPr>
              <a:t>For example, a cricket chirps two times in 7 seconds on average. We can use the Poisson distribution to determine the likelihood of it chirping five times in 15 seconds.</a:t>
            </a:r>
            <a:endParaRPr lang="en-PK" dirty="0"/>
          </a:p>
        </p:txBody>
      </p:sp>
      <p:sp>
        <p:nvSpPr>
          <p:cNvPr id="8" name="TextBox 7">
            <a:extLst>
              <a:ext uri="{FF2B5EF4-FFF2-40B4-BE49-F238E27FC236}">
                <a16:creationId xmlns:a16="http://schemas.microsoft.com/office/drawing/2014/main" id="{CD94CE37-D064-357D-2BDB-A623ED8B6ED1}"/>
              </a:ext>
            </a:extLst>
          </p:cNvPr>
          <p:cNvSpPr txBox="1"/>
          <p:nvPr/>
        </p:nvSpPr>
        <p:spPr>
          <a:xfrm>
            <a:off x="6572250" y="256948"/>
            <a:ext cx="2388870" cy="400110"/>
          </a:xfrm>
          <a:prstGeom prst="rect">
            <a:avLst/>
          </a:prstGeom>
          <a:noFill/>
        </p:spPr>
        <p:txBody>
          <a:bodyPr wrap="square">
            <a:spAutoFit/>
          </a:bodyPr>
          <a:lstStyle/>
          <a:p>
            <a:r>
              <a:rPr lang="en-GB" sz="2000" b="0" i="0" dirty="0">
                <a:solidFill>
                  <a:srgbClr val="13161B"/>
                </a:solidFill>
                <a:effectLst/>
                <a:latin typeface="-apple-system"/>
              </a:rPr>
              <a:t>Poisson distribution </a:t>
            </a:r>
            <a:endParaRPr lang="en-PK" sz="2000" dirty="0"/>
          </a:p>
        </p:txBody>
      </p:sp>
      <p:sp>
        <p:nvSpPr>
          <p:cNvPr id="10" name="TextBox 9">
            <a:extLst>
              <a:ext uri="{FF2B5EF4-FFF2-40B4-BE49-F238E27FC236}">
                <a16:creationId xmlns:a16="http://schemas.microsoft.com/office/drawing/2014/main" id="{7ED9510E-D3A2-1496-5560-8572A5EB8872}"/>
              </a:ext>
            </a:extLst>
          </p:cNvPr>
          <p:cNvSpPr txBox="1"/>
          <p:nvPr/>
        </p:nvSpPr>
        <p:spPr>
          <a:xfrm>
            <a:off x="4676681" y="3144508"/>
            <a:ext cx="4160520" cy="1384995"/>
          </a:xfrm>
          <a:prstGeom prst="rect">
            <a:avLst/>
          </a:prstGeom>
          <a:noFill/>
        </p:spPr>
        <p:txBody>
          <a:bodyPr wrap="square">
            <a:spAutoFit/>
          </a:bodyPr>
          <a:lstStyle/>
          <a:p>
            <a:pPr algn="l" fontAlgn="base">
              <a:buFont typeface="Arial" panose="020B0604020202020204" pitchFamily="34" charset="0"/>
              <a:buChar char="•"/>
            </a:pPr>
            <a:r>
              <a:rPr lang="en-GB" b="0" i="0" dirty="0">
                <a:solidFill>
                  <a:srgbClr val="13161B"/>
                </a:solidFill>
                <a:effectLst/>
                <a:latin typeface="-apple-system"/>
              </a:rPr>
              <a:t>The events are independent of each other.</a:t>
            </a:r>
          </a:p>
          <a:p>
            <a:pPr algn="l" fontAlgn="base">
              <a:buFont typeface="Arial" panose="020B0604020202020204" pitchFamily="34" charset="0"/>
              <a:buChar char="•"/>
            </a:pPr>
            <a:endParaRPr lang="en-GB" b="0" i="0" dirty="0">
              <a:solidFill>
                <a:srgbClr val="13161B"/>
              </a:solidFill>
              <a:effectLst/>
              <a:latin typeface="-apple-system"/>
            </a:endParaRPr>
          </a:p>
          <a:p>
            <a:pPr algn="l" fontAlgn="base">
              <a:buFont typeface="Arial" panose="020B0604020202020204" pitchFamily="34" charset="0"/>
              <a:buChar char="•"/>
            </a:pPr>
            <a:r>
              <a:rPr lang="en-GB" b="0" i="0" dirty="0">
                <a:solidFill>
                  <a:srgbClr val="13161B"/>
                </a:solidFill>
                <a:effectLst/>
                <a:latin typeface="-apple-system"/>
              </a:rPr>
              <a:t>An event can occur any number of times (within the defined period).</a:t>
            </a:r>
          </a:p>
          <a:p>
            <a:pPr algn="l" fontAlgn="base">
              <a:buFont typeface="Arial" panose="020B0604020202020204" pitchFamily="34" charset="0"/>
              <a:buChar char="•"/>
            </a:pPr>
            <a:endParaRPr lang="en-GB" b="0" i="0" dirty="0">
              <a:solidFill>
                <a:srgbClr val="13161B"/>
              </a:solidFill>
              <a:effectLst/>
              <a:latin typeface="-apple-system"/>
            </a:endParaRPr>
          </a:p>
          <a:p>
            <a:pPr algn="l" fontAlgn="base">
              <a:buFont typeface="Arial" panose="020B0604020202020204" pitchFamily="34" charset="0"/>
              <a:buChar char="•"/>
            </a:pPr>
            <a:r>
              <a:rPr lang="en-GB" b="0" i="0" dirty="0">
                <a:solidFill>
                  <a:srgbClr val="13161B"/>
                </a:solidFill>
                <a:effectLst/>
                <a:latin typeface="-apple-system"/>
              </a:rPr>
              <a:t>Two events can’t take place simultaneously.</a:t>
            </a:r>
          </a:p>
        </p:txBody>
      </p:sp>
    </p:spTree>
    <p:extLst>
      <p:ext uri="{BB962C8B-B14F-4D97-AF65-F5344CB8AC3E}">
        <p14:creationId xmlns:p14="http://schemas.microsoft.com/office/powerpoint/2010/main" val="34274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74833-C036-716D-9ABC-C2C35C923BB9}"/>
              </a:ext>
            </a:extLst>
          </p:cNvPr>
          <p:cNvSpPr>
            <a:spLocks noGrp="1"/>
          </p:cNvSpPr>
          <p:nvPr>
            <p:ph type="title"/>
          </p:nvPr>
        </p:nvSpPr>
        <p:spPr/>
        <p:txBody>
          <a:bodyPr/>
          <a:lstStyle/>
          <a:p>
            <a:r>
              <a:rPr lang="en-PK" dirty="0"/>
              <a:t>Normal Distribution - Continous</a:t>
            </a:r>
          </a:p>
        </p:txBody>
      </p:sp>
      <p:sp>
        <p:nvSpPr>
          <p:cNvPr id="3" name="Content Placeholder 2">
            <a:extLst>
              <a:ext uri="{FF2B5EF4-FFF2-40B4-BE49-F238E27FC236}">
                <a16:creationId xmlns:a16="http://schemas.microsoft.com/office/drawing/2014/main" id="{B57594E2-F9A8-D2EE-AED4-565404A5EF23}"/>
              </a:ext>
            </a:extLst>
          </p:cNvPr>
          <p:cNvSpPr>
            <a:spLocks noGrp="1"/>
          </p:cNvSpPr>
          <p:nvPr>
            <p:ph idx="1"/>
          </p:nvPr>
        </p:nvSpPr>
        <p:spPr/>
        <p:txBody>
          <a:bodyPr/>
          <a:lstStyle/>
          <a:p>
            <a:endParaRPr lang="en-PK"/>
          </a:p>
        </p:txBody>
      </p:sp>
      <p:pic>
        <p:nvPicPr>
          <p:cNvPr id="4" name="Picture 3">
            <a:extLst>
              <a:ext uri="{FF2B5EF4-FFF2-40B4-BE49-F238E27FC236}">
                <a16:creationId xmlns:a16="http://schemas.microsoft.com/office/drawing/2014/main" id="{69E62A63-0D6A-DCAF-C8AA-A307B9AF66D1}"/>
              </a:ext>
            </a:extLst>
          </p:cNvPr>
          <p:cNvPicPr>
            <a:picLocks noChangeAspect="1"/>
          </p:cNvPicPr>
          <p:nvPr/>
        </p:nvPicPr>
        <p:blipFill>
          <a:blip r:embed="rId2"/>
          <a:stretch>
            <a:fillRect/>
          </a:stretch>
        </p:blipFill>
        <p:spPr>
          <a:xfrm>
            <a:off x="311699" y="1282075"/>
            <a:ext cx="5582353" cy="3416400"/>
          </a:xfrm>
          <a:prstGeom prst="rect">
            <a:avLst/>
          </a:prstGeom>
        </p:spPr>
      </p:pic>
      <p:sp>
        <p:nvSpPr>
          <p:cNvPr id="6" name="TextBox 5">
            <a:extLst>
              <a:ext uri="{FF2B5EF4-FFF2-40B4-BE49-F238E27FC236}">
                <a16:creationId xmlns:a16="http://schemas.microsoft.com/office/drawing/2014/main" id="{AA0DFB91-65D8-FBB9-5712-83329E8C81FD}"/>
              </a:ext>
            </a:extLst>
          </p:cNvPr>
          <p:cNvSpPr txBox="1"/>
          <p:nvPr/>
        </p:nvSpPr>
        <p:spPr>
          <a:xfrm>
            <a:off x="5756892" y="1402199"/>
            <a:ext cx="3249948" cy="2585323"/>
          </a:xfrm>
          <a:prstGeom prst="rect">
            <a:avLst/>
          </a:prstGeom>
          <a:noFill/>
        </p:spPr>
        <p:txBody>
          <a:bodyPr wrap="square">
            <a:spAutoFit/>
          </a:bodyPr>
          <a:lstStyle/>
          <a:p>
            <a:r>
              <a:rPr lang="en-GB" sz="1800" b="0" i="0" dirty="0">
                <a:solidFill>
                  <a:srgbClr val="13161B"/>
                </a:solidFill>
                <a:effectLst/>
                <a:latin typeface="-apple-system"/>
              </a:rPr>
              <a:t>In a normal distribution graph, data is symmetrically distributed with no skew. </a:t>
            </a:r>
          </a:p>
          <a:p>
            <a:endParaRPr lang="en-GB" sz="1800" dirty="0">
              <a:solidFill>
                <a:srgbClr val="13161B"/>
              </a:solidFill>
              <a:latin typeface="-apple-system"/>
            </a:endParaRPr>
          </a:p>
          <a:p>
            <a:r>
              <a:rPr lang="en-GB" sz="1800" b="0" i="0" dirty="0">
                <a:solidFill>
                  <a:srgbClr val="13161B"/>
                </a:solidFill>
                <a:effectLst/>
                <a:latin typeface="-apple-system"/>
              </a:rPr>
              <a:t>When plotted, the data follows a bell shape, with most values clustering around a central region and tapering off as they go further away from the </a:t>
            </a:r>
            <a:r>
              <a:rPr lang="en-GB" sz="1800" b="0" i="0" dirty="0" err="1">
                <a:solidFill>
                  <a:srgbClr val="13161B"/>
                </a:solidFill>
                <a:effectLst/>
                <a:latin typeface="-apple-system"/>
              </a:rPr>
              <a:t>center</a:t>
            </a:r>
            <a:r>
              <a:rPr lang="en-GB" sz="1800" b="0" i="0" dirty="0">
                <a:solidFill>
                  <a:srgbClr val="13161B"/>
                </a:solidFill>
                <a:effectLst/>
                <a:latin typeface="-apple-system"/>
              </a:rPr>
              <a:t>.</a:t>
            </a:r>
            <a:endParaRPr lang="en-PK" sz="1800" dirty="0"/>
          </a:p>
        </p:txBody>
      </p:sp>
    </p:spTree>
    <p:extLst>
      <p:ext uri="{BB962C8B-B14F-4D97-AF65-F5344CB8AC3E}">
        <p14:creationId xmlns:p14="http://schemas.microsoft.com/office/powerpoint/2010/main" val="460515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718B8-C411-5624-6EA5-61077E5A180D}"/>
            </a:ext>
          </a:extLst>
        </p:cNvPr>
        <p:cNvGrpSpPr/>
        <p:nvPr/>
      </p:nvGrpSpPr>
      <p:grpSpPr>
        <a:xfrm>
          <a:off x="0" y="0"/>
          <a:ext cx="0" cy="0"/>
          <a:chOff x="0" y="0"/>
          <a:chExt cx="0" cy="0"/>
        </a:xfrm>
      </p:grpSpPr>
      <p:pic>
        <p:nvPicPr>
          <p:cNvPr id="4" name="Picture 3" descr="A diagram of a normal distribution&#10;&#10;AI-generated content may be incorrect.">
            <a:extLst>
              <a:ext uri="{FF2B5EF4-FFF2-40B4-BE49-F238E27FC236}">
                <a16:creationId xmlns:a16="http://schemas.microsoft.com/office/drawing/2014/main" id="{3AE9EC7C-EC69-83AD-E146-4423F5CF06D5}"/>
              </a:ext>
            </a:extLst>
          </p:cNvPr>
          <p:cNvPicPr>
            <a:picLocks noChangeAspect="1"/>
          </p:cNvPicPr>
          <p:nvPr/>
        </p:nvPicPr>
        <p:blipFill>
          <a:blip r:embed="rId2"/>
          <a:stretch>
            <a:fillRect/>
          </a:stretch>
        </p:blipFill>
        <p:spPr>
          <a:xfrm>
            <a:off x="240030" y="860917"/>
            <a:ext cx="5235893" cy="2617945"/>
          </a:xfrm>
          <a:prstGeom prst="rect">
            <a:avLst/>
          </a:prstGeom>
          <a:noFill/>
        </p:spPr>
      </p:pic>
      <p:sp>
        <p:nvSpPr>
          <p:cNvPr id="6" name="TextBox 5">
            <a:extLst>
              <a:ext uri="{FF2B5EF4-FFF2-40B4-BE49-F238E27FC236}">
                <a16:creationId xmlns:a16="http://schemas.microsoft.com/office/drawing/2014/main" id="{0BB9EB0F-11E6-15D5-EA38-EE541CB68C5F}"/>
              </a:ext>
            </a:extLst>
          </p:cNvPr>
          <p:cNvSpPr txBox="1"/>
          <p:nvPr/>
        </p:nvSpPr>
        <p:spPr>
          <a:xfrm>
            <a:off x="5475923" y="279950"/>
            <a:ext cx="3326130" cy="4278094"/>
          </a:xfrm>
          <a:prstGeom prst="rect">
            <a:avLst/>
          </a:prstGeom>
          <a:noFill/>
        </p:spPr>
        <p:txBody>
          <a:bodyPr wrap="square">
            <a:spAutoFit/>
          </a:bodyPr>
          <a:lstStyle/>
          <a:p>
            <a:r>
              <a:rPr lang="en-GB" sz="1600" b="0" i="0" dirty="0">
                <a:solidFill>
                  <a:srgbClr val="13161B"/>
                </a:solidFill>
                <a:effectLst/>
                <a:latin typeface="-apple-system"/>
              </a:rPr>
              <a:t>68% of all values lie within one standard deviation from the mean. In the example above, if the mean is 70 and the standard deviation is 10, 68% of the values will lie between 60 and 80. </a:t>
            </a:r>
          </a:p>
          <a:p>
            <a:endParaRPr lang="en-GB" sz="1600" dirty="0">
              <a:solidFill>
                <a:srgbClr val="13161B"/>
              </a:solidFill>
              <a:latin typeface="-apple-system"/>
            </a:endParaRPr>
          </a:p>
          <a:p>
            <a:r>
              <a:rPr lang="en-GB" sz="1600" b="0" i="0" dirty="0">
                <a:solidFill>
                  <a:srgbClr val="13161B"/>
                </a:solidFill>
                <a:effectLst/>
                <a:latin typeface="-apple-system"/>
              </a:rPr>
              <a:t>Similarly, 95% of the values lie within two standard deviations from the mean</a:t>
            </a:r>
            <a:r>
              <a:rPr lang="en-GB" sz="1600" dirty="0">
                <a:solidFill>
                  <a:srgbClr val="13161B"/>
                </a:solidFill>
                <a:latin typeface="-apple-system"/>
              </a:rPr>
              <a:t>.</a:t>
            </a:r>
          </a:p>
          <a:p>
            <a:endParaRPr lang="en-GB" sz="1600" b="0" i="0" dirty="0">
              <a:solidFill>
                <a:srgbClr val="13161B"/>
              </a:solidFill>
              <a:effectLst/>
              <a:latin typeface="-apple-system"/>
            </a:endParaRPr>
          </a:p>
          <a:p>
            <a:r>
              <a:rPr lang="en-GB" sz="1600" b="0" i="0" dirty="0">
                <a:solidFill>
                  <a:srgbClr val="13161B"/>
                </a:solidFill>
                <a:effectLst/>
                <a:latin typeface="-apple-system"/>
              </a:rPr>
              <a:t>99.7% lie within three standard deviations from the mean. This last interval captures almost all matters. </a:t>
            </a:r>
          </a:p>
          <a:p>
            <a:endParaRPr lang="en-GB" sz="1600" dirty="0">
              <a:solidFill>
                <a:srgbClr val="13161B"/>
              </a:solidFill>
              <a:latin typeface="-apple-system"/>
            </a:endParaRPr>
          </a:p>
          <a:p>
            <a:r>
              <a:rPr lang="en-GB" sz="1600" b="0" i="0" dirty="0">
                <a:solidFill>
                  <a:srgbClr val="13161B"/>
                </a:solidFill>
                <a:effectLst/>
                <a:latin typeface="-apple-system"/>
              </a:rPr>
              <a:t>If a data point is not included, it is most likely an outlier.</a:t>
            </a:r>
            <a:endParaRPr lang="en-PK" sz="1600" dirty="0"/>
          </a:p>
        </p:txBody>
      </p:sp>
    </p:spTree>
    <p:extLst>
      <p:ext uri="{BB962C8B-B14F-4D97-AF65-F5344CB8AC3E}">
        <p14:creationId xmlns:p14="http://schemas.microsoft.com/office/powerpoint/2010/main" val="27277163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2263-8036-2129-ED7A-3062781431AA}"/>
              </a:ext>
            </a:extLst>
          </p:cNvPr>
          <p:cNvSpPr>
            <a:spLocks noGrp="1"/>
          </p:cNvSpPr>
          <p:nvPr>
            <p:ph type="title"/>
          </p:nvPr>
        </p:nvSpPr>
        <p:spPr/>
        <p:txBody>
          <a:bodyPr/>
          <a:lstStyle/>
          <a:p>
            <a:r>
              <a:rPr lang="en-GB" dirty="0"/>
              <a:t>T</a:t>
            </a:r>
            <a:r>
              <a:rPr lang="en-PK" dirty="0"/>
              <a:t>- Distribution</a:t>
            </a:r>
          </a:p>
        </p:txBody>
      </p:sp>
      <p:sp>
        <p:nvSpPr>
          <p:cNvPr id="3" name="Content Placeholder 2">
            <a:extLst>
              <a:ext uri="{FF2B5EF4-FFF2-40B4-BE49-F238E27FC236}">
                <a16:creationId xmlns:a16="http://schemas.microsoft.com/office/drawing/2014/main" id="{71161F48-6833-CA59-7C1B-AF6CBFBF3C96}"/>
              </a:ext>
            </a:extLst>
          </p:cNvPr>
          <p:cNvSpPr>
            <a:spLocks noGrp="1"/>
          </p:cNvSpPr>
          <p:nvPr>
            <p:ph idx="1"/>
          </p:nvPr>
        </p:nvSpPr>
        <p:spPr/>
        <p:txBody>
          <a:bodyPr/>
          <a:lstStyle/>
          <a:p>
            <a:endParaRPr lang="en-PK" dirty="0"/>
          </a:p>
        </p:txBody>
      </p:sp>
      <p:pic>
        <p:nvPicPr>
          <p:cNvPr id="5" name="Picture 4">
            <a:extLst>
              <a:ext uri="{FF2B5EF4-FFF2-40B4-BE49-F238E27FC236}">
                <a16:creationId xmlns:a16="http://schemas.microsoft.com/office/drawing/2014/main" id="{3485E84C-4A82-86B9-2F42-CA3F6565382F}"/>
              </a:ext>
            </a:extLst>
          </p:cNvPr>
          <p:cNvPicPr>
            <a:picLocks noChangeAspect="1"/>
          </p:cNvPicPr>
          <p:nvPr/>
        </p:nvPicPr>
        <p:blipFill>
          <a:blip r:embed="rId2"/>
          <a:stretch>
            <a:fillRect/>
          </a:stretch>
        </p:blipFill>
        <p:spPr>
          <a:xfrm>
            <a:off x="311700" y="1883410"/>
            <a:ext cx="4127500" cy="2222500"/>
          </a:xfrm>
          <a:prstGeom prst="rect">
            <a:avLst/>
          </a:prstGeom>
        </p:spPr>
      </p:pic>
      <p:sp>
        <p:nvSpPr>
          <p:cNvPr id="7" name="TextBox 6">
            <a:extLst>
              <a:ext uri="{FF2B5EF4-FFF2-40B4-BE49-F238E27FC236}">
                <a16:creationId xmlns:a16="http://schemas.microsoft.com/office/drawing/2014/main" id="{3EB111D9-07EA-FDBD-DBA3-72B73D536496}"/>
              </a:ext>
            </a:extLst>
          </p:cNvPr>
          <p:cNvSpPr txBox="1"/>
          <p:nvPr/>
        </p:nvSpPr>
        <p:spPr>
          <a:xfrm>
            <a:off x="3897630" y="250894"/>
            <a:ext cx="4572000" cy="1384995"/>
          </a:xfrm>
          <a:prstGeom prst="rect">
            <a:avLst/>
          </a:prstGeom>
          <a:noFill/>
        </p:spPr>
        <p:txBody>
          <a:bodyPr wrap="square">
            <a:spAutoFit/>
          </a:bodyPr>
          <a:lstStyle/>
          <a:p>
            <a:r>
              <a:rPr lang="en-GB" b="0" i="0" dirty="0">
                <a:solidFill>
                  <a:srgbClr val="13161B"/>
                </a:solidFill>
                <a:effectLst/>
                <a:latin typeface="-apple-system"/>
              </a:rPr>
              <a:t>The student’s t-distribution, also known as the t distribution, is a type of statistical distribution similar to the normal distribution with its bell shape but has heavier tails.</a:t>
            </a:r>
          </a:p>
          <a:p>
            <a:endParaRPr lang="en-GB" dirty="0">
              <a:solidFill>
                <a:srgbClr val="13161B"/>
              </a:solidFill>
              <a:latin typeface="-apple-system"/>
            </a:endParaRPr>
          </a:p>
          <a:p>
            <a:r>
              <a:rPr lang="en-GB" b="0" i="0" dirty="0">
                <a:solidFill>
                  <a:srgbClr val="13161B"/>
                </a:solidFill>
                <a:effectLst/>
                <a:latin typeface="-apple-system"/>
              </a:rPr>
              <a:t>The t distribution is used instead of the normal distribution when you have small sample sizes.</a:t>
            </a:r>
            <a:endParaRPr lang="en-PK" dirty="0"/>
          </a:p>
        </p:txBody>
      </p:sp>
      <p:sp>
        <p:nvSpPr>
          <p:cNvPr id="9" name="TextBox 8">
            <a:extLst>
              <a:ext uri="{FF2B5EF4-FFF2-40B4-BE49-F238E27FC236}">
                <a16:creationId xmlns:a16="http://schemas.microsoft.com/office/drawing/2014/main" id="{3CF64032-F6CB-22CA-EAF4-739BD64CC40D}"/>
              </a:ext>
            </a:extLst>
          </p:cNvPr>
          <p:cNvSpPr txBox="1"/>
          <p:nvPr/>
        </p:nvSpPr>
        <p:spPr>
          <a:xfrm>
            <a:off x="4469130" y="2241500"/>
            <a:ext cx="4572000" cy="2031325"/>
          </a:xfrm>
          <a:prstGeom prst="rect">
            <a:avLst/>
          </a:prstGeom>
          <a:noFill/>
        </p:spPr>
        <p:txBody>
          <a:bodyPr wrap="square">
            <a:spAutoFit/>
          </a:bodyPr>
          <a:lstStyle/>
          <a:p>
            <a:r>
              <a:rPr lang="en-GB" b="0" i="0" dirty="0">
                <a:solidFill>
                  <a:srgbClr val="13161B"/>
                </a:solidFill>
                <a:effectLst/>
                <a:latin typeface="-apple-system"/>
              </a:rPr>
              <a:t>For example, </a:t>
            </a:r>
          </a:p>
          <a:p>
            <a:endParaRPr lang="en-GB" b="0" i="0" dirty="0">
              <a:solidFill>
                <a:srgbClr val="13161B"/>
              </a:solidFill>
              <a:effectLst/>
              <a:latin typeface="-apple-system"/>
            </a:endParaRPr>
          </a:p>
          <a:p>
            <a:r>
              <a:rPr lang="en-GB" b="0" i="0" dirty="0">
                <a:solidFill>
                  <a:srgbClr val="13161B"/>
                </a:solidFill>
                <a:effectLst/>
                <a:latin typeface="-apple-system"/>
              </a:rPr>
              <a:t>suppose we deal with the total number of apples sold by a shopkeeper in a month. In that case, we will use the normal distribution. </a:t>
            </a:r>
          </a:p>
          <a:p>
            <a:endParaRPr lang="en-GB" dirty="0">
              <a:solidFill>
                <a:srgbClr val="13161B"/>
              </a:solidFill>
              <a:latin typeface="-apple-system"/>
            </a:endParaRPr>
          </a:p>
          <a:p>
            <a:r>
              <a:rPr lang="en-GB" b="0" i="0" dirty="0">
                <a:solidFill>
                  <a:srgbClr val="13161B"/>
                </a:solidFill>
                <a:effectLst/>
                <a:latin typeface="-apple-system"/>
              </a:rPr>
              <a:t>Whereas, if we are dealing with the total amount of apples sold in a day, i.e., a smaller sample, we can use the t distribution.</a:t>
            </a:r>
            <a:endParaRPr lang="en-PK" dirty="0"/>
          </a:p>
        </p:txBody>
      </p:sp>
    </p:spTree>
    <p:extLst>
      <p:ext uri="{BB962C8B-B14F-4D97-AF65-F5344CB8AC3E}">
        <p14:creationId xmlns:p14="http://schemas.microsoft.com/office/powerpoint/2010/main" val="1173727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5042584-F5FC-939C-F64E-B4F97C7570DF}"/>
              </a:ext>
            </a:extLst>
          </p:cNvPr>
          <p:cNvSpPr>
            <a:spLocks noGrp="1"/>
          </p:cNvSpPr>
          <p:nvPr>
            <p:ph type="title"/>
          </p:nvPr>
        </p:nvSpPr>
        <p:spPr>
          <a:xfrm>
            <a:off x="311700" y="445025"/>
            <a:ext cx="8520600" cy="572700"/>
          </a:xfrm>
        </p:spPr>
        <p:txBody>
          <a:bodyPr/>
          <a:lstStyle/>
          <a:p>
            <a:r>
              <a:rPr lang="en-US" dirty="0"/>
              <a:t>Exponential Distribution</a:t>
            </a:r>
          </a:p>
        </p:txBody>
      </p:sp>
      <p:pic>
        <p:nvPicPr>
          <p:cNvPr id="4" name="Picture 3">
            <a:extLst>
              <a:ext uri="{FF2B5EF4-FFF2-40B4-BE49-F238E27FC236}">
                <a16:creationId xmlns:a16="http://schemas.microsoft.com/office/drawing/2014/main" id="{4610A257-FC80-A7F7-12FB-B7CDB34E6370}"/>
              </a:ext>
            </a:extLst>
          </p:cNvPr>
          <p:cNvPicPr>
            <a:picLocks noChangeAspect="1"/>
          </p:cNvPicPr>
          <p:nvPr/>
        </p:nvPicPr>
        <p:blipFill>
          <a:blip r:embed="rId2"/>
          <a:stretch>
            <a:fillRect/>
          </a:stretch>
        </p:blipFill>
        <p:spPr>
          <a:xfrm>
            <a:off x="540399" y="1284992"/>
            <a:ext cx="4031601" cy="3628440"/>
          </a:xfrm>
          <a:prstGeom prst="rect">
            <a:avLst/>
          </a:prstGeom>
          <a:noFill/>
        </p:spPr>
      </p:pic>
      <p:sp>
        <p:nvSpPr>
          <p:cNvPr id="6" name="TextBox 5">
            <a:extLst>
              <a:ext uri="{FF2B5EF4-FFF2-40B4-BE49-F238E27FC236}">
                <a16:creationId xmlns:a16="http://schemas.microsoft.com/office/drawing/2014/main" id="{F76227BD-6733-B855-0AC8-AD2CB94EF8AC}"/>
              </a:ext>
            </a:extLst>
          </p:cNvPr>
          <p:cNvSpPr txBox="1"/>
          <p:nvPr/>
        </p:nvSpPr>
        <p:spPr>
          <a:xfrm>
            <a:off x="4900281" y="1017725"/>
            <a:ext cx="3703320" cy="738664"/>
          </a:xfrm>
          <a:prstGeom prst="rect">
            <a:avLst/>
          </a:prstGeom>
          <a:noFill/>
        </p:spPr>
        <p:txBody>
          <a:bodyPr wrap="square">
            <a:spAutoFit/>
          </a:bodyPr>
          <a:lstStyle/>
          <a:p>
            <a:r>
              <a:rPr lang="en-GB" b="0" i="0" dirty="0">
                <a:solidFill>
                  <a:srgbClr val="13161B"/>
                </a:solidFill>
                <a:effectLst/>
                <a:latin typeface="-apple-system"/>
              </a:rPr>
              <a:t>Exponential distribution is one of the widely used continuous distributions. It is used to model the time taken between different events.</a:t>
            </a:r>
            <a:endParaRPr lang="en-PK" dirty="0"/>
          </a:p>
        </p:txBody>
      </p:sp>
      <p:sp>
        <p:nvSpPr>
          <p:cNvPr id="8" name="TextBox 7">
            <a:extLst>
              <a:ext uri="{FF2B5EF4-FFF2-40B4-BE49-F238E27FC236}">
                <a16:creationId xmlns:a16="http://schemas.microsoft.com/office/drawing/2014/main" id="{59433A69-B18A-7F5A-C212-F6009CFC1AEC}"/>
              </a:ext>
            </a:extLst>
          </p:cNvPr>
          <p:cNvSpPr txBox="1"/>
          <p:nvPr/>
        </p:nvSpPr>
        <p:spPr>
          <a:xfrm>
            <a:off x="4709160" y="1920121"/>
            <a:ext cx="4217670" cy="3108543"/>
          </a:xfrm>
          <a:prstGeom prst="rect">
            <a:avLst/>
          </a:prstGeom>
          <a:noFill/>
        </p:spPr>
        <p:txBody>
          <a:bodyPr wrap="square">
            <a:spAutoFit/>
          </a:bodyPr>
          <a:lstStyle/>
          <a:p>
            <a:r>
              <a:rPr lang="en-GB" b="0" i="0" dirty="0">
                <a:solidFill>
                  <a:srgbClr val="13161B"/>
                </a:solidFill>
                <a:effectLst/>
                <a:latin typeface="-apple-system"/>
              </a:rPr>
              <a:t>For example, </a:t>
            </a:r>
          </a:p>
          <a:p>
            <a:endParaRPr lang="en-GB" dirty="0">
              <a:solidFill>
                <a:srgbClr val="13161B"/>
              </a:solidFill>
              <a:latin typeface="-apple-system"/>
            </a:endParaRPr>
          </a:p>
          <a:p>
            <a:r>
              <a:rPr lang="en-GB" b="0" i="0" dirty="0">
                <a:solidFill>
                  <a:srgbClr val="13161B"/>
                </a:solidFill>
                <a:effectLst/>
                <a:latin typeface="-apple-system"/>
              </a:rPr>
              <a:t>in physics, it is often used to measure radioactive decay; </a:t>
            </a:r>
          </a:p>
          <a:p>
            <a:endParaRPr lang="en-GB" dirty="0">
              <a:solidFill>
                <a:srgbClr val="13161B"/>
              </a:solidFill>
              <a:latin typeface="-apple-system"/>
            </a:endParaRPr>
          </a:p>
          <a:p>
            <a:r>
              <a:rPr lang="en-GB" b="0" i="0" dirty="0">
                <a:solidFill>
                  <a:srgbClr val="13161B"/>
                </a:solidFill>
                <a:effectLst/>
                <a:latin typeface="-apple-system"/>
              </a:rPr>
              <a:t>in </a:t>
            </a:r>
            <a:r>
              <a:rPr lang="en-GB" b="0" i="0" u="sng" dirty="0">
                <a:solidFill>
                  <a:srgbClr val="1E73BE"/>
                </a:solidFill>
                <a:effectLst/>
                <a:latin typeface="-apple-system"/>
                <a:hlinkClick r:id="rId3"/>
              </a:rPr>
              <a:t>engineering</a:t>
            </a:r>
            <a:r>
              <a:rPr lang="en-GB" b="0" i="0" dirty="0">
                <a:solidFill>
                  <a:srgbClr val="13161B"/>
                </a:solidFill>
                <a:effectLst/>
                <a:latin typeface="-apple-system"/>
              </a:rPr>
              <a:t>, to measure the time associated with receiving a defective part on an assembly line; and </a:t>
            </a:r>
          </a:p>
          <a:p>
            <a:endParaRPr lang="en-GB" dirty="0">
              <a:solidFill>
                <a:srgbClr val="13161B"/>
              </a:solidFill>
              <a:latin typeface="-apple-system"/>
            </a:endParaRPr>
          </a:p>
          <a:p>
            <a:r>
              <a:rPr lang="en-GB" b="0" i="0" dirty="0">
                <a:solidFill>
                  <a:srgbClr val="13161B"/>
                </a:solidFill>
                <a:effectLst/>
                <a:latin typeface="-apple-system"/>
              </a:rPr>
              <a:t>in </a:t>
            </a:r>
            <a:r>
              <a:rPr lang="en-GB" b="0" i="0" u="sng" dirty="0">
                <a:solidFill>
                  <a:srgbClr val="1E73BE"/>
                </a:solidFill>
                <a:effectLst/>
                <a:latin typeface="-apple-system"/>
                <a:hlinkClick r:id="rId4"/>
              </a:rPr>
              <a:t>finance</a:t>
            </a:r>
            <a:r>
              <a:rPr lang="en-GB" b="0" i="0" dirty="0">
                <a:solidFill>
                  <a:srgbClr val="13161B"/>
                </a:solidFill>
                <a:effectLst/>
                <a:latin typeface="-apple-system"/>
              </a:rPr>
              <a:t>, to measure the likelihood of the next default for a portfolio of financial assets. </a:t>
            </a:r>
          </a:p>
          <a:p>
            <a:endParaRPr lang="en-GB" dirty="0">
              <a:solidFill>
                <a:srgbClr val="13161B"/>
              </a:solidFill>
              <a:latin typeface="-apple-system"/>
            </a:endParaRPr>
          </a:p>
          <a:p>
            <a:r>
              <a:rPr lang="en-GB" b="0" i="0" dirty="0">
                <a:solidFill>
                  <a:srgbClr val="13161B"/>
                </a:solidFill>
                <a:effectLst/>
                <a:latin typeface="-apple-system"/>
              </a:rPr>
              <a:t>Another common application of Exponential distributions in survival analysis (e.g., expected life of a device/machine).</a:t>
            </a:r>
            <a:endParaRPr lang="en-PK" dirty="0"/>
          </a:p>
        </p:txBody>
      </p:sp>
    </p:spTree>
    <p:extLst>
      <p:ext uri="{BB962C8B-B14F-4D97-AF65-F5344CB8AC3E}">
        <p14:creationId xmlns:p14="http://schemas.microsoft.com/office/powerpoint/2010/main" val="282519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0265C-25A2-86B8-527F-74D670AED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6B2F79-4DE0-F872-DBB8-4A1235BFF7E5}"/>
              </a:ext>
            </a:extLst>
          </p:cNvPr>
          <p:cNvSpPr>
            <a:spLocks noGrp="1"/>
          </p:cNvSpPr>
          <p:nvPr>
            <p:ph type="title"/>
          </p:nvPr>
        </p:nvSpPr>
        <p:spPr>
          <a:xfrm>
            <a:off x="311700" y="445025"/>
            <a:ext cx="8520600" cy="572700"/>
          </a:xfrm>
        </p:spPr>
        <p:txBody>
          <a:bodyPr wrap="square" anchor="t">
            <a:normAutofit/>
          </a:bodyPr>
          <a:lstStyle/>
          <a:p>
            <a:pPr>
              <a:lnSpc>
                <a:spcPct val="90000"/>
              </a:lnSpc>
            </a:pPr>
            <a:r>
              <a:rPr lang="en-US" dirty="0">
                <a:solidFill>
                  <a:schemeClr val="accent1"/>
                </a:solidFill>
                <a:latin typeface="+mj-lt"/>
              </a:rPr>
              <a:t>What are Inferential Statistics?</a:t>
            </a:r>
          </a:p>
        </p:txBody>
      </p:sp>
      <p:graphicFrame>
        <p:nvGraphicFramePr>
          <p:cNvPr id="7" name="Content Placeholder 2">
            <a:extLst>
              <a:ext uri="{FF2B5EF4-FFF2-40B4-BE49-F238E27FC236}">
                <a16:creationId xmlns:a16="http://schemas.microsoft.com/office/drawing/2014/main" id="{F10B8062-2E63-C0B0-F1DA-97574D18DDAA}"/>
              </a:ext>
            </a:extLst>
          </p:cNvPr>
          <p:cNvGraphicFramePr>
            <a:graphicFrameLocks noGrp="1"/>
          </p:cNvGraphicFramePr>
          <p:nvPr>
            <p:ph idx="1"/>
            <p:extLst>
              <p:ext uri="{D42A27DB-BD31-4B8C-83A1-F6EECF244321}">
                <p14:modId xmlns:p14="http://schemas.microsoft.com/office/powerpoint/2010/main" val="520851020"/>
              </p:ext>
            </p:extLst>
          </p:nvPr>
        </p:nvGraphicFramePr>
        <p:xfrm>
          <a:off x="613050" y="2018010"/>
          <a:ext cx="7917900" cy="2680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ABECC776-8F67-68DA-8431-079DE4C9FA6C}"/>
              </a:ext>
            </a:extLst>
          </p:cNvPr>
          <p:cNvSpPr txBox="1"/>
          <p:nvPr/>
        </p:nvSpPr>
        <p:spPr>
          <a:xfrm>
            <a:off x="613050" y="1256257"/>
            <a:ext cx="7917899" cy="523220"/>
          </a:xfrm>
          <a:prstGeom prst="rect">
            <a:avLst/>
          </a:prstGeom>
          <a:noFill/>
        </p:spPr>
        <p:txBody>
          <a:bodyPr wrap="square">
            <a:spAutoFit/>
          </a:bodyPr>
          <a:lstStyle/>
          <a:p>
            <a:pPr marL="0" indent="0">
              <a:buNone/>
            </a:pPr>
            <a:r>
              <a:rPr lang="en-US" dirty="0">
                <a:solidFill>
                  <a:schemeClr val="tx1"/>
                </a:solidFill>
              </a:rPr>
              <a:t>Inferential statistics are used to make generalizations and conclusions from a dataset. There are two primary uses for inferential statistics.</a:t>
            </a:r>
          </a:p>
        </p:txBody>
      </p:sp>
    </p:spTree>
    <p:extLst>
      <p:ext uri="{BB962C8B-B14F-4D97-AF65-F5344CB8AC3E}">
        <p14:creationId xmlns:p14="http://schemas.microsoft.com/office/powerpoint/2010/main" val="659225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C0454-5586-BDDF-FFEA-F75B464A0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52B2C1-50D7-DDEB-37C4-375EB692D281}"/>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p-values</a:t>
            </a:r>
          </a:p>
        </p:txBody>
      </p:sp>
      <p:sp>
        <p:nvSpPr>
          <p:cNvPr id="3" name="Content Placeholder 2">
            <a:extLst>
              <a:ext uri="{FF2B5EF4-FFF2-40B4-BE49-F238E27FC236}">
                <a16:creationId xmlns:a16="http://schemas.microsoft.com/office/drawing/2014/main" id="{815E2614-5491-AC6A-52B7-7F2D93494051}"/>
              </a:ext>
            </a:extLst>
          </p:cNvPr>
          <p:cNvSpPr>
            <a:spLocks noGrp="1"/>
          </p:cNvSpPr>
          <p:nvPr>
            <p:ph idx="1"/>
          </p:nvPr>
        </p:nvSpPr>
        <p:spPr>
          <a:xfrm>
            <a:off x="311700" y="1173288"/>
            <a:ext cx="7886700" cy="3263504"/>
          </a:xfrm>
        </p:spPr>
        <p:txBody>
          <a:bodyPr/>
          <a:lstStyle/>
          <a:p>
            <a:pPr marL="0" indent="0">
              <a:buNone/>
            </a:pPr>
            <a:r>
              <a:rPr lang="en-US" sz="1400" dirty="0">
                <a:solidFill>
                  <a:schemeClr val="tx1"/>
                </a:solidFill>
                <a:latin typeface="Arial" panose="020B0604020202020204" pitchFamily="34" charset="0"/>
                <a:cs typeface="Arial" panose="020B0604020202020204" pitchFamily="34" charset="0"/>
              </a:rPr>
              <a:t>p-values demonstrate</a:t>
            </a:r>
            <a:r>
              <a:rPr lang="en-US" sz="1400" i="0" u="none" strike="noStrike" dirty="0">
                <a:solidFill>
                  <a:schemeClr val="tx1"/>
                </a:solidFill>
                <a:effectLst/>
                <a:latin typeface="Arial" panose="020B0604020202020204" pitchFamily="34" charset="0"/>
                <a:cs typeface="Arial" panose="020B0604020202020204" pitchFamily="34" charset="0"/>
              </a:rPr>
              <a:t> the probability that the observed results (or more extreme) could occur if the null hypothesis were true.</a:t>
            </a:r>
          </a:p>
          <a:p>
            <a:pPr marL="0" indent="0">
              <a:buNone/>
            </a:pPr>
            <a:endParaRPr lang="en-US" sz="1400" b="1" dirty="0">
              <a:solidFill>
                <a:schemeClr val="tx1"/>
              </a:solidFill>
              <a:latin typeface="Arial" panose="020B0604020202020204" pitchFamily="34" charset="0"/>
              <a:cs typeface="Arial" panose="020B0604020202020204" pitchFamily="34" charset="0"/>
            </a:endParaRPr>
          </a:p>
          <a:p>
            <a:pPr marL="0" indent="0">
              <a:buNone/>
            </a:pPr>
            <a:r>
              <a:rPr lang="en-US" sz="1400" i="0" u="none" strike="noStrike" dirty="0">
                <a:solidFill>
                  <a:schemeClr val="tx1"/>
                </a:solidFill>
                <a:effectLst/>
                <a:latin typeface="Arial" panose="020B0604020202020204" pitchFamily="34" charset="0"/>
                <a:cs typeface="Arial" panose="020B0604020202020204" pitchFamily="34" charset="0"/>
              </a:rPr>
              <a:t>Thresholds (</a:t>
            </a:r>
            <a:r>
              <a:rPr lang="el-GR" sz="1400" i="0" u="none" strike="noStrike" dirty="0">
                <a:solidFill>
                  <a:schemeClr val="tx1"/>
                </a:solidFill>
                <a:effectLst/>
                <a:latin typeface="Arial" panose="020B0604020202020204" pitchFamily="34" charset="0"/>
                <a:cs typeface="Arial" panose="020B0604020202020204" pitchFamily="34" charset="0"/>
              </a:rPr>
              <a:t>α) </a:t>
            </a:r>
            <a:r>
              <a:rPr lang="en-US" sz="1400" i="0" u="none" strike="noStrike" dirty="0">
                <a:solidFill>
                  <a:schemeClr val="tx1"/>
                </a:solidFill>
                <a:effectLst/>
                <a:latin typeface="Arial" panose="020B0604020202020204" pitchFamily="34" charset="0"/>
                <a:cs typeface="Arial" panose="020B0604020202020204" pitchFamily="34" charset="0"/>
              </a:rPr>
              <a:t>are set before analysis by the researcher </a:t>
            </a:r>
            <a:r>
              <a:rPr lang="en-US" sz="1400" dirty="0">
                <a:solidFill>
                  <a:schemeClr val="tx1"/>
                </a:solidFill>
                <a:latin typeface="Arial" panose="020B0604020202020204" pitchFamily="34" charset="0"/>
                <a:cs typeface="Arial" panose="020B0604020202020204" pitchFamily="34" charset="0"/>
              </a:rPr>
              <a:t>to determine whether a result is statistically significant.</a:t>
            </a:r>
          </a:p>
          <a:p>
            <a:pPr marL="171450" indent="-171450"/>
            <a:r>
              <a:rPr lang="en-US" sz="1400" i="0" u="none" strike="noStrike" dirty="0">
                <a:solidFill>
                  <a:schemeClr val="tx1"/>
                </a:solidFill>
                <a:effectLst/>
                <a:latin typeface="Arial" panose="020B0604020202020204" pitchFamily="34" charset="0"/>
                <a:cs typeface="Arial" panose="020B0604020202020204" pitchFamily="34" charset="0"/>
              </a:rPr>
              <a:t>If p &lt; </a:t>
            </a:r>
            <a:r>
              <a:rPr lang="el-GR" sz="1400" i="0" u="none" strike="noStrike" dirty="0">
                <a:solidFill>
                  <a:schemeClr val="tx1"/>
                </a:solidFill>
                <a:effectLst/>
                <a:latin typeface="Arial" panose="020B0604020202020204" pitchFamily="34" charset="0"/>
                <a:cs typeface="Arial" panose="020B0604020202020204" pitchFamily="34" charset="0"/>
              </a:rPr>
              <a:t>α → </a:t>
            </a:r>
            <a:r>
              <a:rPr lang="en-US" sz="1400" i="0" u="none" strike="noStrike" dirty="0">
                <a:solidFill>
                  <a:schemeClr val="tx1"/>
                </a:solidFill>
                <a:effectLst/>
                <a:latin typeface="Arial" panose="020B0604020202020204" pitchFamily="34" charset="0"/>
                <a:cs typeface="Arial" panose="020B0604020202020204" pitchFamily="34" charset="0"/>
              </a:rPr>
              <a:t>reject the null hypothesis (statistically significant)</a:t>
            </a:r>
          </a:p>
          <a:p>
            <a:pPr marL="171450" indent="-171450"/>
            <a:r>
              <a:rPr lang="en-US" sz="1400" i="0" u="none" strike="noStrike" dirty="0">
                <a:solidFill>
                  <a:schemeClr val="tx1"/>
                </a:solidFill>
                <a:effectLst/>
                <a:latin typeface="Arial" panose="020B0604020202020204" pitchFamily="34" charset="0"/>
                <a:cs typeface="Arial" panose="020B0604020202020204" pitchFamily="34" charset="0"/>
              </a:rPr>
              <a:t>If p ≥ </a:t>
            </a:r>
            <a:r>
              <a:rPr lang="el-GR" sz="1400" i="0" u="none" strike="noStrike" dirty="0">
                <a:solidFill>
                  <a:schemeClr val="tx1"/>
                </a:solidFill>
                <a:effectLst/>
                <a:latin typeface="Arial" panose="020B0604020202020204" pitchFamily="34" charset="0"/>
                <a:cs typeface="Arial" panose="020B0604020202020204" pitchFamily="34" charset="0"/>
              </a:rPr>
              <a:t>α → </a:t>
            </a:r>
            <a:r>
              <a:rPr lang="en-US" sz="1400" i="0" u="none" strike="noStrike" dirty="0">
                <a:solidFill>
                  <a:schemeClr val="tx1"/>
                </a:solidFill>
                <a:effectLst/>
                <a:latin typeface="Arial" panose="020B0604020202020204" pitchFamily="34" charset="0"/>
                <a:cs typeface="Arial" panose="020B0604020202020204" pitchFamily="34" charset="0"/>
              </a:rPr>
              <a:t>fail to reject the null (not statistically significant)</a:t>
            </a:r>
          </a:p>
          <a:p>
            <a:pPr marL="0" indent="0">
              <a:buNone/>
            </a:pPr>
            <a:endParaRPr lang="en-US" sz="1400" dirty="0">
              <a:solidFill>
                <a:schemeClr val="tx1"/>
              </a:solidFill>
              <a:latin typeface="Arial" panose="020B0604020202020204" pitchFamily="34" charset="0"/>
              <a:cs typeface="Arial" panose="020B0604020202020204" pitchFamily="34" charset="0"/>
            </a:endParaRPr>
          </a:p>
          <a:p>
            <a:pPr marL="0" indent="0">
              <a:buNone/>
            </a:pPr>
            <a:r>
              <a:rPr lang="en-US" sz="1400" i="0" u="none" strike="noStrike" dirty="0">
                <a:solidFill>
                  <a:schemeClr val="tx1"/>
                </a:solidFill>
                <a:effectLst/>
                <a:latin typeface="Arial" panose="020B0604020202020204" pitchFamily="34" charset="0"/>
                <a:cs typeface="Arial" panose="020B0604020202020204" pitchFamily="34" charset="0"/>
              </a:rPr>
              <a:t>Commonly, </a:t>
            </a:r>
            <a:r>
              <a:rPr lang="el-GR" sz="1400" i="0" u="none" strike="noStrike" dirty="0">
                <a:solidFill>
                  <a:schemeClr val="tx1"/>
                </a:solidFill>
                <a:effectLst/>
                <a:latin typeface="Arial" panose="020B0604020202020204" pitchFamily="34" charset="0"/>
                <a:cs typeface="Arial" panose="020B0604020202020204" pitchFamily="34" charset="0"/>
              </a:rPr>
              <a:t>α = 0.05, </a:t>
            </a:r>
            <a:r>
              <a:rPr lang="en-US" sz="1400" i="0" u="none" strike="noStrike" dirty="0">
                <a:solidFill>
                  <a:schemeClr val="tx1"/>
                </a:solidFill>
                <a:effectLst/>
                <a:latin typeface="Arial" panose="020B0604020202020204" pitchFamily="34" charset="0"/>
                <a:cs typeface="Arial" panose="020B0604020202020204" pitchFamily="34" charset="0"/>
              </a:rPr>
              <a:t>meaning that there is a 5% chance of finding a result as extreme as the one observed. However, </a:t>
            </a:r>
            <a:r>
              <a:rPr lang="el-GR" sz="1400" i="0" u="none" strike="noStrike" dirty="0">
                <a:solidFill>
                  <a:schemeClr val="tx1"/>
                </a:solidFill>
                <a:effectLst/>
                <a:latin typeface="Arial" panose="020B0604020202020204" pitchFamily="34" charset="0"/>
                <a:cs typeface="Arial" panose="020B0604020202020204" pitchFamily="34" charset="0"/>
              </a:rPr>
              <a:t>α </a:t>
            </a:r>
            <a:r>
              <a:rPr lang="en-US" sz="1400" i="0" u="none" strike="noStrike" dirty="0">
                <a:solidFill>
                  <a:schemeClr val="tx1"/>
                </a:solidFill>
                <a:effectLst/>
                <a:latin typeface="Arial" panose="020B0604020202020204" pitchFamily="34" charset="0"/>
                <a:cs typeface="Arial" panose="020B0604020202020204" pitchFamily="34" charset="0"/>
              </a:rPr>
              <a:t>is not fixed</a:t>
            </a:r>
            <a:r>
              <a:rPr lang="en-US" sz="1400" dirty="0">
                <a:solidFill>
                  <a:schemeClr val="tx1"/>
                </a:solidFill>
                <a:latin typeface="Arial" panose="020B0604020202020204" pitchFamily="34" charset="0"/>
                <a:cs typeface="Arial" panose="020B0604020202020204" pitchFamily="34" charset="0"/>
              </a:rPr>
              <a:t> </a:t>
            </a:r>
            <a:r>
              <a:rPr lang="en-US" sz="1400" i="0" u="none" strike="noStrike" dirty="0">
                <a:solidFill>
                  <a:schemeClr val="tx1"/>
                </a:solidFill>
                <a:effectLst/>
                <a:latin typeface="Arial" panose="020B0604020202020204" pitchFamily="34" charset="0"/>
                <a:cs typeface="Arial" panose="020B0604020202020204" pitchFamily="34" charset="0"/>
              </a:rPr>
              <a:t>it can be changed depending on:</a:t>
            </a:r>
          </a:p>
          <a:p>
            <a:pPr marL="285750" indent="-285750"/>
            <a:r>
              <a:rPr lang="en-US" sz="1400" i="0" u="none" strike="noStrike" dirty="0">
                <a:solidFill>
                  <a:schemeClr val="tx1"/>
                </a:solidFill>
                <a:effectLst/>
                <a:latin typeface="Arial" panose="020B0604020202020204" pitchFamily="34" charset="0"/>
                <a:cs typeface="Arial" panose="020B0604020202020204" pitchFamily="34" charset="0"/>
              </a:rPr>
              <a:t>Study design</a:t>
            </a:r>
          </a:p>
          <a:p>
            <a:pPr marL="285750" indent="-285750"/>
            <a:r>
              <a:rPr lang="en-US" sz="1400" i="0" u="none" strike="noStrike" dirty="0">
                <a:solidFill>
                  <a:schemeClr val="tx1"/>
                </a:solidFill>
                <a:effectLst/>
                <a:latin typeface="Arial" panose="020B0604020202020204" pitchFamily="34" charset="0"/>
                <a:cs typeface="Arial" panose="020B0604020202020204" pitchFamily="34" charset="0"/>
              </a:rPr>
              <a:t>Sample size</a:t>
            </a:r>
          </a:p>
          <a:p>
            <a:pPr marL="285750" indent="-285750"/>
            <a:r>
              <a:rPr lang="en-US" sz="1400" i="0" u="none" strike="noStrike" dirty="0">
                <a:solidFill>
                  <a:schemeClr val="tx1"/>
                </a:solidFill>
                <a:effectLst/>
                <a:latin typeface="Arial" panose="020B0604020202020204" pitchFamily="34" charset="0"/>
                <a:cs typeface="Arial" panose="020B0604020202020204" pitchFamily="34" charset="0"/>
              </a:rPr>
              <a:t>Potential consequences of a false positive</a:t>
            </a:r>
          </a:p>
          <a:p>
            <a:pPr marL="0" indent="0">
              <a:buNone/>
            </a:pPr>
            <a:endParaRPr lang="en-U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0696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7E50-F5A8-44E4-B17D-6E3F3A8AB0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96C67-F68A-564F-7CAA-837246FDDE48}"/>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p-values</a:t>
            </a:r>
          </a:p>
        </p:txBody>
      </p:sp>
      <p:sp>
        <p:nvSpPr>
          <p:cNvPr id="3" name="Content Placeholder 2">
            <a:extLst>
              <a:ext uri="{FF2B5EF4-FFF2-40B4-BE49-F238E27FC236}">
                <a16:creationId xmlns:a16="http://schemas.microsoft.com/office/drawing/2014/main" id="{4FE774A1-E5F6-E8DD-B048-5108D21FD82B}"/>
              </a:ext>
            </a:extLst>
          </p:cNvPr>
          <p:cNvSpPr>
            <a:spLocks noGrp="1"/>
          </p:cNvSpPr>
          <p:nvPr>
            <p:ph idx="1"/>
          </p:nvPr>
        </p:nvSpPr>
        <p:spPr>
          <a:xfrm>
            <a:off x="311700" y="1173288"/>
            <a:ext cx="7886700" cy="3263504"/>
          </a:xfrm>
        </p:spPr>
        <p:txBody>
          <a:bodyPr/>
          <a:lstStyle/>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Example:</a:t>
            </a: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A researcher is studying whether a new heart medication lowers blood pressure compared to a placebo.</a:t>
            </a:r>
            <a:br>
              <a:rPr lang="en-US" sz="1400" i="0" u="none" strike="noStrike" dirty="0">
                <a:solidFill>
                  <a:srgbClr val="000000"/>
                </a:solidFill>
                <a:effectLst/>
                <a:latin typeface="Arial" panose="020B0604020202020204" pitchFamily="34" charset="0"/>
                <a:cs typeface="Arial" panose="020B0604020202020204" pitchFamily="34" charset="0"/>
              </a:rPr>
            </a:br>
            <a:r>
              <a:rPr lang="en-US" sz="1400" i="0" u="none" strike="noStrike" dirty="0">
                <a:solidFill>
                  <a:srgbClr val="000000"/>
                </a:solidFill>
                <a:effectLst/>
                <a:latin typeface="Arial" panose="020B0604020202020204" pitchFamily="34" charset="0"/>
                <a:cs typeface="Arial" panose="020B0604020202020204" pitchFamily="34" charset="0"/>
              </a:rPr>
              <a:t>After analyzing the data, they find:</a:t>
            </a:r>
          </a:p>
          <a:p>
            <a:pPr algn="l">
              <a:buFont typeface="Arial" panose="020B0604020202020204" pitchFamily="34" charset="0"/>
              <a:buChar char="•"/>
            </a:pPr>
            <a:r>
              <a:rPr lang="en-US" sz="1400" i="0" u="none" strike="noStrike" dirty="0">
                <a:solidFill>
                  <a:srgbClr val="000000"/>
                </a:solidFill>
                <a:effectLst/>
                <a:latin typeface="Arial" panose="020B0604020202020204" pitchFamily="34" charset="0"/>
                <a:cs typeface="Arial" panose="020B0604020202020204" pitchFamily="34" charset="0"/>
              </a:rPr>
              <a:t>p = 0.03</a:t>
            </a:r>
          </a:p>
          <a:p>
            <a:pPr algn="l">
              <a:buFont typeface="Arial" panose="020B0604020202020204" pitchFamily="34" charset="0"/>
              <a:buChar char="•"/>
            </a:pPr>
            <a:r>
              <a:rPr lang="el-GR" sz="1400" i="0" u="none" strike="noStrike" dirty="0">
                <a:solidFill>
                  <a:srgbClr val="000000"/>
                </a:solidFill>
                <a:effectLst/>
                <a:latin typeface="Arial" panose="020B0604020202020204" pitchFamily="34" charset="0"/>
                <a:cs typeface="Arial" panose="020B0604020202020204" pitchFamily="34" charset="0"/>
              </a:rPr>
              <a:t>α = 0.05 (</a:t>
            </a:r>
            <a:r>
              <a:rPr lang="en-US" sz="1400" i="0" u="none" strike="noStrike" dirty="0">
                <a:solidFill>
                  <a:srgbClr val="000000"/>
                </a:solidFill>
                <a:effectLst/>
                <a:latin typeface="Arial" panose="020B0604020202020204" pitchFamily="34" charset="0"/>
                <a:cs typeface="Arial" panose="020B0604020202020204" pitchFamily="34" charset="0"/>
              </a:rPr>
              <a:t>set by researcher)</a:t>
            </a:r>
          </a:p>
          <a:p>
            <a:pPr marL="114300" indent="0" algn="l">
              <a:buNone/>
            </a:pPr>
            <a:endParaRPr lang="en-US" sz="1400" i="0" u="none" strike="noStrike" dirty="0">
              <a:solidFill>
                <a:srgbClr val="000000"/>
              </a:solidFill>
              <a:effectLst/>
              <a:latin typeface="Arial" panose="020B0604020202020204" pitchFamily="34" charset="0"/>
              <a:cs typeface="Arial" panose="020B0604020202020204" pitchFamily="34" charset="0"/>
            </a:endParaRP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Interpretation:</a:t>
            </a:r>
            <a:br>
              <a:rPr lang="en-US" sz="1400" i="0" u="none" strike="noStrike" dirty="0">
                <a:solidFill>
                  <a:srgbClr val="000000"/>
                </a:solidFill>
                <a:effectLst/>
                <a:latin typeface="Arial" panose="020B0604020202020204" pitchFamily="34" charset="0"/>
                <a:cs typeface="Arial" panose="020B0604020202020204" pitchFamily="34" charset="0"/>
              </a:rPr>
            </a:br>
            <a:r>
              <a:rPr lang="en-US" sz="1400" i="0" u="none" strike="noStrike" dirty="0">
                <a:solidFill>
                  <a:srgbClr val="000000"/>
                </a:solidFill>
                <a:effectLst/>
                <a:latin typeface="Arial" panose="020B0604020202020204" pitchFamily="34" charset="0"/>
                <a:cs typeface="Arial" panose="020B0604020202020204" pitchFamily="34" charset="0"/>
              </a:rPr>
              <a:t>Since p = 0.03 (which means p &lt; 0.05), the result is statistically significant. This means there is only a 3% probability that the observed difference (or a more extreme one) occurred by chance if the medication had no true effect.</a:t>
            </a:r>
            <a:r>
              <a:rPr lang="en-US" sz="1400" dirty="0">
                <a:solidFill>
                  <a:srgbClr val="000000"/>
                </a:solidFill>
                <a:latin typeface="Arial" panose="020B0604020202020204" pitchFamily="34" charset="0"/>
                <a:cs typeface="Arial" panose="020B0604020202020204" pitchFamily="34" charset="0"/>
              </a:rPr>
              <a:t> </a:t>
            </a:r>
            <a:r>
              <a:rPr lang="en-US" sz="1400" i="0" u="none" strike="noStrike" dirty="0">
                <a:solidFill>
                  <a:srgbClr val="000000"/>
                </a:solidFill>
                <a:effectLst/>
                <a:latin typeface="Arial" panose="020B0604020202020204" pitchFamily="34" charset="0"/>
                <a:cs typeface="Arial" panose="020B0604020202020204" pitchFamily="34" charset="0"/>
              </a:rPr>
              <a:t>The researcher rejects the null hypothesis (the new medication causes no difference) and concludes that the new medication likely lowers blood pressure.</a:t>
            </a:r>
          </a:p>
          <a:p>
            <a:pPr marL="0" indent="0">
              <a:buNone/>
            </a:pPr>
            <a:endParaRPr lang="en-U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64748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0F068-2C63-E401-7D58-3C0167808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856E47-CE6A-406A-9A40-4648312F38C5}"/>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Confidence Intervals</a:t>
            </a:r>
          </a:p>
        </p:txBody>
      </p:sp>
      <p:sp>
        <p:nvSpPr>
          <p:cNvPr id="3" name="Content Placeholder 2">
            <a:extLst>
              <a:ext uri="{FF2B5EF4-FFF2-40B4-BE49-F238E27FC236}">
                <a16:creationId xmlns:a16="http://schemas.microsoft.com/office/drawing/2014/main" id="{276809B3-A5A8-F88B-BB63-0F9DEB7E4822}"/>
              </a:ext>
            </a:extLst>
          </p:cNvPr>
          <p:cNvSpPr>
            <a:spLocks noGrp="1"/>
          </p:cNvSpPr>
          <p:nvPr>
            <p:ph idx="1"/>
          </p:nvPr>
        </p:nvSpPr>
        <p:spPr>
          <a:xfrm>
            <a:off x="554222" y="1278648"/>
            <a:ext cx="7886700" cy="3263504"/>
          </a:xfrm>
        </p:spPr>
        <p:txBody>
          <a:bodyPr/>
          <a:lstStyle/>
          <a:p>
            <a:pPr marL="0" indent="0">
              <a:buNone/>
            </a:pPr>
            <a:r>
              <a:rPr lang="en-US" i="0" u="none" strike="noStrike" dirty="0">
                <a:solidFill>
                  <a:srgbClr val="000000"/>
                </a:solidFill>
                <a:effectLst/>
                <a:latin typeface="Arial" panose="020B0604020202020204" pitchFamily="34" charset="0"/>
                <a:cs typeface="Arial" panose="020B0604020202020204" pitchFamily="34" charset="0"/>
              </a:rPr>
              <a:t>A confidence interval (CI) provides a range of values that likely contains the true population value (such as the true mean or proportion), based on the sample data.</a:t>
            </a:r>
          </a:p>
          <a:p>
            <a:pPr marL="0" indent="0">
              <a:buNone/>
            </a:pPr>
            <a:endParaRPr lang="en-US" dirty="0">
              <a:solidFill>
                <a:srgbClr val="000000"/>
              </a:solidFill>
              <a:latin typeface="Arial" panose="020B0604020202020204" pitchFamily="34" charset="0"/>
              <a:cs typeface="Arial" panose="020B0604020202020204" pitchFamily="34" charset="0"/>
            </a:endParaRPr>
          </a:p>
          <a:p>
            <a:pPr marL="0" indent="0">
              <a:buNone/>
            </a:pPr>
            <a:r>
              <a:rPr lang="en-US" dirty="0">
                <a:solidFill>
                  <a:srgbClr val="000000"/>
                </a:solidFill>
                <a:latin typeface="Arial" panose="020B0604020202020204" pitchFamily="34" charset="0"/>
                <a:cs typeface="Arial" panose="020B0604020202020204" pitchFamily="34" charset="0"/>
              </a:rPr>
              <a:t>I</a:t>
            </a:r>
            <a:r>
              <a:rPr lang="en-US" i="0" u="none" strike="noStrike" dirty="0">
                <a:solidFill>
                  <a:srgbClr val="000000"/>
                </a:solidFill>
                <a:effectLst/>
                <a:latin typeface="Arial" panose="020B0604020202020204" pitchFamily="34" charset="0"/>
                <a:cs typeface="Arial" panose="020B0604020202020204" pitchFamily="34" charset="0"/>
              </a:rPr>
              <a:t>nterpretation depends on the confidence level (commonly 95%):</a:t>
            </a:r>
          </a:p>
          <a:p>
            <a:pPr algn="l">
              <a:buFont typeface="Arial" panose="020B0604020202020204" pitchFamily="34" charset="0"/>
              <a:buChar char="•"/>
            </a:pPr>
            <a:r>
              <a:rPr lang="en-US" i="0" u="none" strike="noStrike" dirty="0">
                <a:solidFill>
                  <a:srgbClr val="000000"/>
                </a:solidFill>
                <a:effectLst/>
                <a:latin typeface="Arial" panose="020B0604020202020204" pitchFamily="34" charset="0"/>
                <a:cs typeface="Arial" panose="020B0604020202020204" pitchFamily="34" charset="0"/>
              </a:rPr>
              <a:t>A 95% CI means that if we repeated the study many times, 95% of the intervals would contain the true value.</a:t>
            </a:r>
          </a:p>
          <a:p>
            <a:pPr algn="l">
              <a:buFont typeface="Arial" panose="020B0604020202020204" pitchFamily="34" charset="0"/>
              <a:buChar char="•"/>
            </a:pPr>
            <a:r>
              <a:rPr lang="en-US" i="0" u="none" strike="noStrike" dirty="0">
                <a:solidFill>
                  <a:srgbClr val="000000"/>
                </a:solidFill>
                <a:effectLst/>
                <a:latin typeface="Arial" panose="020B0604020202020204" pitchFamily="34" charset="0"/>
                <a:cs typeface="Arial" panose="020B0604020202020204" pitchFamily="34" charset="0"/>
              </a:rPr>
              <a:t>99% CI is used when consequences of a wrong conclusion are high</a:t>
            </a:r>
            <a:r>
              <a:rPr lang="en-US" dirty="0">
                <a:solidFill>
                  <a:srgbClr val="000000"/>
                </a:solidFill>
                <a:latin typeface="Arial" panose="020B0604020202020204" pitchFamily="34" charset="0"/>
                <a:cs typeface="Arial" panose="020B0604020202020204" pitchFamily="34" charset="0"/>
              </a:rPr>
              <a:t>. </a:t>
            </a:r>
            <a:r>
              <a:rPr lang="en-US" i="0" u="none" strike="noStrike" dirty="0">
                <a:solidFill>
                  <a:srgbClr val="000000"/>
                </a:solidFill>
                <a:effectLst/>
                <a:latin typeface="Arial" panose="020B0604020202020204" pitchFamily="34" charset="0"/>
                <a:cs typeface="Arial" panose="020B0604020202020204" pitchFamily="34" charset="0"/>
              </a:rPr>
              <a:t>It provides greater certainty, but the interval will be wider.</a:t>
            </a:r>
          </a:p>
          <a:p>
            <a:pPr algn="l">
              <a:buFont typeface="Arial" panose="020B0604020202020204" pitchFamily="34" charset="0"/>
              <a:buChar char="•"/>
            </a:pPr>
            <a:r>
              <a:rPr lang="en-US" i="0" u="none" strike="noStrike" dirty="0">
                <a:solidFill>
                  <a:srgbClr val="000000"/>
                </a:solidFill>
                <a:effectLst/>
                <a:latin typeface="Arial" panose="020B0604020202020204" pitchFamily="34" charset="0"/>
                <a:cs typeface="Arial" panose="020B0604020202020204" pitchFamily="34" charset="0"/>
              </a:rPr>
              <a:t>90% CI is used where a narrower range is acceptable and a quicker decision is needed.</a:t>
            </a:r>
          </a:p>
          <a:p>
            <a:pPr marL="114300" indent="0" algn="l">
              <a:buNone/>
            </a:pPr>
            <a:endParaRPr lang="en-US" i="0" u="none" strike="noStrike" dirty="0">
              <a:solidFill>
                <a:srgbClr val="000000"/>
              </a:solidFill>
              <a:effectLst/>
              <a:latin typeface="Arial" panose="020B060402020202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1382991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CFB0-960C-44EB-B43F-001F925E5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E864A6-93C4-828B-AEF9-CD120F3955A3}"/>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Confidence Intervals</a:t>
            </a:r>
          </a:p>
        </p:txBody>
      </p:sp>
      <p:sp>
        <p:nvSpPr>
          <p:cNvPr id="3" name="Content Placeholder 2">
            <a:extLst>
              <a:ext uri="{FF2B5EF4-FFF2-40B4-BE49-F238E27FC236}">
                <a16:creationId xmlns:a16="http://schemas.microsoft.com/office/drawing/2014/main" id="{51B7E100-08EA-09D8-A46E-A9C91FA42068}"/>
              </a:ext>
            </a:extLst>
          </p:cNvPr>
          <p:cNvSpPr>
            <a:spLocks noGrp="1"/>
          </p:cNvSpPr>
          <p:nvPr>
            <p:ph idx="1"/>
          </p:nvPr>
        </p:nvSpPr>
        <p:spPr>
          <a:xfrm>
            <a:off x="554222" y="1278648"/>
            <a:ext cx="7886700" cy="3263504"/>
          </a:xfrm>
        </p:spPr>
        <p:txBody>
          <a:bodyPr/>
          <a:lstStyle/>
          <a:p>
            <a:pPr marL="114300" indent="0" algn="l">
              <a:buNone/>
            </a:pPr>
            <a:r>
              <a:rPr lang="en-US" i="0" u="none" strike="noStrike" dirty="0">
                <a:solidFill>
                  <a:schemeClr val="tx1"/>
                </a:solidFill>
                <a:effectLst/>
                <a:latin typeface="Arial" panose="020B0604020202020204" pitchFamily="34" charset="0"/>
                <a:cs typeface="Arial" panose="020B0604020202020204" pitchFamily="34" charset="0"/>
              </a:rPr>
              <a:t>Example:</a:t>
            </a:r>
          </a:p>
          <a:p>
            <a:pPr marL="114300" indent="0" algn="l">
              <a:buNone/>
            </a:pPr>
            <a:r>
              <a:rPr lang="en-US" dirty="0">
                <a:solidFill>
                  <a:schemeClr val="tx1"/>
                </a:solidFill>
                <a:latin typeface="Arial" panose="020B0604020202020204" pitchFamily="34" charset="0"/>
                <a:cs typeface="Arial" panose="020B0604020202020204" pitchFamily="34" charset="0"/>
              </a:rPr>
              <a:t>Guo and Zhang (2017) </a:t>
            </a:r>
            <a:r>
              <a:rPr lang="en-US" i="0" u="none" strike="noStrike" dirty="0">
                <a:solidFill>
                  <a:schemeClr val="tx1"/>
                </a:solidFill>
                <a:effectLst/>
                <a:latin typeface="Arial" panose="020B0604020202020204" pitchFamily="34" charset="0"/>
                <a:cs typeface="Arial" panose="020B0604020202020204" pitchFamily="34" charset="0"/>
              </a:rPr>
              <a:t>evaluated the association </a:t>
            </a:r>
            <a:r>
              <a:rPr lang="en-US" dirty="0">
                <a:solidFill>
                  <a:schemeClr val="tx1"/>
                </a:solidFill>
                <a:latin typeface="Arial" panose="020B0604020202020204" pitchFamily="34" charset="0"/>
                <a:cs typeface="Arial" panose="020B0604020202020204" pitchFamily="34" charset="0"/>
              </a:rPr>
              <a:t>be</a:t>
            </a:r>
            <a:r>
              <a:rPr lang="en-US" i="0" u="none" strike="noStrike" dirty="0">
                <a:solidFill>
                  <a:schemeClr val="tx1"/>
                </a:solidFill>
                <a:effectLst/>
                <a:latin typeface="Arial" panose="020B0604020202020204" pitchFamily="34" charset="0"/>
                <a:cs typeface="Arial" panose="020B0604020202020204" pitchFamily="34" charset="0"/>
              </a:rPr>
              <a:t>tween ideal cardiovascular health (CVH) metrics and risk of cardiovascular events as well as mortality. </a:t>
            </a:r>
            <a:r>
              <a:rPr lang="en-US" dirty="0">
                <a:solidFill>
                  <a:schemeClr val="tx1"/>
                </a:solidFill>
                <a:latin typeface="Arial" panose="020B0604020202020204" pitchFamily="34" charset="0"/>
                <a:cs typeface="Arial" panose="020B0604020202020204" pitchFamily="34" charset="0"/>
              </a:rPr>
              <a:t>When looking at smoking as an ideal CVH metric, they found that the risk ratio was </a:t>
            </a:r>
            <a:r>
              <a:rPr lang="en-US" i="0" u="none" strike="noStrike" dirty="0">
                <a:solidFill>
                  <a:schemeClr val="tx1"/>
                </a:solidFill>
                <a:effectLst/>
                <a:latin typeface="Arial" panose="020B0604020202020204" pitchFamily="34" charset="0"/>
                <a:cs typeface="Arial" panose="020B0604020202020204" pitchFamily="34" charset="0"/>
              </a:rPr>
              <a:t>RR = 0.54 (95% CI: 0.38-0.77) with p = 0.001 for cardiovascular mortality.</a:t>
            </a:r>
          </a:p>
          <a:p>
            <a:pPr marL="114300" indent="0" algn="l">
              <a:buNone/>
            </a:pPr>
            <a:endParaRPr lang="en-US" dirty="0">
              <a:solidFill>
                <a:schemeClr val="tx1"/>
              </a:solidFill>
              <a:latin typeface="Arial" panose="020B0604020202020204" pitchFamily="34" charset="0"/>
              <a:cs typeface="Arial" panose="020B0604020202020204" pitchFamily="34" charset="0"/>
            </a:endParaRPr>
          </a:p>
          <a:p>
            <a:pPr marL="114300" indent="0">
              <a:buNone/>
            </a:pPr>
            <a:r>
              <a:rPr lang="en-US" dirty="0">
                <a:solidFill>
                  <a:schemeClr val="tx1"/>
                </a:solidFill>
                <a:latin typeface="Arial" panose="020B0604020202020204" pitchFamily="34" charset="0"/>
                <a:cs typeface="Arial" panose="020B0604020202020204" pitchFamily="34" charset="0"/>
              </a:rPr>
              <a:t>Interpretation:</a:t>
            </a:r>
            <a:br>
              <a:rPr lang="en-US" dirty="0">
                <a:solidFill>
                  <a:schemeClr val="tx1"/>
                </a:solidFill>
                <a:latin typeface="Arial" panose="020B0604020202020204" pitchFamily="34" charset="0"/>
                <a:cs typeface="Arial" panose="020B0604020202020204" pitchFamily="34" charset="0"/>
              </a:rPr>
            </a:br>
            <a:r>
              <a:rPr lang="en-US" i="0" u="none" strike="noStrike" dirty="0">
                <a:solidFill>
                  <a:schemeClr val="tx1"/>
                </a:solidFill>
                <a:effectLst/>
                <a:latin typeface="Arial" panose="020B0604020202020204" pitchFamily="34" charset="0"/>
                <a:cs typeface="Arial" panose="020B0604020202020204" pitchFamily="34" charset="0"/>
              </a:rPr>
              <a:t>Ideal smoking status (non-smoking) is associated with a 46% lower risk of dying from cardiovascular causes. This is shown by a risk ratio (RR) of 0.54 with a 95% confidence interval from 0.38 to 0.77, </a:t>
            </a:r>
            <a:r>
              <a:rPr lang="en-US" dirty="0">
                <a:solidFill>
                  <a:schemeClr val="tx1"/>
                </a:solidFill>
                <a:latin typeface="Arial" panose="020B0604020202020204" pitchFamily="34" charset="0"/>
                <a:cs typeface="Arial" panose="020B0604020202020204" pitchFamily="34" charset="0"/>
              </a:rPr>
              <a:t>meaning </a:t>
            </a:r>
            <a:r>
              <a:rPr lang="en-US" i="0" u="none" strike="noStrike" dirty="0">
                <a:solidFill>
                  <a:schemeClr val="tx1"/>
                </a:solidFill>
                <a:effectLst/>
                <a:latin typeface="Arial" panose="020B0604020202020204" pitchFamily="34" charset="0"/>
                <a:cs typeface="Arial" panose="020B0604020202020204" pitchFamily="34" charset="0"/>
              </a:rPr>
              <a:t>we are 95% </a:t>
            </a:r>
            <a:r>
              <a:rPr lang="en-US" dirty="0">
                <a:solidFill>
                  <a:schemeClr val="tx1"/>
                </a:solidFill>
                <a:latin typeface="Arial" panose="020B0604020202020204" pitchFamily="34" charset="0"/>
                <a:cs typeface="Arial" panose="020B0604020202020204" pitchFamily="34" charset="0"/>
              </a:rPr>
              <a:t>confident</a:t>
            </a:r>
            <a:r>
              <a:rPr lang="en-US" i="0" u="none" strike="noStrike" dirty="0">
                <a:solidFill>
                  <a:schemeClr val="tx1"/>
                </a:solidFill>
                <a:effectLst/>
                <a:latin typeface="Arial" panose="020B0604020202020204" pitchFamily="34" charset="0"/>
                <a:cs typeface="Arial" panose="020B0604020202020204" pitchFamily="34" charset="0"/>
              </a:rPr>
              <a:t> that the true effect falls in this range.</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23089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A672F-E0C8-643B-2D84-229F4F5924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553BF-F84F-30CD-F714-4DB0BDC5E8D2}"/>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Pearson Correlation Coefficient</a:t>
            </a:r>
          </a:p>
        </p:txBody>
      </p:sp>
      <p:sp>
        <p:nvSpPr>
          <p:cNvPr id="3" name="Content Placeholder 2">
            <a:extLst>
              <a:ext uri="{FF2B5EF4-FFF2-40B4-BE49-F238E27FC236}">
                <a16:creationId xmlns:a16="http://schemas.microsoft.com/office/drawing/2014/main" id="{AEB2952A-A623-D68F-A35E-C7838B964F92}"/>
              </a:ext>
            </a:extLst>
          </p:cNvPr>
          <p:cNvSpPr>
            <a:spLocks noGrp="1"/>
          </p:cNvSpPr>
          <p:nvPr>
            <p:ph idx="1"/>
          </p:nvPr>
        </p:nvSpPr>
        <p:spPr>
          <a:xfrm>
            <a:off x="628651" y="1677564"/>
            <a:ext cx="8047516" cy="3263504"/>
          </a:xfrm>
        </p:spPr>
        <p:txBody>
          <a:bodyPr/>
          <a:lstStyle/>
          <a:p>
            <a:pPr marL="0" indent="0">
              <a:buNone/>
            </a:pPr>
            <a:r>
              <a:rPr lang="en-US" dirty="0">
                <a:solidFill>
                  <a:schemeClr val="tx1"/>
                </a:solidFill>
                <a:latin typeface="Arial" panose="020B0604020202020204" pitchFamily="34" charset="0"/>
                <a:cs typeface="Arial" panose="020B0604020202020204" pitchFamily="34" charset="0"/>
              </a:rPr>
              <a:t>Pearson Correlation Coefficient: a statistical test that measures the strength and direction of a linear relationship between two continuous variables.</a:t>
            </a:r>
          </a:p>
          <a:p>
            <a:pPr marL="0" indent="0">
              <a:buNone/>
            </a:pPr>
            <a:endParaRPr lang="en-US" dirty="0">
              <a:solidFill>
                <a:schemeClr val="tx1"/>
              </a:solidFill>
              <a:latin typeface="Arial" panose="020B0604020202020204" pitchFamily="34" charset="0"/>
              <a:cs typeface="Arial" panose="020B0604020202020204" pitchFamily="34" charset="0"/>
            </a:endParaRPr>
          </a:p>
          <a:p>
            <a:pPr marL="0" indent="0">
              <a:buNone/>
            </a:pPr>
            <a:r>
              <a:rPr lang="en-US" dirty="0">
                <a:solidFill>
                  <a:schemeClr val="tx1"/>
                </a:solidFill>
                <a:latin typeface="Arial" panose="020B0604020202020204" pitchFamily="34" charset="0"/>
                <a:cs typeface="Arial" panose="020B0604020202020204" pitchFamily="34" charset="0"/>
              </a:rPr>
              <a:t>Pearson correlation coefficient is denoted by </a:t>
            </a:r>
            <a:r>
              <a:rPr lang="en-US" i="1" dirty="0">
                <a:solidFill>
                  <a:schemeClr val="tx1"/>
                </a:solidFill>
                <a:latin typeface="Arial" panose="020B0604020202020204" pitchFamily="34" charset="0"/>
                <a:cs typeface="Arial" panose="020B0604020202020204" pitchFamily="34" charset="0"/>
              </a:rPr>
              <a:t>r</a:t>
            </a:r>
          </a:p>
          <a:p>
            <a:pPr lvl="1">
              <a:spcBef>
                <a:spcPts val="0"/>
              </a:spcBef>
            </a:pPr>
            <a:r>
              <a:rPr lang="en-US" dirty="0">
                <a:solidFill>
                  <a:schemeClr val="tx1"/>
                </a:solidFill>
                <a:latin typeface="Arial" panose="020B0604020202020204" pitchFamily="34" charset="0"/>
                <a:cs typeface="Arial" panose="020B0604020202020204" pitchFamily="34" charset="0"/>
              </a:rPr>
              <a:t>Ranges from -1 to +1</a:t>
            </a:r>
          </a:p>
          <a:p>
            <a:pPr lvl="1">
              <a:spcBef>
                <a:spcPts val="0"/>
              </a:spcBef>
            </a:pPr>
            <a:r>
              <a:rPr lang="en-US" i="1" dirty="0">
                <a:solidFill>
                  <a:schemeClr val="tx1"/>
                </a:solidFill>
                <a:latin typeface="Arial" panose="020B0604020202020204" pitchFamily="34" charset="0"/>
                <a:cs typeface="Arial" panose="020B0604020202020204" pitchFamily="34" charset="0"/>
              </a:rPr>
              <a:t>r</a:t>
            </a:r>
            <a:r>
              <a:rPr lang="en-US" dirty="0">
                <a:solidFill>
                  <a:schemeClr val="tx1"/>
                </a:solidFill>
                <a:latin typeface="Arial" panose="020B0604020202020204" pitchFamily="34" charset="0"/>
                <a:cs typeface="Arial" panose="020B0604020202020204" pitchFamily="34" charset="0"/>
              </a:rPr>
              <a:t> = -1 </a:t>
            </a:r>
            <a:r>
              <a:rPr lang="en-US" dirty="0">
                <a:solidFill>
                  <a:schemeClr val="tx1"/>
                </a:solidFill>
                <a:latin typeface="Arial" panose="020B0604020202020204" pitchFamily="34" charset="0"/>
                <a:cs typeface="Arial" panose="020B0604020202020204" pitchFamily="34" charset="0"/>
                <a:sym typeface="Wingdings" pitchFamily="2" charset="2"/>
              </a:rPr>
              <a:t> a perfect negative linear relationship</a:t>
            </a:r>
          </a:p>
          <a:p>
            <a:pPr lvl="1">
              <a:spcBef>
                <a:spcPts val="0"/>
              </a:spcBef>
            </a:pPr>
            <a:r>
              <a:rPr lang="en-US" i="1" dirty="0">
                <a:solidFill>
                  <a:schemeClr val="tx1"/>
                </a:solidFill>
                <a:latin typeface="Arial" panose="020B0604020202020204" pitchFamily="34" charset="0"/>
                <a:cs typeface="Arial" panose="020B0604020202020204" pitchFamily="34" charset="0"/>
                <a:sym typeface="Wingdings" pitchFamily="2" charset="2"/>
              </a:rPr>
              <a:t>r</a:t>
            </a:r>
            <a:r>
              <a:rPr lang="en-US" dirty="0">
                <a:solidFill>
                  <a:schemeClr val="tx1"/>
                </a:solidFill>
                <a:latin typeface="Arial" panose="020B0604020202020204" pitchFamily="34" charset="0"/>
                <a:cs typeface="Arial" panose="020B0604020202020204" pitchFamily="34" charset="0"/>
                <a:sym typeface="Wingdings" pitchFamily="2" charset="2"/>
              </a:rPr>
              <a:t> = +1  a perfect positive linear relationship</a:t>
            </a:r>
          </a:p>
          <a:p>
            <a:pPr lvl="1">
              <a:spcBef>
                <a:spcPts val="0"/>
              </a:spcBef>
            </a:pPr>
            <a:r>
              <a:rPr lang="en-US" i="1" dirty="0">
                <a:solidFill>
                  <a:schemeClr val="tx1"/>
                </a:solidFill>
                <a:latin typeface="Arial" panose="020B0604020202020204" pitchFamily="34" charset="0"/>
                <a:cs typeface="Arial" panose="020B0604020202020204" pitchFamily="34" charset="0"/>
                <a:sym typeface="Wingdings" pitchFamily="2" charset="2"/>
              </a:rPr>
              <a:t>r</a:t>
            </a:r>
            <a:r>
              <a:rPr lang="en-US" dirty="0">
                <a:solidFill>
                  <a:schemeClr val="tx1"/>
                </a:solidFill>
                <a:latin typeface="Arial" panose="020B0604020202020204" pitchFamily="34" charset="0"/>
                <a:cs typeface="Arial" panose="020B0604020202020204" pitchFamily="34" charset="0"/>
                <a:sym typeface="Wingdings" pitchFamily="2" charset="2"/>
              </a:rPr>
              <a:t> = 0  no linear relationship </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34065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97D38-E519-3EC2-CFF6-380D0408C8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03855-C45A-5C15-681F-0C63722ABB6A}"/>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Pearson Correlation Coefficient</a:t>
            </a:r>
          </a:p>
        </p:txBody>
      </p:sp>
      <p:sp>
        <p:nvSpPr>
          <p:cNvPr id="3" name="Content Placeholder 2">
            <a:extLst>
              <a:ext uri="{FF2B5EF4-FFF2-40B4-BE49-F238E27FC236}">
                <a16:creationId xmlns:a16="http://schemas.microsoft.com/office/drawing/2014/main" id="{BBA02144-2650-CD0D-ABBE-B3F1910E1832}"/>
              </a:ext>
            </a:extLst>
          </p:cNvPr>
          <p:cNvSpPr>
            <a:spLocks noGrp="1"/>
          </p:cNvSpPr>
          <p:nvPr>
            <p:ph idx="1"/>
          </p:nvPr>
        </p:nvSpPr>
        <p:spPr>
          <a:xfrm>
            <a:off x="548242" y="1784303"/>
            <a:ext cx="8047516" cy="3263504"/>
          </a:xfrm>
        </p:spPr>
        <p:txBody>
          <a:bodyPr/>
          <a:lstStyle/>
          <a:p>
            <a:pPr marL="114300" indent="0">
              <a:buNone/>
            </a:pPr>
            <a:r>
              <a:rPr lang="en-US" dirty="0">
                <a:solidFill>
                  <a:schemeClr val="tx1"/>
                </a:solidFill>
                <a:latin typeface="Arial" panose="020B0604020202020204" pitchFamily="34" charset="0"/>
                <a:cs typeface="Arial" panose="020B0604020202020204" pitchFamily="34" charset="0"/>
              </a:rPr>
              <a:t>Example:</a:t>
            </a:r>
          </a:p>
          <a:p>
            <a:pPr marL="114300" indent="0">
              <a:buNone/>
            </a:pPr>
            <a:r>
              <a:rPr lang="en-US" dirty="0">
                <a:solidFill>
                  <a:schemeClr val="tx1"/>
                </a:solidFill>
                <a:latin typeface="Arial" panose="020B0604020202020204" pitchFamily="34" charset="0"/>
                <a:cs typeface="Arial" panose="020B0604020202020204" pitchFamily="34" charset="0"/>
              </a:rPr>
              <a:t>Reimers et al. (2018), studied whether regular exercise influences resting heart rate (RHR). They reported a correlation of r = -0.36 between baseline RHR and the change of RHR after participating in different types of sports. </a:t>
            </a:r>
          </a:p>
          <a:p>
            <a:pPr marL="114300" indent="0">
              <a:buNone/>
            </a:pPr>
            <a:endParaRPr lang="en-US" dirty="0">
              <a:solidFill>
                <a:schemeClr val="tx1"/>
              </a:solidFill>
              <a:latin typeface="Arial" panose="020B0604020202020204" pitchFamily="34" charset="0"/>
              <a:cs typeface="Arial" panose="020B0604020202020204" pitchFamily="34" charset="0"/>
            </a:endParaRPr>
          </a:p>
          <a:p>
            <a:pPr marL="114300" indent="0">
              <a:buNone/>
            </a:pPr>
            <a:r>
              <a:rPr lang="en-US" dirty="0">
                <a:solidFill>
                  <a:schemeClr val="tx1"/>
                </a:solidFill>
                <a:latin typeface="Arial" panose="020B0604020202020204" pitchFamily="34" charset="0"/>
                <a:cs typeface="Arial" panose="020B0604020202020204" pitchFamily="34" charset="0"/>
              </a:rPr>
              <a:t>This indicates that individuals with higher baseline RHR tend to show a decrease in RHR after participating in a sport. </a:t>
            </a:r>
          </a:p>
        </p:txBody>
      </p:sp>
    </p:spTree>
    <p:extLst>
      <p:ext uri="{BB962C8B-B14F-4D97-AF65-F5344CB8AC3E}">
        <p14:creationId xmlns:p14="http://schemas.microsoft.com/office/powerpoint/2010/main" val="772323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778F2-4BBF-C7F5-9E28-574A957DB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88326-AA16-4B26-4248-6FFB961929B1}"/>
              </a:ext>
            </a:extLst>
          </p:cNvPr>
          <p:cNvSpPr>
            <a:spLocks noGrp="1"/>
          </p:cNvSpPr>
          <p:nvPr>
            <p:ph type="title"/>
          </p:nvPr>
        </p:nvSpPr>
        <p:spPr>
          <a:xfrm>
            <a:off x="311700" y="87976"/>
            <a:ext cx="7822106" cy="572700"/>
          </a:xfrm>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Student’s t-test</a:t>
            </a:r>
            <a:br>
              <a:rPr lang="en-US" dirty="0">
                <a:solidFill>
                  <a:schemeClr val="accent1"/>
                </a:solidFill>
                <a:latin typeface="Arial" panose="020B0604020202020204" pitchFamily="34" charset="0"/>
                <a:cs typeface="Arial" panose="020B0604020202020204" pitchFamily="34" charset="0"/>
              </a:rPr>
            </a:br>
            <a:endParaRPr lang="en-US" dirty="0">
              <a:solidFill>
                <a:schemeClr val="accent1"/>
              </a:solidFill>
              <a:latin typeface="Arial" panose="020B0604020202020204" pitchFamily="34" charset="0"/>
              <a:cs typeface="Arial" panose="020B0604020202020204" pitchFamily="34" charset="0"/>
            </a:endParaRPr>
          </a:p>
        </p:txBody>
      </p:sp>
      <p:graphicFrame>
        <p:nvGraphicFramePr>
          <p:cNvPr id="6" name="Content Placeholder 5">
            <a:extLst>
              <a:ext uri="{FF2B5EF4-FFF2-40B4-BE49-F238E27FC236}">
                <a16:creationId xmlns:a16="http://schemas.microsoft.com/office/drawing/2014/main" id="{9FFF071A-8EF1-0B28-4EB3-010263856607}"/>
              </a:ext>
            </a:extLst>
          </p:cNvPr>
          <p:cNvGraphicFramePr>
            <a:graphicFrameLocks noGrp="1"/>
          </p:cNvGraphicFramePr>
          <p:nvPr>
            <p:ph idx="1"/>
            <p:extLst>
              <p:ext uri="{D42A27DB-BD31-4B8C-83A1-F6EECF244321}">
                <p14:modId xmlns:p14="http://schemas.microsoft.com/office/powerpoint/2010/main" val="3092525019"/>
              </p:ext>
            </p:extLst>
          </p:nvPr>
        </p:nvGraphicFramePr>
        <p:xfrm>
          <a:off x="425301" y="2121524"/>
          <a:ext cx="8406998" cy="29225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10EDE5BD-349E-D5C6-BCE0-769B1726984B}"/>
              </a:ext>
            </a:extLst>
          </p:cNvPr>
          <p:cNvSpPr txBox="1"/>
          <p:nvPr/>
        </p:nvSpPr>
        <p:spPr>
          <a:xfrm>
            <a:off x="425301" y="1330419"/>
            <a:ext cx="8006317" cy="954107"/>
          </a:xfrm>
          <a:prstGeom prst="rect">
            <a:avLst/>
          </a:prstGeom>
          <a:noFill/>
        </p:spPr>
        <p:txBody>
          <a:bodyPr wrap="square" rtlCol="0">
            <a:spAutoFit/>
          </a:bodyPr>
          <a:lstStyle/>
          <a:p>
            <a:pPr marL="0" indent="0">
              <a:buNone/>
            </a:pPr>
            <a:r>
              <a:rPr lang="en-US" sz="1400" dirty="0">
                <a:solidFill>
                  <a:schemeClr val="tx1"/>
                </a:solidFill>
                <a:latin typeface="Arial" panose="020B0604020202020204" pitchFamily="34" charset="0"/>
                <a:cs typeface="Arial" panose="020B0604020202020204" pitchFamily="34" charset="0"/>
              </a:rPr>
              <a:t>A Student’s t-test compares the means of two groups or of one group to determine if they are significantly different. </a:t>
            </a:r>
            <a:r>
              <a:rPr lang="en-US" b="0" i="0" u="none" strike="noStrike" dirty="0">
                <a:solidFill>
                  <a:srgbClr val="000000"/>
                </a:solidFill>
                <a:effectLst/>
                <a:latin typeface="Arial" panose="020B0604020202020204" pitchFamily="34" charset="0"/>
                <a:cs typeface="Arial" panose="020B0604020202020204" pitchFamily="34" charset="0"/>
              </a:rPr>
              <a:t>Certain assumptions must be met to use a t-test (normality, independent observations, similar variances, and random sampling). </a:t>
            </a:r>
            <a:endParaRPr lang="en-US" sz="1400" dirty="0">
              <a:solidFill>
                <a:schemeClr val="tx1"/>
              </a:solidFill>
              <a:latin typeface="Arial" panose="020B0604020202020204" pitchFamily="34" charset="0"/>
              <a:cs typeface="Arial" panose="020B0604020202020204" pitchFamily="34" charset="0"/>
            </a:endParaRPr>
          </a:p>
          <a:p>
            <a:endParaRPr lang="en-US" dirty="0"/>
          </a:p>
        </p:txBody>
      </p:sp>
    </p:spTree>
    <p:extLst>
      <p:ext uri="{BB962C8B-B14F-4D97-AF65-F5344CB8AC3E}">
        <p14:creationId xmlns:p14="http://schemas.microsoft.com/office/powerpoint/2010/main" val="41941908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7B753-64C5-900C-DB7B-1344AAE43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4B33A-430E-45FB-D970-CFB8F7AFD45E}"/>
              </a:ext>
            </a:extLst>
          </p:cNvPr>
          <p:cNvSpPr>
            <a:spLocks noGrp="1"/>
          </p:cNvSpPr>
          <p:nvPr>
            <p:ph type="title"/>
          </p:nvPr>
        </p:nvSpPr>
        <p:spPr>
          <a:xfrm>
            <a:off x="311700" y="175062"/>
            <a:ext cx="7795980" cy="572700"/>
          </a:xfrm>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Student’s t-test</a:t>
            </a:r>
            <a:br>
              <a:rPr lang="en-US" dirty="0">
                <a:solidFill>
                  <a:schemeClr val="accent1"/>
                </a:solidFill>
                <a:latin typeface="Arial" panose="020B0604020202020204" pitchFamily="34" charset="0"/>
                <a:cs typeface="Arial" panose="020B0604020202020204" pitchFamily="34" charset="0"/>
              </a:rPr>
            </a:br>
            <a:endParaRPr lang="en-US" dirty="0">
              <a:solidFill>
                <a:schemeClr val="accent1"/>
              </a:solidFill>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653612F2-1D84-DE65-926F-796C4BE52EF6}"/>
              </a:ext>
            </a:extLst>
          </p:cNvPr>
          <p:cNvSpPr>
            <a:spLocks noGrp="1"/>
          </p:cNvSpPr>
          <p:nvPr>
            <p:ph idx="1"/>
          </p:nvPr>
        </p:nvSpPr>
        <p:spPr>
          <a:xfrm>
            <a:off x="311700" y="1438825"/>
            <a:ext cx="8520600" cy="3416400"/>
          </a:xfrm>
        </p:spPr>
        <p:txBody>
          <a:bodyPr/>
          <a:lstStyle/>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Example: Paired t-test</a:t>
            </a:r>
          </a:p>
          <a:p>
            <a:pPr marL="114300" indent="0" algn="l">
              <a:buNone/>
            </a:pPr>
            <a:endParaRPr lang="en-US" sz="1400" i="0" u="none" strike="noStrike" dirty="0">
              <a:solidFill>
                <a:srgbClr val="000000"/>
              </a:solidFill>
              <a:effectLst/>
              <a:latin typeface="Arial" panose="020B0604020202020204" pitchFamily="34" charset="0"/>
              <a:cs typeface="Arial" panose="020B0604020202020204" pitchFamily="34" charset="0"/>
            </a:endParaRP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A researcher wants to know if a walking program reduces resting heart rate (RHR). </a:t>
            </a:r>
            <a:r>
              <a:rPr lang="en-US" sz="1400" dirty="0">
                <a:solidFill>
                  <a:srgbClr val="000000"/>
                </a:solidFill>
                <a:latin typeface="Arial" panose="020B0604020202020204" pitchFamily="34" charset="0"/>
                <a:cs typeface="Arial" panose="020B0604020202020204" pitchFamily="34" charset="0"/>
              </a:rPr>
              <a:t>50</a:t>
            </a:r>
            <a:r>
              <a:rPr lang="en-US" sz="1400" i="0" u="none" strike="noStrike" dirty="0">
                <a:solidFill>
                  <a:srgbClr val="000000"/>
                </a:solidFill>
                <a:effectLst/>
                <a:latin typeface="Arial" panose="020B0604020202020204" pitchFamily="34" charset="0"/>
                <a:cs typeface="Arial" panose="020B0604020202020204" pitchFamily="34" charset="0"/>
              </a:rPr>
              <a:t> adults are measured before and after the program.</a:t>
            </a:r>
          </a:p>
          <a:p>
            <a:pPr lvl="1">
              <a:spcBef>
                <a:spcPts val="0"/>
              </a:spcBef>
            </a:pPr>
            <a:r>
              <a:rPr lang="en-US" i="0" u="none" strike="noStrike" dirty="0">
                <a:solidFill>
                  <a:srgbClr val="000000"/>
                </a:solidFill>
                <a:effectLst/>
                <a:latin typeface="Arial" panose="020B0604020202020204" pitchFamily="34" charset="0"/>
                <a:cs typeface="Arial" panose="020B0604020202020204" pitchFamily="34" charset="0"/>
              </a:rPr>
              <a:t>Before: mean RHR = 78 bpm</a:t>
            </a:r>
          </a:p>
          <a:p>
            <a:pPr lvl="1">
              <a:spcBef>
                <a:spcPts val="0"/>
              </a:spcBef>
            </a:pPr>
            <a:r>
              <a:rPr lang="en-US" i="0" u="none" strike="noStrike" dirty="0">
                <a:solidFill>
                  <a:srgbClr val="000000"/>
                </a:solidFill>
                <a:effectLst/>
                <a:latin typeface="Arial" panose="020B0604020202020204" pitchFamily="34" charset="0"/>
                <a:cs typeface="Arial" panose="020B0604020202020204" pitchFamily="34" charset="0"/>
              </a:rPr>
              <a:t>After: mean RHR = 72 bpm</a:t>
            </a:r>
          </a:p>
          <a:p>
            <a:pPr lvl="1">
              <a:spcBef>
                <a:spcPts val="0"/>
              </a:spcBef>
            </a:pPr>
            <a:r>
              <a:rPr lang="en-US" i="0" u="none" strike="noStrike" dirty="0">
                <a:solidFill>
                  <a:srgbClr val="000000"/>
                </a:solidFill>
                <a:effectLst/>
                <a:latin typeface="Arial" panose="020B0604020202020204" pitchFamily="34" charset="0"/>
                <a:cs typeface="Arial" panose="020B0604020202020204" pitchFamily="34" charset="0"/>
              </a:rPr>
              <a:t>Standard deviation of differences = 4 bpm</a:t>
            </a: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A paired t-test is conducted:</a:t>
            </a:r>
          </a:p>
          <a:p>
            <a:pPr lvl="1">
              <a:spcBef>
                <a:spcPts val="0"/>
              </a:spcBef>
            </a:pPr>
            <a:r>
              <a:rPr lang="en-US" i="0" u="none" strike="noStrike" dirty="0">
                <a:solidFill>
                  <a:srgbClr val="000000"/>
                </a:solidFill>
                <a:effectLst/>
                <a:latin typeface="Arial" panose="020B0604020202020204" pitchFamily="34" charset="0"/>
                <a:cs typeface="Arial" panose="020B0604020202020204" pitchFamily="34" charset="0"/>
              </a:rPr>
              <a:t>t = 7.07: The difference between the before and after RHR is large relative to the variability in the data.</a:t>
            </a:r>
          </a:p>
          <a:p>
            <a:pPr lvl="1">
              <a:spcBef>
                <a:spcPts val="0"/>
              </a:spcBef>
            </a:pPr>
            <a:r>
              <a:rPr lang="en-US" i="0" u="none" strike="noStrike" dirty="0">
                <a:solidFill>
                  <a:srgbClr val="000000"/>
                </a:solidFill>
                <a:effectLst/>
                <a:latin typeface="Arial" panose="020B0604020202020204" pitchFamily="34" charset="0"/>
                <a:cs typeface="Arial" panose="020B0604020202020204" pitchFamily="34" charset="0"/>
              </a:rPr>
              <a:t>df = 49: Degrees of freedom (50 participants – 1). </a:t>
            </a:r>
          </a:p>
          <a:p>
            <a:pPr lvl="1">
              <a:spcBef>
                <a:spcPts val="0"/>
              </a:spcBef>
            </a:pPr>
            <a:r>
              <a:rPr lang="en-US" i="0" u="none" strike="noStrike" dirty="0">
                <a:solidFill>
                  <a:srgbClr val="000000"/>
                </a:solidFill>
                <a:effectLst/>
                <a:latin typeface="Arial" panose="020B0604020202020204" pitchFamily="34" charset="0"/>
                <a:cs typeface="Arial" panose="020B0604020202020204" pitchFamily="34" charset="0"/>
              </a:rPr>
              <a:t>p &lt; 0.001: There is less than a 0.1% chance that the result is due to random variation. </a:t>
            </a:r>
          </a:p>
          <a:p>
            <a:pPr algn="l">
              <a:buFont typeface="Arial" panose="020B0604020202020204" pitchFamily="34" charset="0"/>
              <a:buChar char="•"/>
            </a:pPr>
            <a:endParaRPr lang="en-US" sz="1400" dirty="0">
              <a:solidFill>
                <a:srgbClr val="000000"/>
              </a:solidFill>
              <a:latin typeface="Arial" panose="020B0604020202020204" pitchFamily="34" charset="0"/>
              <a:cs typeface="Arial" panose="020B0604020202020204" pitchFamily="34" charset="0"/>
            </a:endParaRP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Since p &lt; 0.05, the difference is statistically significant. Therefore, the walking program significantly reduced RHR. </a:t>
            </a:r>
          </a:p>
          <a:p>
            <a:pPr marL="114300" indent="0">
              <a:buNone/>
            </a:pPr>
            <a:endParaRPr lang="en-US" dirty="0"/>
          </a:p>
        </p:txBody>
      </p:sp>
    </p:spTree>
    <p:extLst>
      <p:ext uri="{BB962C8B-B14F-4D97-AF65-F5344CB8AC3E}">
        <p14:creationId xmlns:p14="http://schemas.microsoft.com/office/powerpoint/2010/main" val="808980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54D43-EF7F-39E1-12C1-9E4194464D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6CD82B-F014-823F-9419-91CD70B3B916}"/>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ANOVA</a:t>
            </a:r>
          </a:p>
        </p:txBody>
      </p:sp>
      <p:sp>
        <p:nvSpPr>
          <p:cNvPr id="3" name="Content Placeholder 2">
            <a:extLst>
              <a:ext uri="{FF2B5EF4-FFF2-40B4-BE49-F238E27FC236}">
                <a16:creationId xmlns:a16="http://schemas.microsoft.com/office/drawing/2014/main" id="{D8416B9B-A126-1D98-A658-8348915783F1}"/>
              </a:ext>
            </a:extLst>
          </p:cNvPr>
          <p:cNvSpPr>
            <a:spLocks noGrp="1"/>
          </p:cNvSpPr>
          <p:nvPr>
            <p:ph idx="1"/>
          </p:nvPr>
        </p:nvSpPr>
        <p:spPr/>
        <p:txBody>
          <a:bodyPr>
            <a:normAutofit/>
          </a:bodyPr>
          <a:lstStyle/>
          <a:p>
            <a:pPr marL="0" indent="0">
              <a:buNone/>
            </a:pPr>
            <a:r>
              <a:rPr lang="en-US" dirty="0">
                <a:solidFill>
                  <a:schemeClr val="tx1"/>
                </a:solidFill>
                <a:latin typeface="Arial" panose="020B0604020202020204" pitchFamily="34" charset="0"/>
                <a:cs typeface="Arial" panose="020B0604020202020204" pitchFamily="34" charset="0"/>
              </a:rPr>
              <a:t>Analysis of Variance (ANOVA) evaluates the means of more than two groups to see if the mean across the groups is statistically significant</a:t>
            </a:r>
          </a:p>
          <a:p>
            <a:pPr>
              <a:lnSpc>
                <a:spcPct val="150000"/>
              </a:lnSpc>
            </a:pPr>
            <a:r>
              <a:rPr lang="en-US" dirty="0">
                <a:solidFill>
                  <a:schemeClr val="tx1"/>
                </a:solidFill>
                <a:latin typeface="Arial" panose="020B0604020202020204" pitchFamily="34" charset="0"/>
                <a:cs typeface="Arial" panose="020B0604020202020204" pitchFamily="34" charset="0"/>
              </a:rPr>
              <a:t>There are three primary types of ANOVA</a:t>
            </a:r>
          </a:p>
          <a:p>
            <a:pPr marL="0" indent="0">
              <a:lnSpc>
                <a:spcPct val="150000"/>
              </a:lnSpc>
              <a:buNone/>
            </a:pPr>
            <a:r>
              <a:rPr lang="en-US" dirty="0">
                <a:solidFill>
                  <a:schemeClr val="tx1"/>
                </a:solidFill>
                <a:latin typeface="Arial" panose="020B0604020202020204" pitchFamily="34" charset="0"/>
                <a:cs typeface="Arial" panose="020B0604020202020204" pitchFamily="34" charset="0"/>
              </a:rPr>
              <a:t>1) One-way ANOVA: One independent variable being assessed</a:t>
            </a:r>
          </a:p>
          <a:p>
            <a:pPr marL="0" indent="0">
              <a:lnSpc>
                <a:spcPct val="150000"/>
              </a:lnSpc>
              <a:buNone/>
            </a:pPr>
            <a:r>
              <a:rPr lang="en-US" dirty="0">
                <a:solidFill>
                  <a:schemeClr val="tx1"/>
                </a:solidFill>
                <a:latin typeface="Arial" panose="020B0604020202020204" pitchFamily="34" charset="0"/>
                <a:cs typeface="Arial" panose="020B0604020202020204" pitchFamily="34" charset="0"/>
              </a:rPr>
              <a:t>2) Two-way ANOVA: Two independent variables being assessed </a:t>
            </a:r>
          </a:p>
          <a:p>
            <a:pPr marL="0" indent="0">
              <a:lnSpc>
                <a:spcPct val="150000"/>
              </a:lnSpc>
              <a:buNone/>
            </a:pPr>
            <a:r>
              <a:rPr lang="en-US" dirty="0">
                <a:solidFill>
                  <a:schemeClr val="tx1"/>
                </a:solidFill>
                <a:latin typeface="Arial" panose="020B0604020202020204" pitchFamily="34" charset="0"/>
                <a:cs typeface="Arial" panose="020B0604020202020204" pitchFamily="34" charset="0"/>
              </a:rPr>
              <a:t>3) Repeated Measures ANOVA: Same group measured multiple times</a:t>
            </a:r>
          </a:p>
          <a:p>
            <a:pPr marL="114300" indent="0" algn="l">
              <a:buNone/>
            </a:pPr>
            <a:endParaRPr lang="en-US" b="0" i="0" u="none" strike="noStrike" dirty="0">
              <a:solidFill>
                <a:srgbClr val="000000"/>
              </a:solidFill>
              <a:effectLst/>
            </a:endParaRPr>
          </a:p>
          <a:p>
            <a:pPr marL="114300" indent="0" algn="l">
              <a:buNone/>
            </a:pPr>
            <a:r>
              <a:rPr lang="en-US" i="0" u="none" strike="noStrike" dirty="0">
                <a:solidFill>
                  <a:srgbClr val="000000"/>
                </a:solidFill>
                <a:effectLst/>
                <a:latin typeface="Arial" panose="020B0604020202020204" pitchFamily="34" charset="0"/>
                <a:cs typeface="Arial" panose="020B0604020202020204" pitchFamily="34" charset="0"/>
              </a:rPr>
              <a:t>In ANOVA, independent variables are compared based on their effect on a dependent variable, which must be quantitative (numerical).</a:t>
            </a:r>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85069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01DE8-6031-585F-E6C2-173199C7A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B50D7-E037-090D-3F13-58DC1312A63B}"/>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ANOVA</a:t>
            </a:r>
          </a:p>
        </p:txBody>
      </p:sp>
      <p:sp>
        <p:nvSpPr>
          <p:cNvPr id="3" name="Content Placeholder 2">
            <a:extLst>
              <a:ext uri="{FF2B5EF4-FFF2-40B4-BE49-F238E27FC236}">
                <a16:creationId xmlns:a16="http://schemas.microsoft.com/office/drawing/2014/main" id="{A7AA2F79-BC4D-74D4-6E86-D664B5896E97}"/>
              </a:ext>
            </a:extLst>
          </p:cNvPr>
          <p:cNvSpPr>
            <a:spLocks noGrp="1"/>
          </p:cNvSpPr>
          <p:nvPr>
            <p:ph idx="1"/>
          </p:nvPr>
        </p:nvSpPr>
        <p:spPr/>
        <p:txBody>
          <a:bodyPr>
            <a:normAutofit fontScale="25000" lnSpcReduction="20000"/>
          </a:bodyPr>
          <a:lstStyle/>
          <a:p>
            <a:pPr marL="0" indent="0">
              <a:lnSpc>
                <a:spcPct val="170000"/>
              </a:lnSpc>
              <a:buNone/>
            </a:pPr>
            <a:r>
              <a:rPr lang="en-US" sz="6400" dirty="0">
                <a:solidFill>
                  <a:schemeClr val="tx1"/>
                </a:solidFill>
                <a:latin typeface="Arial" panose="020B0604020202020204" pitchFamily="34" charset="0"/>
                <a:cs typeface="Arial" panose="020B0604020202020204" pitchFamily="34" charset="0"/>
              </a:rPr>
              <a:t>ANOVA outputs: </a:t>
            </a:r>
          </a:p>
          <a:p>
            <a:pPr marL="285750" indent="-285750">
              <a:lnSpc>
                <a:spcPct val="120000"/>
              </a:lnSpc>
            </a:pPr>
            <a:r>
              <a:rPr lang="en-US" sz="6400" dirty="0">
                <a:solidFill>
                  <a:schemeClr val="tx1"/>
                </a:solidFill>
                <a:latin typeface="Arial" panose="020B0604020202020204" pitchFamily="34" charset="0"/>
                <a:cs typeface="Arial" panose="020B0604020202020204" pitchFamily="34" charset="0"/>
              </a:rPr>
              <a:t>degrees of freedom (df): Number of independent values in data that vary (see previous slides)</a:t>
            </a:r>
          </a:p>
          <a:p>
            <a:pPr marL="285750" indent="-285750">
              <a:lnSpc>
                <a:spcPct val="120000"/>
              </a:lnSpc>
            </a:pPr>
            <a:r>
              <a:rPr lang="en-US" sz="6400" dirty="0">
                <a:solidFill>
                  <a:schemeClr val="tx1"/>
                </a:solidFill>
                <a:latin typeface="Arial" panose="020B0604020202020204" pitchFamily="34" charset="0"/>
                <a:cs typeface="Arial" panose="020B0604020202020204" pitchFamily="34" charset="0"/>
              </a:rPr>
              <a:t>sum of squares (SS):  Measures total variation in the data, showing how much variation exists between groups and within groups.</a:t>
            </a:r>
          </a:p>
          <a:p>
            <a:pPr marL="285750" indent="-285750">
              <a:lnSpc>
                <a:spcPct val="120000"/>
              </a:lnSpc>
            </a:pPr>
            <a:r>
              <a:rPr lang="en-US" sz="6400" dirty="0">
                <a:solidFill>
                  <a:schemeClr val="tx1"/>
                </a:solidFill>
                <a:latin typeface="Arial" panose="020B0604020202020204" pitchFamily="34" charset="0"/>
                <a:cs typeface="Arial" panose="020B0604020202020204" pitchFamily="34" charset="0"/>
              </a:rPr>
              <a:t>mean square (MS): </a:t>
            </a:r>
            <a:r>
              <a:rPr lang="en-US" sz="6400" b="0" i="0" u="none" strike="noStrike" dirty="0">
                <a:solidFill>
                  <a:schemeClr val="tx1"/>
                </a:solidFill>
                <a:effectLst/>
                <a:latin typeface="Arial" panose="020B0604020202020204" pitchFamily="34" charset="0"/>
                <a:cs typeface="Arial" panose="020B0604020202020204" pitchFamily="34" charset="0"/>
              </a:rPr>
              <a:t>The average variation, calculated by dividing SS by its respective df. There are two types of mean square (between groups and within groups)</a:t>
            </a:r>
          </a:p>
          <a:p>
            <a:pPr marL="285750" indent="-285750">
              <a:lnSpc>
                <a:spcPct val="120000"/>
              </a:lnSpc>
            </a:pPr>
            <a:r>
              <a:rPr lang="en-US" sz="6400" dirty="0">
                <a:solidFill>
                  <a:schemeClr val="tx1"/>
                </a:solidFill>
                <a:latin typeface="Arial" panose="020B0604020202020204" pitchFamily="34" charset="0"/>
                <a:cs typeface="Arial" panose="020B0604020202020204" pitchFamily="34" charset="0"/>
              </a:rPr>
              <a:t>F-statistic: Ratio of mean square between and mean square within. A large value indicates greater </a:t>
            </a:r>
            <a:r>
              <a:rPr lang="en-US" sz="6400" b="0" i="0" u="none" strike="noStrike" dirty="0">
                <a:solidFill>
                  <a:schemeClr val="tx1"/>
                </a:solidFill>
                <a:effectLst/>
                <a:latin typeface="Arial" panose="020B0604020202020204" pitchFamily="34" charset="0"/>
                <a:cs typeface="Arial" panose="020B0604020202020204" pitchFamily="34" charset="0"/>
              </a:rPr>
              <a:t>differences between group means compared to within-group variation.</a:t>
            </a:r>
            <a:endParaRPr lang="en-US" sz="6400" dirty="0">
              <a:solidFill>
                <a:schemeClr val="tx1"/>
              </a:solidFill>
              <a:latin typeface="Arial" panose="020B0604020202020204" pitchFamily="34" charset="0"/>
              <a:cs typeface="Arial" panose="020B0604020202020204" pitchFamily="34" charset="0"/>
            </a:endParaRPr>
          </a:p>
          <a:p>
            <a:pPr marL="285750" indent="-285750">
              <a:lnSpc>
                <a:spcPct val="120000"/>
              </a:lnSpc>
            </a:pPr>
            <a:r>
              <a:rPr lang="en-US" sz="6400" dirty="0">
                <a:solidFill>
                  <a:schemeClr val="tx1"/>
                </a:solidFill>
                <a:latin typeface="Arial" panose="020B0604020202020204" pitchFamily="34" charset="0"/>
                <a:cs typeface="Arial" panose="020B0604020202020204" pitchFamily="34" charset="0"/>
              </a:rPr>
              <a:t>p-value: see previous explanation: </a:t>
            </a:r>
            <a:r>
              <a:rPr lang="en-US" sz="6400" b="0" i="0" u="none" strike="noStrike" dirty="0">
                <a:solidFill>
                  <a:schemeClr val="tx1"/>
                </a:solidFill>
                <a:effectLst/>
                <a:latin typeface="Arial" panose="020B0604020202020204" pitchFamily="34" charset="0"/>
                <a:cs typeface="Arial" panose="020B0604020202020204" pitchFamily="34" charset="0"/>
              </a:rPr>
              <a:t>Indicates the probability that observed differences are due to chance (see previous slides).</a:t>
            </a:r>
            <a:endParaRPr lang="en-US" sz="3500" dirty="0">
              <a:solidFill>
                <a:schemeClr val="tx1"/>
              </a:solidFill>
              <a:latin typeface="Arial" panose="020B0604020202020204" pitchFamily="34" charset="0"/>
              <a:cs typeface="Arial" panose="020B0604020202020204" pitchFamily="34" charset="0"/>
            </a:endParaRP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0" indent="0" algn="ctr">
              <a:buNone/>
            </a:pPr>
            <a:endParaRPr lang="en-US" dirty="0"/>
          </a:p>
        </p:txBody>
      </p:sp>
    </p:spTree>
    <p:extLst>
      <p:ext uri="{BB962C8B-B14F-4D97-AF65-F5344CB8AC3E}">
        <p14:creationId xmlns:p14="http://schemas.microsoft.com/office/powerpoint/2010/main" val="3626927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8C154-9C2C-F6A6-8E24-A16211190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B4833-C069-8DC9-34C8-498DBB1D1EBC}"/>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ANOVA</a:t>
            </a:r>
          </a:p>
        </p:txBody>
      </p:sp>
      <p:sp>
        <p:nvSpPr>
          <p:cNvPr id="3" name="Content Placeholder 2">
            <a:extLst>
              <a:ext uri="{FF2B5EF4-FFF2-40B4-BE49-F238E27FC236}">
                <a16:creationId xmlns:a16="http://schemas.microsoft.com/office/drawing/2014/main" id="{CAB25391-8EC5-FDBF-9B71-96D2B2E96E01}"/>
              </a:ext>
            </a:extLst>
          </p:cNvPr>
          <p:cNvSpPr>
            <a:spLocks noGrp="1"/>
          </p:cNvSpPr>
          <p:nvPr>
            <p:ph idx="1"/>
          </p:nvPr>
        </p:nvSpPr>
        <p:spPr/>
        <p:txBody>
          <a:bodyPr>
            <a:normAutofit/>
          </a:bodyPr>
          <a:lstStyle/>
          <a:p>
            <a:pPr marL="114300" indent="0">
              <a:buNone/>
            </a:pPr>
            <a:r>
              <a:rPr lang="en-US" sz="1600" b="0" i="0" u="none" strike="noStrike" dirty="0">
                <a:solidFill>
                  <a:srgbClr val="000000"/>
                </a:solidFill>
                <a:effectLst/>
                <a:latin typeface="Arial" panose="020B0604020202020204" pitchFamily="34" charset="0"/>
                <a:cs typeface="Arial" panose="020B0604020202020204" pitchFamily="34" charset="0"/>
              </a:rPr>
              <a:t>If ANOVA is significant (</a:t>
            </a:r>
            <a:r>
              <a:rPr lang="en-US" sz="1600" i="0" u="none" strike="noStrike" dirty="0">
                <a:solidFill>
                  <a:schemeClr val="tx1"/>
                </a:solidFill>
                <a:effectLst/>
                <a:latin typeface="Arial" panose="020B0604020202020204" pitchFamily="34" charset="0"/>
                <a:cs typeface="Arial" panose="020B0604020202020204" pitchFamily="34" charset="0"/>
              </a:rPr>
              <a:t>p-value &lt; 0.05) </a:t>
            </a:r>
            <a:r>
              <a:rPr lang="en-US" sz="1600" dirty="0">
                <a:solidFill>
                  <a:schemeClr val="tx1"/>
                </a:solidFill>
                <a:latin typeface="Arial" panose="020B0604020202020204" pitchFamily="34" charset="0"/>
                <a:cs typeface="Arial" panose="020B0604020202020204" pitchFamily="34" charset="0"/>
              </a:rPr>
              <a:t>it suggests that at least one group mean differs significantly from others. ANOVA does not show which groups differ thus a post-hoc test must be conducted.</a:t>
            </a:r>
          </a:p>
          <a:p>
            <a:r>
              <a:rPr lang="en-US" sz="1600" dirty="0">
                <a:solidFill>
                  <a:schemeClr val="tx1"/>
                </a:solidFill>
                <a:latin typeface="Arial" panose="020B0604020202020204" pitchFamily="34" charset="0"/>
                <a:cs typeface="Arial" panose="020B0604020202020204" pitchFamily="34" charset="0"/>
              </a:rPr>
              <a:t>Help identify which specific groups differ from each other </a:t>
            </a:r>
          </a:p>
          <a:p>
            <a:r>
              <a:rPr lang="en-US" sz="1600" dirty="0">
                <a:solidFill>
                  <a:schemeClr val="tx1"/>
                </a:solidFill>
                <a:latin typeface="Arial" panose="020B0604020202020204" pitchFamily="34" charset="0"/>
                <a:cs typeface="Arial" panose="020B0604020202020204" pitchFamily="34" charset="0"/>
              </a:rPr>
              <a:t>Controls for the risk of false positives that arise when making multiple comparisons.</a:t>
            </a:r>
            <a:endParaRPr lang="en-US" sz="1600" i="0" u="none" strike="noStrike" dirty="0">
              <a:solidFill>
                <a:schemeClr val="tx1"/>
              </a:solidFill>
              <a:effectLst/>
              <a:latin typeface="Arial" panose="020B0604020202020204" pitchFamily="34" charset="0"/>
              <a:cs typeface="Arial" panose="020B0604020202020204" pitchFamily="34" charset="0"/>
            </a:endParaRPr>
          </a:p>
          <a:p>
            <a:pPr marL="114300" indent="0" algn="l" rtl="0" fontAlgn="base">
              <a:buNone/>
            </a:pPr>
            <a:endParaRPr lang="en-US" sz="1600" dirty="0">
              <a:solidFill>
                <a:srgbClr val="000000"/>
              </a:solidFill>
              <a:latin typeface="Arial" panose="020B0604020202020204" pitchFamily="34" charset="0"/>
              <a:cs typeface="Arial" panose="020B0604020202020204" pitchFamily="34" charset="0"/>
            </a:endParaRPr>
          </a:p>
          <a:p>
            <a:pPr marL="114300" indent="0" algn="l" rtl="0" fontAlgn="base">
              <a:buNone/>
            </a:pPr>
            <a:r>
              <a:rPr lang="en-US" sz="1600" b="1" i="0" u="none" strike="noStrike" dirty="0">
                <a:solidFill>
                  <a:srgbClr val="000000"/>
                </a:solidFill>
                <a:effectLst/>
                <a:latin typeface="Arial" panose="020B0604020202020204" pitchFamily="34" charset="0"/>
                <a:cs typeface="Arial" panose="020B0604020202020204" pitchFamily="34" charset="0"/>
              </a:rPr>
              <a:t>Assumptions of ANOVA​</a:t>
            </a:r>
          </a:p>
          <a:p>
            <a:pPr algn="l" rtl="0" fontAlgn="base">
              <a:buFont typeface="Arial" panose="020B0604020202020204" pitchFamily="34" charset="0"/>
              <a:buChar char="•"/>
            </a:pPr>
            <a:r>
              <a:rPr lang="en-US" sz="1600" b="0" i="0" u="none" strike="noStrike" dirty="0">
                <a:solidFill>
                  <a:srgbClr val="000000"/>
                </a:solidFill>
                <a:effectLst/>
                <a:latin typeface="Arial" panose="020B0604020202020204" pitchFamily="34" charset="0"/>
                <a:cs typeface="Arial" panose="020B0604020202020204" pitchFamily="34" charset="0"/>
              </a:rPr>
              <a:t>Observations are independent​ of each other</a:t>
            </a:r>
          </a:p>
          <a:p>
            <a:pPr algn="l" rtl="0" fontAlgn="base">
              <a:buFont typeface="Arial" panose="020B0604020202020204" pitchFamily="34" charset="0"/>
              <a:buChar char="•"/>
            </a:pPr>
            <a:r>
              <a:rPr lang="en-US" sz="1600" b="0" i="0" u="none" strike="noStrike" dirty="0">
                <a:solidFill>
                  <a:srgbClr val="000000"/>
                </a:solidFill>
                <a:effectLst/>
                <a:latin typeface="Arial" panose="020B0604020202020204" pitchFamily="34" charset="0"/>
                <a:cs typeface="Arial" panose="020B0604020202020204" pitchFamily="34" charset="0"/>
              </a:rPr>
              <a:t>Normality</a:t>
            </a:r>
          </a:p>
          <a:p>
            <a:pPr lvl="1" fontAlgn="base">
              <a:spcBef>
                <a:spcPts val="0"/>
              </a:spcBef>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D</a:t>
            </a:r>
            <a:r>
              <a:rPr lang="en-US" sz="1600" b="0" i="0" u="none" strike="noStrike" dirty="0">
                <a:solidFill>
                  <a:srgbClr val="000000"/>
                </a:solidFill>
                <a:effectLst/>
                <a:latin typeface="Arial" panose="020B0604020202020204" pitchFamily="34" charset="0"/>
                <a:cs typeface="Arial" panose="020B0604020202020204" pitchFamily="34" charset="0"/>
              </a:rPr>
              <a:t>ependent variable should be approximately normally distributed within each group</a:t>
            </a:r>
          </a:p>
          <a:p>
            <a:pPr algn="l" rtl="0" fontAlgn="base">
              <a:buFont typeface="Arial" panose="020B0604020202020204" pitchFamily="34" charset="0"/>
              <a:buChar char="•"/>
            </a:pPr>
            <a:r>
              <a:rPr lang="en-US" sz="1600" b="0" i="0" u="none" strike="noStrike" dirty="0">
                <a:solidFill>
                  <a:srgbClr val="000000"/>
                </a:solidFill>
                <a:effectLst/>
                <a:latin typeface="Arial" panose="020B0604020202020204" pitchFamily="34" charset="0"/>
                <a:cs typeface="Arial" panose="020B0604020202020204" pitchFamily="34" charset="0"/>
              </a:rPr>
              <a:t>Homogeneity of variances</a:t>
            </a:r>
          </a:p>
          <a:p>
            <a:pPr lvl="1" fontAlgn="base">
              <a:spcBef>
                <a:spcPts val="0"/>
              </a:spcBef>
              <a:buFont typeface="Arial" panose="020B0604020202020204" pitchFamily="34" charset="0"/>
              <a:buChar char="•"/>
            </a:pPr>
            <a:r>
              <a:rPr lang="en-US" sz="1600" dirty="0">
                <a:solidFill>
                  <a:srgbClr val="000000"/>
                </a:solidFill>
                <a:latin typeface="Arial" panose="020B0604020202020204" pitchFamily="34" charset="0"/>
                <a:cs typeface="Arial" panose="020B0604020202020204" pitchFamily="34" charset="0"/>
              </a:rPr>
              <a:t>V</a:t>
            </a:r>
            <a:r>
              <a:rPr lang="en-US" sz="1600" b="0" i="0" u="none" strike="noStrike" dirty="0">
                <a:solidFill>
                  <a:srgbClr val="000000"/>
                </a:solidFill>
                <a:effectLst/>
                <a:latin typeface="Arial" panose="020B0604020202020204" pitchFamily="34" charset="0"/>
                <a:cs typeface="Arial" panose="020B0604020202020204" pitchFamily="34" charset="0"/>
              </a:rPr>
              <a:t>ariance across groups should be roughly equal </a:t>
            </a: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285750" indent="-285750">
              <a:lnSpc>
                <a:spcPct val="120000"/>
              </a:lnSpc>
            </a:pPr>
            <a:endParaRPr lang="en-US" sz="3500" dirty="0">
              <a:solidFill>
                <a:schemeClr val="tx1"/>
              </a:solidFill>
              <a:latin typeface="Arial" panose="020B0604020202020204" pitchFamily="34" charset="0"/>
              <a:cs typeface="Arial" panose="020B0604020202020204" pitchFamily="34" charset="0"/>
            </a:endParaRPr>
          </a:p>
          <a:p>
            <a:pPr marL="0" indent="0" algn="ctr">
              <a:buNone/>
            </a:pPr>
            <a:endParaRPr lang="en-US" dirty="0"/>
          </a:p>
        </p:txBody>
      </p:sp>
    </p:spTree>
    <p:extLst>
      <p:ext uri="{BB962C8B-B14F-4D97-AF65-F5344CB8AC3E}">
        <p14:creationId xmlns:p14="http://schemas.microsoft.com/office/powerpoint/2010/main" val="27847609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C1D95-B851-33D0-2540-05C4D444F2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AAA4F7-3260-9C6C-96C1-DA6E0615330C}"/>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ANOVA</a:t>
            </a:r>
          </a:p>
        </p:txBody>
      </p:sp>
      <p:sp>
        <p:nvSpPr>
          <p:cNvPr id="3" name="Content Placeholder 2">
            <a:extLst>
              <a:ext uri="{FF2B5EF4-FFF2-40B4-BE49-F238E27FC236}">
                <a16:creationId xmlns:a16="http://schemas.microsoft.com/office/drawing/2014/main" id="{6582E0E0-0323-7B7B-B34F-8F36160E602A}"/>
              </a:ext>
            </a:extLst>
          </p:cNvPr>
          <p:cNvSpPr>
            <a:spLocks noGrp="1"/>
          </p:cNvSpPr>
          <p:nvPr>
            <p:ph idx="1"/>
          </p:nvPr>
        </p:nvSpPr>
        <p:spPr/>
        <p:txBody>
          <a:bodyPr>
            <a:noAutofit/>
          </a:bodyPr>
          <a:lstStyle/>
          <a:p>
            <a:pPr marL="114300" indent="0" algn="l">
              <a:buNone/>
            </a:pPr>
            <a:r>
              <a:rPr lang="en-US" sz="1400" b="1" i="0" u="none" strike="noStrike" dirty="0">
                <a:solidFill>
                  <a:srgbClr val="000000"/>
                </a:solidFill>
                <a:effectLst/>
                <a:latin typeface="Arial" panose="020B0604020202020204" pitchFamily="34" charset="0"/>
                <a:cs typeface="Arial" panose="020B0604020202020204" pitchFamily="34" charset="0"/>
              </a:rPr>
              <a:t>Example: One-Way ANOVA</a:t>
            </a:r>
            <a:endParaRPr lang="en-US" sz="1400" b="0" i="0" u="none" strike="noStrike" dirty="0">
              <a:solidFill>
                <a:srgbClr val="000000"/>
              </a:solidFill>
              <a:effectLst/>
              <a:latin typeface="Arial" panose="020B0604020202020204" pitchFamily="34" charset="0"/>
              <a:cs typeface="Arial" panose="020B0604020202020204" pitchFamily="34" charset="0"/>
            </a:endParaRP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A researcher wants to know if different types of exercise affects resting heart rate (RHR).</a:t>
            </a:r>
            <a:br>
              <a:rPr lang="en-US" sz="1400" i="0" u="none" strike="noStrike" dirty="0">
                <a:solidFill>
                  <a:srgbClr val="000000"/>
                </a:solidFill>
                <a:effectLst/>
                <a:latin typeface="Arial" panose="020B0604020202020204" pitchFamily="34" charset="0"/>
                <a:cs typeface="Arial" panose="020B0604020202020204" pitchFamily="34" charset="0"/>
              </a:rPr>
            </a:br>
            <a:r>
              <a:rPr lang="en-US" sz="1400" i="0" u="none" strike="noStrike" dirty="0">
                <a:solidFill>
                  <a:srgbClr val="000000"/>
                </a:solidFill>
                <a:effectLst/>
                <a:latin typeface="Arial" panose="020B0604020202020204" pitchFamily="34" charset="0"/>
                <a:cs typeface="Arial" panose="020B0604020202020204" pitchFamily="34" charset="0"/>
              </a:rPr>
              <a:t>They divide 60 adults into 3 groups (20 adults per group):</a:t>
            </a:r>
          </a:p>
          <a:p>
            <a:pPr algn="l">
              <a:buFont typeface="Arial" panose="020B0604020202020204" pitchFamily="34" charset="0"/>
              <a:buChar char="•"/>
            </a:pPr>
            <a:r>
              <a:rPr lang="en-US" sz="1400" i="0" u="none" strike="noStrike" dirty="0">
                <a:solidFill>
                  <a:srgbClr val="000000"/>
                </a:solidFill>
                <a:effectLst/>
                <a:latin typeface="Arial" panose="020B0604020202020204" pitchFamily="34" charset="0"/>
                <a:cs typeface="Arial" panose="020B0604020202020204" pitchFamily="34" charset="0"/>
              </a:rPr>
              <a:t>Group 1: No exercise</a:t>
            </a:r>
          </a:p>
          <a:p>
            <a:pPr algn="l">
              <a:buFont typeface="Arial" panose="020B0604020202020204" pitchFamily="34" charset="0"/>
              <a:buChar char="•"/>
            </a:pPr>
            <a:r>
              <a:rPr lang="en-US" sz="1400" i="0" u="none" strike="noStrike" dirty="0">
                <a:solidFill>
                  <a:srgbClr val="000000"/>
                </a:solidFill>
                <a:effectLst/>
                <a:latin typeface="Arial" panose="020B0604020202020204" pitchFamily="34" charset="0"/>
                <a:cs typeface="Arial" panose="020B0604020202020204" pitchFamily="34" charset="0"/>
              </a:rPr>
              <a:t>Group 2: Walking program</a:t>
            </a:r>
          </a:p>
          <a:p>
            <a:pPr algn="l">
              <a:buFont typeface="Arial" panose="020B0604020202020204" pitchFamily="34" charset="0"/>
              <a:buChar char="•"/>
            </a:pPr>
            <a:r>
              <a:rPr lang="en-US" sz="1400" i="0" u="none" strike="noStrike" dirty="0">
                <a:solidFill>
                  <a:srgbClr val="000000"/>
                </a:solidFill>
                <a:effectLst/>
                <a:latin typeface="Arial" panose="020B0604020202020204" pitchFamily="34" charset="0"/>
                <a:cs typeface="Arial" panose="020B0604020202020204" pitchFamily="34" charset="0"/>
              </a:rPr>
              <a:t>Group 3: Running program</a:t>
            </a: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After 4 weeks, mean RHRs are:</a:t>
            </a:r>
          </a:p>
          <a:p>
            <a:pPr algn="l">
              <a:buFont typeface="Arial" panose="020B0604020202020204" pitchFamily="34" charset="0"/>
              <a:buChar char="•"/>
            </a:pPr>
            <a:r>
              <a:rPr lang="en-US" sz="1400" dirty="0">
                <a:solidFill>
                  <a:srgbClr val="000000"/>
                </a:solidFill>
                <a:latin typeface="Arial" panose="020B0604020202020204" pitchFamily="34" charset="0"/>
                <a:cs typeface="Arial" panose="020B0604020202020204" pitchFamily="34" charset="0"/>
              </a:rPr>
              <a:t>Group 1: </a:t>
            </a:r>
            <a:r>
              <a:rPr lang="en-US" sz="1400" i="0" u="none" strike="noStrike" dirty="0">
                <a:solidFill>
                  <a:srgbClr val="000000"/>
                </a:solidFill>
                <a:effectLst/>
                <a:latin typeface="Arial" panose="020B0604020202020204" pitchFamily="34" charset="0"/>
                <a:cs typeface="Arial" panose="020B0604020202020204" pitchFamily="34" charset="0"/>
              </a:rPr>
              <a:t>78 bpm</a:t>
            </a:r>
          </a:p>
          <a:p>
            <a:pPr algn="l">
              <a:buFont typeface="Arial" panose="020B0604020202020204" pitchFamily="34" charset="0"/>
              <a:buChar char="•"/>
            </a:pPr>
            <a:r>
              <a:rPr lang="en-US" sz="1400" dirty="0">
                <a:solidFill>
                  <a:srgbClr val="000000"/>
                </a:solidFill>
                <a:latin typeface="Arial" panose="020B0604020202020204" pitchFamily="34" charset="0"/>
                <a:cs typeface="Arial" panose="020B0604020202020204" pitchFamily="34" charset="0"/>
              </a:rPr>
              <a:t>Group 2</a:t>
            </a:r>
            <a:r>
              <a:rPr lang="en-US" sz="1400" i="0" u="none" strike="noStrike" dirty="0">
                <a:solidFill>
                  <a:srgbClr val="000000"/>
                </a:solidFill>
                <a:effectLst/>
                <a:latin typeface="Arial" panose="020B0604020202020204" pitchFamily="34" charset="0"/>
                <a:cs typeface="Arial" panose="020B0604020202020204" pitchFamily="34" charset="0"/>
              </a:rPr>
              <a:t>: 72 bpm</a:t>
            </a:r>
          </a:p>
          <a:p>
            <a:pPr algn="l">
              <a:buFont typeface="Arial" panose="020B0604020202020204" pitchFamily="34" charset="0"/>
              <a:buChar char="•"/>
            </a:pPr>
            <a:r>
              <a:rPr lang="en-US" sz="1400" i="0" u="none" strike="noStrike" dirty="0">
                <a:solidFill>
                  <a:srgbClr val="000000"/>
                </a:solidFill>
                <a:effectLst/>
                <a:latin typeface="Arial" panose="020B0604020202020204" pitchFamily="34" charset="0"/>
                <a:cs typeface="Arial" panose="020B0604020202020204" pitchFamily="34" charset="0"/>
              </a:rPr>
              <a:t>Group 3: 68 bpm</a:t>
            </a:r>
          </a:p>
          <a:p>
            <a:pPr marL="114300" indent="0" algn="l">
              <a:buNone/>
            </a:pPr>
            <a:endParaRPr lang="en-US" sz="1400" i="0" u="none" strike="noStrike" dirty="0">
              <a:solidFill>
                <a:srgbClr val="000000"/>
              </a:solidFill>
              <a:effectLst/>
              <a:latin typeface="Arial" panose="020B0604020202020204" pitchFamily="34" charset="0"/>
              <a:cs typeface="Arial" panose="020B0604020202020204" pitchFamily="34" charset="0"/>
            </a:endParaRP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ANOVA test results:</a:t>
            </a: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F = 8.24, df = (2, 57), p &lt; 0.001</a:t>
            </a:r>
          </a:p>
          <a:p>
            <a:pPr marL="114300" indent="0" algn="l">
              <a:buNone/>
            </a:pPr>
            <a:endParaRPr lang="en-US" sz="1400" i="0" u="none" strike="noStrike" dirty="0">
              <a:solidFill>
                <a:srgbClr val="000000"/>
              </a:solidFill>
              <a:effectLst/>
              <a:latin typeface="Arial" panose="020B0604020202020204" pitchFamily="34" charset="0"/>
              <a:cs typeface="Arial" panose="020B0604020202020204" pitchFamily="34" charset="0"/>
            </a:endParaRPr>
          </a:p>
          <a:p>
            <a:pPr marL="114300" indent="0" algn="l">
              <a:buNone/>
            </a:pPr>
            <a:r>
              <a:rPr lang="en-US" sz="1400" i="0" u="none" strike="noStrike" dirty="0">
                <a:solidFill>
                  <a:srgbClr val="000000"/>
                </a:solidFill>
                <a:effectLst/>
                <a:latin typeface="Arial" panose="020B0604020202020204" pitchFamily="34" charset="0"/>
                <a:cs typeface="Arial" panose="020B0604020202020204" pitchFamily="34" charset="0"/>
              </a:rPr>
              <a:t>Interpretation:</a:t>
            </a:r>
            <a:br>
              <a:rPr lang="en-US" sz="1400" i="0" u="none" strike="noStrike" dirty="0">
                <a:solidFill>
                  <a:srgbClr val="000000"/>
                </a:solidFill>
                <a:effectLst/>
                <a:latin typeface="Arial" panose="020B0604020202020204" pitchFamily="34" charset="0"/>
                <a:cs typeface="Arial" panose="020B0604020202020204" pitchFamily="34" charset="0"/>
              </a:rPr>
            </a:br>
            <a:r>
              <a:rPr lang="en-US" sz="1400" i="0" u="none" strike="noStrike" dirty="0">
                <a:solidFill>
                  <a:srgbClr val="000000"/>
                </a:solidFill>
                <a:effectLst/>
                <a:latin typeface="Arial" panose="020B0604020202020204" pitchFamily="34" charset="0"/>
                <a:cs typeface="Arial" panose="020B0604020202020204" pitchFamily="34" charset="0"/>
              </a:rPr>
              <a:t>Since p &lt; 0.05, at least one group differs significantly in mean RHR. A post-hoc test </a:t>
            </a:r>
            <a:r>
              <a:rPr lang="en-US" sz="1400" b="0" i="0" u="none" strike="noStrike" dirty="0">
                <a:solidFill>
                  <a:srgbClr val="000000"/>
                </a:solidFill>
                <a:effectLst/>
                <a:latin typeface="Arial" panose="020B0604020202020204" pitchFamily="34" charset="0"/>
                <a:cs typeface="Arial" panose="020B0604020202020204" pitchFamily="34" charset="0"/>
              </a:rPr>
              <a:t>is needed to determine </a:t>
            </a:r>
            <a:r>
              <a:rPr lang="en-US" sz="1400" b="0" u="none" strike="noStrike" dirty="0">
                <a:solidFill>
                  <a:srgbClr val="000000"/>
                </a:solidFill>
                <a:effectLst/>
                <a:latin typeface="Arial" panose="020B0604020202020204" pitchFamily="34" charset="0"/>
                <a:cs typeface="Arial" panose="020B0604020202020204" pitchFamily="34" charset="0"/>
              </a:rPr>
              <a:t>which </a:t>
            </a:r>
            <a:r>
              <a:rPr lang="en-US" sz="1400" b="0" i="0" u="none" strike="noStrike" dirty="0">
                <a:solidFill>
                  <a:srgbClr val="000000"/>
                </a:solidFill>
                <a:effectLst/>
                <a:latin typeface="Arial" panose="020B0604020202020204" pitchFamily="34" charset="0"/>
                <a:cs typeface="Arial" panose="020B0604020202020204" pitchFamily="34" charset="0"/>
              </a:rPr>
              <a:t>exercise type(s) led to significantly lower RHR compared to others.</a:t>
            </a:r>
          </a:p>
        </p:txBody>
      </p:sp>
    </p:spTree>
    <p:extLst>
      <p:ext uri="{BB962C8B-B14F-4D97-AF65-F5344CB8AC3E}">
        <p14:creationId xmlns:p14="http://schemas.microsoft.com/office/powerpoint/2010/main" val="1193860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3FACA-064F-A63F-04E7-F04378E41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C3A39-1285-AAA2-DDD1-D22CA779568D}"/>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Regression Analysis</a:t>
            </a:r>
          </a:p>
        </p:txBody>
      </p:sp>
      <p:sp>
        <p:nvSpPr>
          <p:cNvPr id="3" name="Content Placeholder 2">
            <a:extLst>
              <a:ext uri="{FF2B5EF4-FFF2-40B4-BE49-F238E27FC236}">
                <a16:creationId xmlns:a16="http://schemas.microsoft.com/office/drawing/2014/main" id="{85DFA777-8D72-45EB-69B4-AFED5CFE0BFD}"/>
              </a:ext>
            </a:extLst>
          </p:cNvPr>
          <p:cNvSpPr>
            <a:spLocks noGrp="1"/>
          </p:cNvSpPr>
          <p:nvPr>
            <p:ph idx="1"/>
          </p:nvPr>
        </p:nvSpPr>
        <p:spPr>
          <a:xfrm>
            <a:off x="311700" y="1535247"/>
            <a:ext cx="8520600" cy="3416400"/>
          </a:xfrm>
        </p:spPr>
        <p:txBody>
          <a:bodyPr>
            <a:normAutofit fontScale="92500" lnSpcReduction="20000"/>
          </a:bodyPr>
          <a:lstStyle/>
          <a:p>
            <a:pPr marL="0" indent="0">
              <a:buNone/>
            </a:pPr>
            <a:r>
              <a:rPr lang="en-US" dirty="0">
                <a:solidFill>
                  <a:schemeClr val="tx1"/>
                </a:solidFill>
                <a:latin typeface="Arial" panose="020B0604020202020204" pitchFamily="34" charset="0"/>
                <a:cs typeface="Arial" panose="020B0604020202020204" pitchFamily="34" charset="0"/>
              </a:rPr>
              <a:t>A regression analysis predicts outcomes and examines how multiple independent variables relate to a dependent variable.</a:t>
            </a:r>
          </a:p>
          <a:p>
            <a:pPr marL="0" indent="0">
              <a:buNone/>
            </a:pPr>
            <a:endParaRPr lang="en-US" dirty="0">
              <a:solidFill>
                <a:schemeClr val="tx1"/>
              </a:solidFill>
              <a:latin typeface="Arial" panose="020B0604020202020204" pitchFamily="34" charset="0"/>
              <a:cs typeface="Arial" panose="020B0604020202020204" pitchFamily="34" charset="0"/>
            </a:endParaRPr>
          </a:p>
          <a:p>
            <a:pPr marL="0" indent="0">
              <a:buNone/>
            </a:pPr>
            <a:r>
              <a:rPr lang="en-US" dirty="0">
                <a:solidFill>
                  <a:schemeClr val="tx1"/>
                </a:solidFill>
                <a:latin typeface="Arial" panose="020B0604020202020204" pitchFamily="34" charset="0"/>
                <a:cs typeface="Arial" panose="020B0604020202020204" pitchFamily="34" charset="0"/>
              </a:rPr>
              <a:t>There are two types of regression analysis </a:t>
            </a:r>
          </a:p>
          <a:p>
            <a:pPr marL="114300" indent="0">
              <a:buNone/>
            </a:pPr>
            <a:r>
              <a:rPr lang="en-US" dirty="0">
                <a:solidFill>
                  <a:schemeClr val="tx1"/>
                </a:solidFill>
                <a:latin typeface="Arial" panose="020B0604020202020204" pitchFamily="34" charset="0"/>
                <a:cs typeface="Arial" panose="020B0604020202020204" pitchFamily="34" charset="0"/>
              </a:rPr>
              <a:t>	1) Linear Regression: Continuous variables </a:t>
            </a:r>
          </a:p>
          <a:p>
            <a:pPr marL="114300" indent="0">
              <a:buNone/>
            </a:pPr>
            <a:r>
              <a:rPr lang="en-US" dirty="0">
                <a:solidFill>
                  <a:schemeClr val="tx1"/>
                </a:solidFill>
                <a:latin typeface="Arial" panose="020B0604020202020204" pitchFamily="34" charset="0"/>
                <a:cs typeface="Arial" panose="020B0604020202020204" pitchFamily="34" charset="0"/>
              </a:rPr>
              <a:t>	2) Logistic Regression: Categorical variables </a:t>
            </a:r>
          </a:p>
          <a:p>
            <a:pPr marL="0" indent="0">
              <a:buNone/>
            </a:pPr>
            <a:endParaRPr lang="en-US" dirty="0">
              <a:solidFill>
                <a:schemeClr val="tx1"/>
              </a:solidFill>
              <a:latin typeface="Arial" panose="020B0604020202020204" pitchFamily="34" charset="0"/>
              <a:cs typeface="Arial" panose="020B0604020202020204" pitchFamily="34" charset="0"/>
            </a:endParaRPr>
          </a:p>
          <a:p>
            <a:pPr marL="0" indent="0">
              <a:buNone/>
            </a:pPr>
            <a:r>
              <a:rPr lang="en-US" dirty="0">
                <a:solidFill>
                  <a:schemeClr val="tx1"/>
                </a:solidFill>
                <a:latin typeface="Arial" panose="020B0604020202020204" pitchFamily="34" charset="0"/>
                <a:cs typeface="Arial" panose="020B0604020202020204" pitchFamily="34" charset="0"/>
              </a:rPr>
              <a:t>Outputs:</a:t>
            </a:r>
          </a:p>
          <a:p>
            <a:r>
              <a:rPr lang="en-US" dirty="0">
                <a:solidFill>
                  <a:schemeClr val="tx1"/>
                </a:solidFill>
                <a:latin typeface="Arial" panose="020B0604020202020204" pitchFamily="34" charset="0"/>
                <a:cs typeface="Arial" panose="020B0604020202020204" pitchFamily="34" charset="0"/>
              </a:rPr>
              <a:t>Coefficients (</a:t>
            </a:r>
            <a:r>
              <a:rPr lang="el-GR" dirty="0">
                <a:solidFill>
                  <a:schemeClr val="tx1"/>
                </a:solidFill>
                <a:latin typeface="Arial" panose="020B0604020202020204" pitchFamily="34" charset="0"/>
                <a:cs typeface="Arial" panose="020B0604020202020204" pitchFamily="34" charset="0"/>
              </a:rPr>
              <a:t>β): </a:t>
            </a:r>
            <a:r>
              <a:rPr lang="en-US" dirty="0">
                <a:solidFill>
                  <a:schemeClr val="tx1"/>
                </a:solidFill>
                <a:latin typeface="Arial" panose="020B0604020202020204" pitchFamily="34" charset="0"/>
                <a:cs typeface="Arial" panose="020B0604020202020204" pitchFamily="34" charset="0"/>
              </a:rPr>
              <a:t>Represent estimated change in the dependent variable per unit change in a specific independent variable. They show direction and strength of the relationship.</a:t>
            </a:r>
          </a:p>
          <a:p>
            <a:r>
              <a:rPr lang="en-US" dirty="0">
                <a:solidFill>
                  <a:schemeClr val="tx1"/>
                </a:solidFill>
                <a:latin typeface="Arial" panose="020B0604020202020204" pitchFamily="34" charset="0"/>
                <a:cs typeface="Arial" panose="020B0604020202020204" pitchFamily="34" charset="0"/>
              </a:rPr>
              <a:t>p-value: Indicates if there is statistical significance (refer to prior slides)</a:t>
            </a:r>
          </a:p>
          <a:p>
            <a:r>
              <a:rPr lang="en-US" dirty="0">
                <a:solidFill>
                  <a:schemeClr val="tx1"/>
                </a:solidFill>
                <a:latin typeface="Arial" panose="020B0604020202020204" pitchFamily="34" charset="0"/>
                <a:cs typeface="Arial" panose="020B0604020202020204" pitchFamily="34" charset="0"/>
              </a:rPr>
              <a:t>Odds ratio (in logistic regression): Demonstrate how the odds of the outcome change with the independent variable</a:t>
            </a:r>
          </a:p>
          <a:p>
            <a:pPr marL="0" indent="0">
              <a:buNone/>
            </a:pPr>
            <a:endParaRPr lang="en-US" dirty="0"/>
          </a:p>
        </p:txBody>
      </p:sp>
    </p:spTree>
    <p:extLst>
      <p:ext uri="{BB962C8B-B14F-4D97-AF65-F5344CB8AC3E}">
        <p14:creationId xmlns:p14="http://schemas.microsoft.com/office/powerpoint/2010/main" val="30661836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D1A3D-AF20-49FC-01F7-CD8F45FCD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845A1-DF24-0ACC-BD33-B1664A88F555}"/>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(Numerical) – Regression Analysis</a:t>
            </a:r>
          </a:p>
        </p:txBody>
      </p:sp>
      <p:sp>
        <p:nvSpPr>
          <p:cNvPr id="3" name="Content Placeholder 2">
            <a:extLst>
              <a:ext uri="{FF2B5EF4-FFF2-40B4-BE49-F238E27FC236}">
                <a16:creationId xmlns:a16="http://schemas.microsoft.com/office/drawing/2014/main" id="{08CE64EB-7DEB-6D6C-B5A8-A9BD19737E30}"/>
              </a:ext>
            </a:extLst>
          </p:cNvPr>
          <p:cNvSpPr>
            <a:spLocks noGrp="1"/>
          </p:cNvSpPr>
          <p:nvPr>
            <p:ph idx="1"/>
          </p:nvPr>
        </p:nvSpPr>
        <p:spPr>
          <a:xfrm>
            <a:off x="311700" y="1535247"/>
            <a:ext cx="8520600" cy="3416400"/>
          </a:xfrm>
        </p:spPr>
        <p:txBody>
          <a:bodyPr>
            <a:normAutofit/>
          </a:bodyPr>
          <a:lstStyle/>
          <a:p>
            <a:pPr marL="0" indent="0">
              <a:buNone/>
            </a:pPr>
            <a:r>
              <a:rPr lang="en-US" dirty="0">
                <a:solidFill>
                  <a:schemeClr val="tx1"/>
                </a:solidFill>
                <a:latin typeface="Arial" panose="020B0604020202020204" pitchFamily="34" charset="0"/>
                <a:cs typeface="Arial" panose="020B0604020202020204" pitchFamily="34" charset="0"/>
              </a:rPr>
              <a:t>Examples</a:t>
            </a:r>
          </a:p>
          <a:p>
            <a:pPr algn="l"/>
            <a:r>
              <a:rPr lang="en-US" i="0" u="none" strike="noStrike" dirty="0">
                <a:solidFill>
                  <a:schemeClr val="tx1"/>
                </a:solidFill>
                <a:effectLst/>
                <a:latin typeface="Arial" panose="020B0604020202020204" pitchFamily="34" charset="0"/>
                <a:cs typeface="Arial" panose="020B0604020202020204" pitchFamily="34" charset="0"/>
              </a:rPr>
              <a:t>Linear Regression:</a:t>
            </a:r>
            <a:br>
              <a:rPr lang="en-US" i="0" u="none" strike="noStrike" dirty="0">
                <a:solidFill>
                  <a:schemeClr val="tx1"/>
                </a:solidFill>
                <a:effectLst/>
                <a:latin typeface="Arial" panose="020B0604020202020204" pitchFamily="34" charset="0"/>
                <a:cs typeface="Arial" panose="020B0604020202020204" pitchFamily="34" charset="0"/>
              </a:rPr>
            </a:br>
            <a:r>
              <a:rPr lang="en-US" i="0" u="none" strike="noStrike" dirty="0">
                <a:solidFill>
                  <a:schemeClr val="tx1"/>
                </a:solidFill>
                <a:effectLst/>
                <a:latin typeface="Arial" panose="020B0604020202020204" pitchFamily="34" charset="0"/>
                <a:cs typeface="Arial" panose="020B0604020202020204" pitchFamily="34" charset="0"/>
              </a:rPr>
              <a:t>A study examined how hours of exercise per week predict resting heart rate. The coefficient (</a:t>
            </a:r>
            <a:r>
              <a:rPr lang="el-GR" i="0" u="none" strike="noStrike" dirty="0">
                <a:solidFill>
                  <a:schemeClr val="tx1"/>
                </a:solidFill>
                <a:effectLst/>
                <a:latin typeface="Arial" panose="020B0604020202020204" pitchFamily="34" charset="0"/>
                <a:cs typeface="Arial" panose="020B0604020202020204" pitchFamily="34" charset="0"/>
              </a:rPr>
              <a:t>β) </a:t>
            </a:r>
            <a:r>
              <a:rPr lang="en-US" i="0" u="none" strike="noStrike" dirty="0">
                <a:solidFill>
                  <a:schemeClr val="tx1"/>
                </a:solidFill>
                <a:effectLst/>
                <a:latin typeface="Arial" panose="020B0604020202020204" pitchFamily="34" charset="0"/>
                <a:cs typeface="Arial" panose="020B0604020202020204" pitchFamily="34" charset="0"/>
              </a:rPr>
              <a:t>for exercise was –1.8 (p &lt; 0.01). In short, for every additional hour of exercise, resting heart rate decreased by an average of 1.8 beats per minute. The p-value indicates this relationship is statistically significant.</a:t>
            </a:r>
          </a:p>
          <a:p>
            <a:pPr algn="l"/>
            <a:r>
              <a:rPr lang="en-US" i="0" u="none" strike="noStrike" dirty="0">
                <a:solidFill>
                  <a:schemeClr val="tx1"/>
                </a:solidFill>
                <a:effectLst/>
                <a:latin typeface="Arial" panose="020B0604020202020204" pitchFamily="34" charset="0"/>
                <a:cs typeface="Arial" panose="020B0604020202020204" pitchFamily="34" charset="0"/>
              </a:rPr>
              <a:t>Logistic Regression:</a:t>
            </a:r>
            <a:br>
              <a:rPr lang="en-US" i="0" u="none" strike="noStrike" dirty="0">
                <a:solidFill>
                  <a:schemeClr val="tx1"/>
                </a:solidFill>
                <a:effectLst/>
                <a:latin typeface="Arial" panose="020B0604020202020204" pitchFamily="34" charset="0"/>
                <a:cs typeface="Arial" panose="020B0604020202020204" pitchFamily="34" charset="0"/>
              </a:rPr>
            </a:br>
            <a:r>
              <a:rPr lang="en-US" i="0" u="none" strike="noStrike" dirty="0">
                <a:solidFill>
                  <a:schemeClr val="tx1"/>
                </a:solidFill>
                <a:effectLst/>
                <a:latin typeface="Arial" panose="020B0604020202020204" pitchFamily="34" charset="0"/>
                <a:cs typeface="Arial" panose="020B0604020202020204" pitchFamily="34" charset="0"/>
              </a:rPr>
              <a:t>In a regression model on heart disease, smokers had an odds ratio of 2.5 (p = 0.02). Smokers were 2.5 times more likely than non-smokers to develop heart disease.</a:t>
            </a:r>
          </a:p>
          <a:p>
            <a:pPr marL="0" indent="0">
              <a:buNone/>
            </a:pPr>
            <a:endParaRPr lang="en-US" dirty="0"/>
          </a:p>
        </p:txBody>
      </p:sp>
    </p:spTree>
    <p:extLst>
      <p:ext uri="{BB962C8B-B14F-4D97-AF65-F5344CB8AC3E}">
        <p14:creationId xmlns:p14="http://schemas.microsoft.com/office/powerpoint/2010/main" val="30003775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A2BBA-5074-7328-4F8C-99A8CBEBAD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EAFEB-3297-65BC-5D8C-AB16752F3A87}"/>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(Categorical)– Chi-square test</a:t>
            </a:r>
          </a:p>
        </p:txBody>
      </p:sp>
      <p:sp>
        <p:nvSpPr>
          <p:cNvPr id="3" name="Content Placeholder 2">
            <a:extLst>
              <a:ext uri="{FF2B5EF4-FFF2-40B4-BE49-F238E27FC236}">
                <a16:creationId xmlns:a16="http://schemas.microsoft.com/office/drawing/2014/main" id="{81959145-E803-396D-3DE0-5B567D9E40D5}"/>
              </a:ext>
            </a:extLst>
          </p:cNvPr>
          <p:cNvSpPr>
            <a:spLocks noGrp="1"/>
          </p:cNvSpPr>
          <p:nvPr>
            <p:ph idx="1"/>
          </p:nvPr>
        </p:nvSpPr>
        <p:spPr>
          <a:xfrm>
            <a:off x="311700" y="1503349"/>
            <a:ext cx="8520600" cy="3416400"/>
          </a:xfrm>
        </p:spPr>
        <p:txBody>
          <a:bodyPr>
            <a:normAutofit/>
          </a:bodyPr>
          <a:lstStyle/>
          <a:p>
            <a:pPr marL="0" indent="0">
              <a:buNone/>
            </a:pPr>
            <a:r>
              <a:rPr lang="en-US" sz="1400" dirty="0">
                <a:solidFill>
                  <a:schemeClr val="tx1"/>
                </a:solidFill>
                <a:latin typeface="Arial" panose="020B0604020202020204" pitchFamily="34" charset="0"/>
                <a:cs typeface="Arial" panose="020B0604020202020204" pitchFamily="34" charset="0"/>
              </a:rPr>
              <a:t>A</a:t>
            </a:r>
            <a:r>
              <a:rPr lang="en-US" sz="1500" dirty="0">
                <a:solidFill>
                  <a:schemeClr val="tx1"/>
                </a:solidFill>
                <a:latin typeface="Arial" panose="020B0604020202020204" pitchFamily="34" charset="0"/>
                <a:cs typeface="Arial" panose="020B0604020202020204" pitchFamily="34" charset="0"/>
              </a:rPr>
              <a:t> </a:t>
            </a:r>
            <a:r>
              <a:rPr lang="en-US" sz="1400" dirty="0">
                <a:solidFill>
                  <a:schemeClr val="tx1"/>
                </a:solidFill>
                <a:latin typeface="Arial" panose="020B0604020202020204" pitchFamily="34" charset="0"/>
                <a:cs typeface="Arial" panose="020B0604020202020204" pitchFamily="34" charset="0"/>
              </a:rPr>
              <a:t>Chi-square test looks for statistically significant association between observed and expected frequencies among two categorical variables.</a:t>
            </a:r>
          </a:p>
          <a:p>
            <a:r>
              <a:rPr lang="en-US" sz="1400" dirty="0">
                <a:solidFill>
                  <a:schemeClr val="tx1"/>
                </a:solidFill>
                <a:latin typeface="Arial" panose="020B0604020202020204" pitchFamily="34" charset="0"/>
                <a:cs typeface="Arial" panose="020B0604020202020204" pitchFamily="34" charset="0"/>
              </a:rPr>
              <a:t>The larger the Chi-square (X</a:t>
            </a:r>
            <a:r>
              <a:rPr lang="en-US" sz="1400" baseline="30000" dirty="0">
                <a:solidFill>
                  <a:schemeClr val="tx1"/>
                </a:solidFill>
                <a:latin typeface="Arial" panose="020B0604020202020204" pitchFamily="34" charset="0"/>
                <a:cs typeface="Arial" panose="020B0604020202020204" pitchFamily="34" charset="0"/>
              </a:rPr>
              <a:t>2</a:t>
            </a:r>
            <a:r>
              <a:rPr lang="en-US" sz="1400" dirty="0">
                <a:solidFill>
                  <a:schemeClr val="tx1"/>
                </a:solidFill>
                <a:latin typeface="Arial" panose="020B0604020202020204" pitchFamily="34" charset="0"/>
                <a:cs typeface="Arial" panose="020B0604020202020204" pitchFamily="34" charset="0"/>
              </a:rPr>
              <a:t>) value is, the more likely there is a significant difference between the observed and expected data</a:t>
            </a:r>
          </a:p>
          <a:p>
            <a:pPr lvl="1">
              <a:spcBef>
                <a:spcPts val="0"/>
              </a:spcBef>
            </a:pPr>
            <a:r>
              <a:rPr lang="en-US" dirty="0">
                <a:solidFill>
                  <a:schemeClr val="tx1"/>
                </a:solidFill>
                <a:latin typeface="Arial" panose="020B0604020202020204" pitchFamily="34" charset="0"/>
                <a:cs typeface="Arial" panose="020B0604020202020204" pitchFamily="34" charset="0"/>
              </a:rPr>
              <a:t>When X</a:t>
            </a:r>
            <a:r>
              <a:rPr lang="en-US" baseline="30000" dirty="0">
                <a:solidFill>
                  <a:schemeClr val="tx1"/>
                </a:solidFill>
                <a:latin typeface="Arial" panose="020B0604020202020204" pitchFamily="34" charset="0"/>
                <a:cs typeface="Arial" panose="020B0604020202020204" pitchFamily="34" charset="0"/>
              </a:rPr>
              <a:t>2</a:t>
            </a:r>
            <a:r>
              <a:rPr lang="en-US" dirty="0">
                <a:solidFill>
                  <a:schemeClr val="tx1"/>
                </a:solidFill>
                <a:latin typeface="Arial" panose="020B0604020202020204" pitchFamily="34" charset="0"/>
                <a:cs typeface="Arial" panose="020B0604020202020204" pitchFamily="34" charset="0"/>
              </a:rPr>
              <a:t> is greater, the p-value will be lower</a:t>
            </a:r>
          </a:p>
          <a:p>
            <a:pPr lvl="1">
              <a:spcBef>
                <a:spcPts val="0"/>
              </a:spcBef>
            </a:pPr>
            <a:r>
              <a:rPr lang="en-US" dirty="0">
                <a:solidFill>
                  <a:schemeClr val="tx1"/>
                </a:solidFill>
                <a:latin typeface="Arial" panose="020B0604020202020204" pitchFamily="34" charset="0"/>
                <a:cs typeface="Arial" panose="020B0604020202020204" pitchFamily="34" charset="0"/>
              </a:rPr>
              <a:t>When X</a:t>
            </a:r>
            <a:r>
              <a:rPr lang="en-US" baseline="30000" dirty="0">
                <a:solidFill>
                  <a:schemeClr val="tx1"/>
                </a:solidFill>
                <a:latin typeface="Arial" panose="020B0604020202020204" pitchFamily="34" charset="0"/>
                <a:cs typeface="Arial" panose="020B0604020202020204" pitchFamily="34" charset="0"/>
              </a:rPr>
              <a:t>2</a:t>
            </a:r>
            <a:r>
              <a:rPr lang="en-US" dirty="0">
                <a:solidFill>
                  <a:schemeClr val="tx1"/>
                </a:solidFill>
                <a:latin typeface="Arial" panose="020B0604020202020204" pitchFamily="34" charset="0"/>
                <a:cs typeface="Arial" panose="020B0604020202020204" pitchFamily="34" charset="0"/>
              </a:rPr>
              <a:t> is lower, the p-value will be greater</a:t>
            </a:r>
          </a:p>
          <a:p>
            <a:pPr marL="0" indent="0">
              <a:buNone/>
            </a:pPr>
            <a:endParaRPr lang="en-US" sz="1400" dirty="0">
              <a:solidFill>
                <a:schemeClr val="tx1"/>
              </a:solidFill>
              <a:latin typeface="Arial" panose="020B0604020202020204" pitchFamily="34" charset="0"/>
              <a:cs typeface="Arial" panose="020B0604020202020204" pitchFamily="34" charset="0"/>
            </a:endParaRPr>
          </a:p>
          <a:p>
            <a:pPr marL="0" indent="0">
              <a:buNone/>
            </a:pPr>
            <a:r>
              <a:rPr lang="en-US" sz="1400" dirty="0">
                <a:solidFill>
                  <a:schemeClr val="tx1"/>
                </a:solidFill>
                <a:latin typeface="Arial" panose="020B0604020202020204" pitchFamily="34" charset="0"/>
                <a:cs typeface="Arial" panose="020B0604020202020204" pitchFamily="34" charset="0"/>
              </a:rPr>
              <a:t>Outputs</a:t>
            </a:r>
          </a:p>
          <a:p>
            <a:pPr marL="285750" indent="-285750"/>
            <a:r>
              <a:rPr lang="en-US" sz="1400" dirty="0">
                <a:solidFill>
                  <a:schemeClr val="tx1"/>
                </a:solidFill>
                <a:latin typeface="Arial" panose="020B0604020202020204" pitchFamily="34" charset="0"/>
                <a:cs typeface="Arial" panose="020B0604020202020204" pitchFamily="34" charset="0"/>
              </a:rPr>
              <a:t>Chi-square value (X</a:t>
            </a:r>
            <a:r>
              <a:rPr lang="en-US" sz="1400" baseline="30000" dirty="0">
                <a:solidFill>
                  <a:schemeClr val="tx1"/>
                </a:solidFill>
                <a:latin typeface="Arial" panose="020B0604020202020204" pitchFamily="34" charset="0"/>
                <a:cs typeface="Arial" panose="020B0604020202020204" pitchFamily="34" charset="0"/>
              </a:rPr>
              <a:t>2</a:t>
            </a:r>
            <a:r>
              <a:rPr lang="en-US" sz="1400" dirty="0">
                <a:solidFill>
                  <a:schemeClr val="tx1"/>
                </a:solidFill>
                <a:latin typeface="Arial" panose="020B0604020202020204" pitchFamily="34" charset="0"/>
                <a:cs typeface="Arial" panose="020B0604020202020204" pitchFamily="34" charset="0"/>
              </a:rPr>
              <a:t>): M</a:t>
            </a:r>
            <a:r>
              <a:rPr lang="en-US" sz="1400" b="0" i="0" u="none" strike="noStrike" dirty="0">
                <a:solidFill>
                  <a:schemeClr val="tx1"/>
                </a:solidFill>
                <a:effectLst/>
                <a:latin typeface="Arial" panose="020B0604020202020204" pitchFamily="34" charset="0"/>
                <a:cs typeface="Arial" panose="020B0604020202020204" pitchFamily="34" charset="0"/>
              </a:rPr>
              <a:t>easures how much the observed data differs from what </a:t>
            </a:r>
            <a:r>
              <a:rPr lang="en-US" sz="1400" dirty="0">
                <a:solidFill>
                  <a:schemeClr val="tx1"/>
                </a:solidFill>
                <a:latin typeface="Arial" panose="020B0604020202020204" pitchFamily="34" charset="0"/>
                <a:cs typeface="Arial" panose="020B0604020202020204" pitchFamily="34" charset="0"/>
              </a:rPr>
              <a:t>would be</a:t>
            </a:r>
            <a:r>
              <a:rPr lang="en-US" sz="1400" b="0" i="0" u="none" strike="noStrike" dirty="0">
                <a:solidFill>
                  <a:schemeClr val="tx1"/>
                </a:solidFill>
                <a:effectLst/>
                <a:latin typeface="Arial" panose="020B0604020202020204" pitchFamily="34" charset="0"/>
                <a:cs typeface="Arial" panose="020B0604020202020204" pitchFamily="34" charset="0"/>
              </a:rPr>
              <a:t> expected if there was no association between the variables. A larger </a:t>
            </a:r>
            <a:r>
              <a:rPr lang="en-US" sz="1400" dirty="0">
                <a:solidFill>
                  <a:schemeClr val="tx1"/>
                </a:solidFill>
                <a:latin typeface="Arial" panose="020B0604020202020204" pitchFamily="34" charset="0"/>
                <a:cs typeface="Arial" panose="020B0604020202020204" pitchFamily="34" charset="0"/>
              </a:rPr>
              <a:t>X</a:t>
            </a:r>
            <a:r>
              <a:rPr lang="en-US" sz="1400" baseline="30000" dirty="0">
                <a:solidFill>
                  <a:schemeClr val="tx1"/>
                </a:solidFill>
                <a:latin typeface="Arial" panose="020B0604020202020204" pitchFamily="34" charset="0"/>
                <a:cs typeface="Arial" panose="020B0604020202020204" pitchFamily="34" charset="0"/>
              </a:rPr>
              <a:t>2</a:t>
            </a:r>
            <a:r>
              <a:rPr lang="en-US" sz="1400" b="0" i="0" u="none" strike="noStrike" dirty="0">
                <a:solidFill>
                  <a:schemeClr val="tx1"/>
                </a:solidFill>
                <a:effectLst/>
                <a:latin typeface="Arial" panose="020B0604020202020204" pitchFamily="34" charset="0"/>
                <a:cs typeface="Arial" panose="020B0604020202020204" pitchFamily="34" charset="0"/>
              </a:rPr>
              <a:t>, indicates a greater difference between observed and expected counts.</a:t>
            </a:r>
            <a:endParaRPr lang="en-US" sz="1400" dirty="0">
              <a:solidFill>
                <a:schemeClr val="tx1"/>
              </a:solidFill>
              <a:latin typeface="Arial" panose="020B0604020202020204" pitchFamily="34" charset="0"/>
              <a:cs typeface="Arial" panose="020B0604020202020204" pitchFamily="34" charset="0"/>
            </a:endParaRPr>
          </a:p>
          <a:p>
            <a:pPr marL="285750" indent="-285750"/>
            <a:r>
              <a:rPr lang="en-US" sz="1400" dirty="0">
                <a:solidFill>
                  <a:schemeClr val="tx1"/>
                </a:solidFill>
                <a:latin typeface="Arial" panose="020B0604020202020204" pitchFamily="34" charset="0"/>
                <a:cs typeface="Arial" panose="020B0604020202020204" pitchFamily="34" charset="0"/>
              </a:rPr>
              <a:t>degrees of freedom (df) = (</a:t>
            </a:r>
            <a:r>
              <a:rPr lang="en-US" sz="1400" b="0" i="0" u="none" strike="noStrike" dirty="0">
                <a:solidFill>
                  <a:srgbClr val="000000"/>
                </a:solidFill>
                <a:effectLst/>
                <a:latin typeface="Arial" panose="020B0604020202020204" pitchFamily="34" charset="0"/>
                <a:cs typeface="Arial" panose="020B0604020202020204" pitchFamily="34" charset="0"/>
              </a:rPr>
              <a:t>number of rows – 1) × (number of columns – 1)</a:t>
            </a:r>
            <a:endParaRPr lang="en-US" sz="1400" dirty="0">
              <a:solidFill>
                <a:schemeClr val="tx1"/>
              </a:solidFill>
              <a:latin typeface="Arial" panose="020B0604020202020204" pitchFamily="34" charset="0"/>
              <a:cs typeface="Arial" panose="020B0604020202020204" pitchFamily="34" charset="0"/>
            </a:endParaRPr>
          </a:p>
          <a:p>
            <a:pPr marL="285750" indent="-285750"/>
            <a:r>
              <a:rPr lang="en-US" sz="1400" dirty="0">
                <a:solidFill>
                  <a:schemeClr val="tx1"/>
                </a:solidFill>
                <a:latin typeface="Arial" panose="020B0604020202020204" pitchFamily="34" charset="0"/>
                <a:cs typeface="Arial" panose="020B0604020202020204" pitchFamily="34" charset="0"/>
              </a:rPr>
              <a:t>p-value: Indicates if there is statistical significance (refer to prior slides)</a:t>
            </a:r>
          </a:p>
          <a:p>
            <a:pPr marL="285750" indent="-285750"/>
            <a:endParaRPr lang="en-US" dirty="0"/>
          </a:p>
        </p:txBody>
      </p:sp>
    </p:spTree>
    <p:extLst>
      <p:ext uri="{BB962C8B-B14F-4D97-AF65-F5344CB8AC3E}">
        <p14:creationId xmlns:p14="http://schemas.microsoft.com/office/powerpoint/2010/main" val="676961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8FE4B-3A41-0037-162C-6A314EB1E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A39154-678B-428B-BA72-0CB7150BF0B3}"/>
              </a:ext>
            </a:extLst>
          </p:cNvPr>
          <p:cNvSpPr>
            <a:spLocks noGrp="1"/>
          </p:cNvSpPr>
          <p:nvPr>
            <p:ph type="title"/>
          </p:nvPr>
        </p:nvSpPr>
        <p:spPr/>
        <p:txBody>
          <a:bodyPr/>
          <a:lstStyle/>
          <a:p>
            <a:r>
              <a:rPr lang="en-US" dirty="0">
                <a:solidFill>
                  <a:schemeClr val="accent1"/>
                </a:solidFill>
                <a:latin typeface="Arial" panose="020B0604020202020204" pitchFamily="34" charset="0"/>
                <a:cs typeface="Arial" panose="020B0604020202020204" pitchFamily="34" charset="0"/>
              </a:rPr>
              <a:t>Inferential Statistics (Categorical)– Chi-square test</a:t>
            </a:r>
          </a:p>
        </p:txBody>
      </p:sp>
      <p:sp>
        <p:nvSpPr>
          <p:cNvPr id="3" name="Content Placeholder 2">
            <a:extLst>
              <a:ext uri="{FF2B5EF4-FFF2-40B4-BE49-F238E27FC236}">
                <a16:creationId xmlns:a16="http://schemas.microsoft.com/office/drawing/2014/main" id="{F23E08E8-37AD-8CE7-82AF-23B4E10E01B3}"/>
              </a:ext>
            </a:extLst>
          </p:cNvPr>
          <p:cNvSpPr>
            <a:spLocks noGrp="1"/>
          </p:cNvSpPr>
          <p:nvPr>
            <p:ph idx="1"/>
          </p:nvPr>
        </p:nvSpPr>
        <p:spPr>
          <a:xfrm>
            <a:off x="311700" y="1516270"/>
            <a:ext cx="8520600" cy="3416400"/>
          </a:xfrm>
        </p:spPr>
        <p:txBody>
          <a:bodyPr>
            <a:norm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rgbClr val="000000"/>
                </a:solidFill>
                <a:effectLst/>
                <a:latin typeface="Arial" panose="020B0604020202020204" pitchFamily="34" charset="0"/>
              </a:rPr>
              <a:t>Example:</a:t>
            </a: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Arial" panose="020B0604020202020204" pitchFamily="34" charset="0"/>
              </a:rPr>
              <a:t>A researcher wants to know if there is an association between </a:t>
            </a:r>
            <a:r>
              <a:rPr kumimoji="0" lang="en-US" altLang="en-US" sz="1600" i="0" u="none" strike="noStrike" cap="none" normalizeH="0" baseline="0" dirty="0">
                <a:ln>
                  <a:noFill/>
                </a:ln>
                <a:solidFill>
                  <a:srgbClr val="000000"/>
                </a:solidFill>
                <a:effectLst/>
                <a:latin typeface="Arial" panose="020B0604020202020204" pitchFamily="34" charset="0"/>
              </a:rPr>
              <a:t>exercise habits (exercises regularly vs. does not exercise) and heart disease status (has heart disease vs. does not).</a:t>
            </a:r>
            <a:endParaRPr kumimoji="0" lang="en-US" altLang="en-US" sz="1600" i="0" u="none" strike="noStrike" cap="none" normalizeH="0" baseline="0" dirty="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5EA711E2-8BEC-2D5F-C926-FF48AB0EE86F}"/>
              </a:ext>
            </a:extLst>
          </p:cNvPr>
          <p:cNvGraphicFramePr>
            <a:graphicFrameLocks noGrp="1"/>
          </p:cNvGraphicFramePr>
          <p:nvPr>
            <p:extLst>
              <p:ext uri="{D42A27DB-BD31-4B8C-83A1-F6EECF244321}">
                <p14:modId xmlns:p14="http://schemas.microsoft.com/office/powerpoint/2010/main" val="3912149235"/>
              </p:ext>
            </p:extLst>
          </p:nvPr>
        </p:nvGraphicFramePr>
        <p:xfrm>
          <a:off x="797441" y="2543919"/>
          <a:ext cx="6916184" cy="1219200"/>
        </p:xfrm>
        <a:graphic>
          <a:graphicData uri="http://schemas.openxmlformats.org/drawingml/2006/table">
            <a:tbl>
              <a:tblPr>
                <a:tableStyleId>{EAAE7D96-29D0-42AF-9B61-008C0A79E2E8}</a:tableStyleId>
              </a:tblPr>
              <a:tblGrid>
                <a:gridCol w="1729046">
                  <a:extLst>
                    <a:ext uri="{9D8B030D-6E8A-4147-A177-3AD203B41FA5}">
                      <a16:colId xmlns:a16="http://schemas.microsoft.com/office/drawing/2014/main" val="1384594710"/>
                    </a:ext>
                  </a:extLst>
                </a:gridCol>
                <a:gridCol w="1729046">
                  <a:extLst>
                    <a:ext uri="{9D8B030D-6E8A-4147-A177-3AD203B41FA5}">
                      <a16:colId xmlns:a16="http://schemas.microsoft.com/office/drawing/2014/main" val="1521037382"/>
                    </a:ext>
                  </a:extLst>
                </a:gridCol>
                <a:gridCol w="1729046">
                  <a:extLst>
                    <a:ext uri="{9D8B030D-6E8A-4147-A177-3AD203B41FA5}">
                      <a16:colId xmlns:a16="http://schemas.microsoft.com/office/drawing/2014/main" val="384781370"/>
                    </a:ext>
                  </a:extLst>
                </a:gridCol>
                <a:gridCol w="1729046">
                  <a:extLst>
                    <a:ext uri="{9D8B030D-6E8A-4147-A177-3AD203B41FA5}">
                      <a16:colId xmlns:a16="http://schemas.microsoft.com/office/drawing/2014/main" val="597423519"/>
                    </a:ext>
                  </a:extLst>
                </a:gridCol>
              </a:tblGrid>
              <a:tr h="201834">
                <a:tc>
                  <a:txBody>
                    <a:bodyPr/>
                    <a:lstStyle/>
                    <a:p>
                      <a:endParaRPr lang="en-US" dirty="0"/>
                    </a:p>
                  </a:txBody>
                  <a:tcPr anchor="ctr"/>
                </a:tc>
                <a:tc>
                  <a:txBody>
                    <a:bodyPr/>
                    <a:lstStyle/>
                    <a:p>
                      <a:r>
                        <a:rPr lang="en-US" dirty="0"/>
                        <a:t>Heart Disease</a:t>
                      </a:r>
                    </a:p>
                  </a:txBody>
                  <a:tcPr anchor="ctr"/>
                </a:tc>
                <a:tc>
                  <a:txBody>
                    <a:bodyPr/>
                    <a:lstStyle/>
                    <a:p>
                      <a:r>
                        <a:rPr lang="en-US" dirty="0"/>
                        <a:t>No Heart Disease</a:t>
                      </a:r>
                    </a:p>
                  </a:txBody>
                  <a:tcPr anchor="ctr"/>
                </a:tc>
                <a:tc>
                  <a:txBody>
                    <a:bodyPr/>
                    <a:lstStyle/>
                    <a:p>
                      <a:r>
                        <a:rPr lang="en-US" dirty="0"/>
                        <a:t>Total</a:t>
                      </a:r>
                    </a:p>
                  </a:txBody>
                  <a:tcPr anchor="ctr"/>
                </a:tc>
                <a:extLst>
                  <a:ext uri="{0D108BD9-81ED-4DB2-BD59-A6C34878D82A}">
                    <a16:rowId xmlns:a16="http://schemas.microsoft.com/office/drawing/2014/main" val="3836249013"/>
                  </a:ext>
                </a:extLst>
              </a:tr>
              <a:tr h="201834">
                <a:tc>
                  <a:txBody>
                    <a:bodyPr/>
                    <a:lstStyle/>
                    <a:p>
                      <a:r>
                        <a:rPr lang="en-US" dirty="0"/>
                        <a:t>Exercises</a:t>
                      </a:r>
                    </a:p>
                  </a:txBody>
                  <a:tcPr anchor="ctr"/>
                </a:tc>
                <a:tc>
                  <a:txBody>
                    <a:bodyPr/>
                    <a:lstStyle/>
                    <a:p>
                      <a:r>
                        <a:rPr lang="en-US" dirty="0"/>
                        <a:t>10</a:t>
                      </a:r>
                    </a:p>
                  </a:txBody>
                  <a:tcPr anchor="ctr"/>
                </a:tc>
                <a:tc>
                  <a:txBody>
                    <a:bodyPr/>
                    <a:lstStyle/>
                    <a:p>
                      <a:r>
                        <a:rPr lang="en-US" dirty="0"/>
                        <a:t>40</a:t>
                      </a:r>
                    </a:p>
                  </a:txBody>
                  <a:tcPr anchor="ctr"/>
                </a:tc>
                <a:tc>
                  <a:txBody>
                    <a:bodyPr/>
                    <a:lstStyle/>
                    <a:p>
                      <a:r>
                        <a:rPr lang="en-US" dirty="0"/>
                        <a:t>50</a:t>
                      </a:r>
                    </a:p>
                  </a:txBody>
                  <a:tcPr anchor="ctr"/>
                </a:tc>
                <a:extLst>
                  <a:ext uri="{0D108BD9-81ED-4DB2-BD59-A6C34878D82A}">
                    <a16:rowId xmlns:a16="http://schemas.microsoft.com/office/drawing/2014/main" val="1397360720"/>
                  </a:ext>
                </a:extLst>
              </a:tr>
              <a:tr h="201834">
                <a:tc>
                  <a:txBody>
                    <a:bodyPr/>
                    <a:lstStyle/>
                    <a:p>
                      <a:r>
                        <a:rPr lang="en-US" dirty="0"/>
                        <a:t>Does not exercise</a:t>
                      </a:r>
                    </a:p>
                  </a:txBody>
                  <a:tcPr anchor="ctr"/>
                </a:tc>
                <a:tc>
                  <a:txBody>
                    <a:bodyPr/>
                    <a:lstStyle/>
                    <a:p>
                      <a:r>
                        <a:rPr lang="en-US" dirty="0"/>
                        <a:t>30</a:t>
                      </a:r>
                    </a:p>
                  </a:txBody>
                  <a:tcPr anchor="ctr"/>
                </a:tc>
                <a:tc>
                  <a:txBody>
                    <a:bodyPr/>
                    <a:lstStyle/>
                    <a:p>
                      <a:r>
                        <a:rPr lang="en-US" dirty="0"/>
                        <a:t>20</a:t>
                      </a:r>
                    </a:p>
                  </a:txBody>
                  <a:tcPr anchor="ctr"/>
                </a:tc>
                <a:tc>
                  <a:txBody>
                    <a:bodyPr/>
                    <a:lstStyle/>
                    <a:p>
                      <a:r>
                        <a:rPr lang="en-US" dirty="0"/>
                        <a:t>50</a:t>
                      </a:r>
                    </a:p>
                  </a:txBody>
                  <a:tcPr anchor="ctr"/>
                </a:tc>
                <a:extLst>
                  <a:ext uri="{0D108BD9-81ED-4DB2-BD59-A6C34878D82A}">
                    <a16:rowId xmlns:a16="http://schemas.microsoft.com/office/drawing/2014/main" val="1396211494"/>
                  </a:ext>
                </a:extLst>
              </a:tr>
              <a:tr h="201834">
                <a:tc>
                  <a:txBody>
                    <a:bodyPr/>
                    <a:lstStyle/>
                    <a:p>
                      <a:r>
                        <a:rPr lang="en-US" b="0" dirty="0"/>
                        <a:t>Total</a:t>
                      </a:r>
                    </a:p>
                  </a:txBody>
                  <a:tcPr anchor="ctr"/>
                </a:tc>
                <a:tc>
                  <a:txBody>
                    <a:bodyPr/>
                    <a:lstStyle/>
                    <a:p>
                      <a:r>
                        <a:rPr lang="en-US" dirty="0"/>
                        <a:t>40</a:t>
                      </a:r>
                    </a:p>
                  </a:txBody>
                  <a:tcPr anchor="ctr"/>
                </a:tc>
                <a:tc>
                  <a:txBody>
                    <a:bodyPr/>
                    <a:lstStyle/>
                    <a:p>
                      <a:r>
                        <a:rPr lang="en-US" dirty="0"/>
                        <a:t>60</a:t>
                      </a:r>
                    </a:p>
                  </a:txBody>
                  <a:tcPr anchor="ctr"/>
                </a:tc>
                <a:tc>
                  <a:txBody>
                    <a:bodyPr/>
                    <a:lstStyle/>
                    <a:p>
                      <a:r>
                        <a:rPr lang="en-US" dirty="0"/>
                        <a:t>100</a:t>
                      </a:r>
                    </a:p>
                  </a:txBody>
                  <a:tcPr anchor="ctr"/>
                </a:tc>
                <a:extLst>
                  <a:ext uri="{0D108BD9-81ED-4DB2-BD59-A6C34878D82A}">
                    <a16:rowId xmlns:a16="http://schemas.microsoft.com/office/drawing/2014/main" val="2988839212"/>
                  </a:ext>
                </a:extLst>
              </a:tr>
            </a:tbl>
          </a:graphicData>
        </a:graphic>
      </p:graphicFrame>
      <p:sp>
        <p:nvSpPr>
          <p:cNvPr id="6" name="TextBox 5">
            <a:extLst>
              <a:ext uri="{FF2B5EF4-FFF2-40B4-BE49-F238E27FC236}">
                <a16:creationId xmlns:a16="http://schemas.microsoft.com/office/drawing/2014/main" id="{FF293081-3658-E3E2-5F56-702B2A1F57F5}"/>
              </a:ext>
            </a:extLst>
          </p:cNvPr>
          <p:cNvSpPr txBox="1"/>
          <p:nvPr/>
        </p:nvSpPr>
        <p:spPr>
          <a:xfrm>
            <a:off x="311700" y="3973949"/>
            <a:ext cx="6134986" cy="523220"/>
          </a:xfrm>
          <a:prstGeom prst="rect">
            <a:avLst/>
          </a:prstGeom>
          <a:noFill/>
        </p:spPr>
        <p:txBody>
          <a:bodyPr wrap="square" rtlCol="0">
            <a:spAutoFit/>
          </a:bodyPr>
          <a:lstStyle/>
          <a:p>
            <a:r>
              <a:rPr lang="en-US" dirty="0"/>
              <a:t>Chi-square test provides: X</a:t>
            </a:r>
            <a:r>
              <a:rPr lang="en-US" baseline="30000" dirty="0"/>
              <a:t>2</a:t>
            </a:r>
            <a:r>
              <a:rPr lang="en-US" dirty="0"/>
              <a:t> = 6.63, df = 1, p = 0.01</a:t>
            </a:r>
          </a:p>
          <a:p>
            <a:endParaRPr lang="en-US" dirty="0"/>
          </a:p>
        </p:txBody>
      </p:sp>
      <p:sp>
        <p:nvSpPr>
          <p:cNvPr id="7" name="TextBox 6">
            <a:extLst>
              <a:ext uri="{FF2B5EF4-FFF2-40B4-BE49-F238E27FC236}">
                <a16:creationId xmlns:a16="http://schemas.microsoft.com/office/drawing/2014/main" id="{804AC361-6F26-7B4D-2A64-CD9C687813A4}"/>
              </a:ext>
            </a:extLst>
          </p:cNvPr>
          <p:cNvSpPr txBox="1"/>
          <p:nvPr/>
        </p:nvSpPr>
        <p:spPr>
          <a:xfrm>
            <a:off x="311700" y="4453310"/>
            <a:ext cx="7790309" cy="523220"/>
          </a:xfrm>
          <a:prstGeom prst="rect">
            <a:avLst/>
          </a:prstGeom>
          <a:noFill/>
        </p:spPr>
        <p:txBody>
          <a:bodyPr wrap="square" rtlCol="0">
            <a:spAutoFit/>
          </a:bodyPr>
          <a:lstStyle/>
          <a:p>
            <a:r>
              <a:rPr lang="en-US" i="0" u="none" strike="noStrike" dirty="0">
                <a:solidFill>
                  <a:srgbClr val="000000"/>
                </a:solidFill>
                <a:effectLst/>
                <a:latin typeface="Arial" panose="020B0604020202020204" pitchFamily="34" charset="0"/>
                <a:cs typeface="Arial" panose="020B0604020202020204" pitchFamily="34" charset="0"/>
              </a:rPr>
              <a:t>Interpretation: Since p &lt; 0.05, a conclusion can be made that exercise habits are significantly associated with heart disease status.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62931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77AC6-CAE1-979C-F610-E802D8678B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2A797F-E0D4-813B-F46B-1F14D7880F29}"/>
              </a:ext>
            </a:extLst>
          </p:cNvPr>
          <p:cNvSpPr>
            <a:spLocks noGrp="1"/>
          </p:cNvSpPr>
          <p:nvPr>
            <p:ph type="title"/>
          </p:nvPr>
        </p:nvSpPr>
        <p:spPr>
          <a:xfrm>
            <a:off x="91847" y="94281"/>
            <a:ext cx="7886700" cy="994172"/>
          </a:xfrm>
        </p:spPr>
        <p:txBody>
          <a:bodyPr/>
          <a:lstStyle/>
          <a:p>
            <a:r>
              <a:rPr lang="en-US" dirty="0">
                <a:solidFill>
                  <a:schemeClr val="accent1"/>
                </a:solidFill>
                <a:latin typeface="Arial" panose="020B0604020202020204" pitchFamily="34" charset="0"/>
                <a:cs typeface="Arial" panose="020B0604020202020204" pitchFamily="34" charset="0"/>
              </a:rPr>
              <a:t>Selecting the Test of Best Fit</a:t>
            </a:r>
          </a:p>
        </p:txBody>
      </p:sp>
      <p:graphicFrame>
        <p:nvGraphicFramePr>
          <p:cNvPr id="4" name="Table 3">
            <a:extLst>
              <a:ext uri="{FF2B5EF4-FFF2-40B4-BE49-F238E27FC236}">
                <a16:creationId xmlns:a16="http://schemas.microsoft.com/office/drawing/2014/main" id="{70AD3EB1-61BA-D658-7065-86190E419F05}"/>
              </a:ext>
            </a:extLst>
          </p:cNvPr>
          <p:cNvGraphicFramePr>
            <a:graphicFrameLocks noGrp="1"/>
          </p:cNvGraphicFramePr>
          <p:nvPr>
            <p:extLst>
              <p:ext uri="{D42A27DB-BD31-4B8C-83A1-F6EECF244321}">
                <p14:modId xmlns:p14="http://schemas.microsoft.com/office/powerpoint/2010/main" val="1034558654"/>
              </p:ext>
            </p:extLst>
          </p:nvPr>
        </p:nvGraphicFramePr>
        <p:xfrm>
          <a:off x="91849" y="899891"/>
          <a:ext cx="8960304" cy="4149328"/>
        </p:xfrm>
        <a:graphic>
          <a:graphicData uri="http://schemas.openxmlformats.org/drawingml/2006/table">
            <a:tbl>
              <a:tblPr firstRow="1" bandRow="1">
                <a:tableStyleId>{5C22544A-7EE6-4342-B048-85BDC9FD1C3A}</a:tableStyleId>
              </a:tblPr>
              <a:tblGrid>
                <a:gridCol w="2628089">
                  <a:extLst>
                    <a:ext uri="{9D8B030D-6E8A-4147-A177-3AD203B41FA5}">
                      <a16:colId xmlns:a16="http://schemas.microsoft.com/office/drawing/2014/main" val="250889169"/>
                    </a:ext>
                  </a:extLst>
                </a:gridCol>
                <a:gridCol w="2112072">
                  <a:extLst>
                    <a:ext uri="{9D8B030D-6E8A-4147-A177-3AD203B41FA5}">
                      <a16:colId xmlns:a16="http://schemas.microsoft.com/office/drawing/2014/main" val="3418018561"/>
                    </a:ext>
                  </a:extLst>
                </a:gridCol>
                <a:gridCol w="4220143">
                  <a:extLst>
                    <a:ext uri="{9D8B030D-6E8A-4147-A177-3AD203B41FA5}">
                      <a16:colId xmlns:a16="http://schemas.microsoft.com/office/drawing/2014/main" val="7047845"/>
                    </a:ext>
                  </a:extLst>
                </a:gridCol>
              </a:tblGrid>
              <a:tr h="263711">
                <a:tc>
                  <a:txBody>
                    <a:bodyPr/>
                    <a:lstStyle/>
                    <a:p>
                      <a:r>
                        <a:rPr lang="en-US" sz="1100" dirty="0"/>
                        <a:t>Test</a:t>
                      </a:r>
                    </a:p>
                  </a:txBody>
                  <a:tcPr marL="68580" marR="68580" marT="34290" marB="34290">
                    <a:solidFill>
                      <a:schemeClr val="bg2"/>
                    </a:solidFill>
                  </a:tcPr>
                </a:tc>
                <a:tc>
                  <a:txBody>
                    <a:bodyPr/>
                    <a:lstStyle/>
                    <a:p>
                      <a:r>
                        <a:rPr lang="en-US" sz="1100" dirty="0"/>
                        <a:t>Type of Data</a:t>
                      </a:r>
                    </a:p>
                  </a:txBody>
                  <a:tcPr marL="68580" marR="68580" marT="34290" marB="34290">
                    <a:solidFill>
                      <a:schemeClr val="bg2"/>
                    </a:solidFill>
                  </a:tcPr>
                </a:tc>
                <a:tc>
                  <a:txBody>
                    <a:bodyPr/>
                    <a:lstStyle/>
                    <a:p>
                      <a:r>
                        <a:rPr lang="en-US" sz="1100" dirty="0"/>
                        <a:t>When to Use</a:t>
                      </a:r>
                    </a:p>
                  </a:txBody>
                  <a:tcPr marL="68580" marR="68580" marT="34290" marB="34290">
                    <a:solidFill>
                      <a:schemeClr val="bg2"/>
                    </a:solidFill>
                  </a:tcPr>
                </a:tc>
                <a:extLst>
                  <a:ext uri="{0D108BD9-81ED-4DB2-BD59-A6C34878D82A}">
                    <a16:rowId xmlns:a16="http://schemas.microsoft.com/office/drawing/2014/main" val="3167553140"/>
                  </a:ext>
                </a:extLst>
              </a:tr>
              <a:tr h="461495">
                <a:tc>
                  <a:txBody>
                    <a:bodyPr/>
                    <a:lstStyle/>
                    <a:p>
                      <a:r>
                        <a:rPr lang="en-US" sz="1100" dirty="0"/>
                        <a:t>Pearson’s correlation coefficient</a:t>
                      </a:r>
                    </a:p>
                  </a:txBody>
                  <a:tcPr marL="68580" marR="68580" marT="34290" marB="34290"/>
                </a:tc>
                <a:tc>
                  <a:txBody>
                    <a:bodyPr/>
                    <a:lstStyle/>
                    <a:p>
                      <a:r>
                        <a:rPr lang="en-US" sz="1100" dirty="0"/>
                        <a:t>Two continuous variables</a:t>
                      </a:r>
                    </a:p>
                  </a:txBody>
                  <a:tcPr marL="68580" marR="68580" marT="34290" marB="34290"/>
                </a:tc>
                <a:tc>
                  <a:txBody>
                    <a:bodyPr/>
                    <a:lstStyle/>
                    <a:p>
                      <a:r>
                        <a:rPr lang="en-US" sz="1100" dirty="0"/>
                        <a:t>Correlation analysis</a:t>
                      </a:r>
                    </a:p>
                  </a:txBody>
                  <a:tcPr marL="68580" marR="68580" marT="34290" marB="34290"/>
                </a:tc>
                <a:extLst>
                  <a:ext uri="{0D108BD9-81ED-4DB2-BD59-A6C34878D82A}">
                    <a16:rowId xmlns:a16="http://schemas.microsoft.com/office/drawing/2014/main" val="2475408901"/>
                  </a:ext>
                </a:extLst>
              </a:tr>
              <a:tr h="461495">
                <a:tc>
                  <a:txBody>
                    <a:bodyPr/>
                    <a:lstStyle/>
                    <a:p>
                      <a:r>
                        <a:rPr lang="en-US" sz="1100" dirty="0"/>
                        <a:t>One-sample t-test</a:t>
                      </a:r>
                    </a:p>
                  </a:txBody>
                  <a:tcPr marL="68580" marR="68580" marT="34290" marB="34290"/>
                </a:tc>
                <a:tc>
                  <a:txBody>
                    <a:bodyPr/>
                    <a:lstStyle/>
                    <a:p>
                      <a:r>
                        <a:rPr lang="en-US" sz="1100" dirty="0"/>
                        <a:t>Continuous</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When you have one group and are comparing it to an average</a:t>
                      </a:r>
                    </a:p>
                  </a:txBody>
                  <a:tcPr marL="68580" marR="68580" marT="34290" marB="34290"/>
                </a:tc>
                <a:extLst>
                  <a:ext uri="{0D108BD9-81ED-4DB2-BD59-A6C34878D82A}">
                    <a16:rowId xmlns:a16="http://schemas.microsoft.com/office/drawing/2014/main" val="1089560578"/>
                  </a:ext>
                </a:extLst>
              </a:tr>
              <a:tr h="325515">
                <a:tc>
                  <a:txBody>
                    <a:bodyPr/>
                    <a:lstStyle/>
                    <a:p>
                      <a:r>
                        <a:rPr lang="en-US" sz="1100" dirty="0"/>
                        <a:t>Independent t-test</a:t>
                      </a:r>
                    </a:p>
                  </a:txBody>
                  <a:tcPr marL="68580" marR="68580" marT="34290" marB="34290"/>
                </a:tc>
                <a:tc>
                  <a:txBody>
                    <a:bodyPr/>
                    <a:lstStyle/>
                    <a:p>
                      <a:r>
                        <a:rPr lang="en-US" sz="1100" dirty="0"/>
                        <a:t>Continuous </a:t>
                      </a:r>
                    </a:p>
                  </a:txBody>
                  <a:tcPr marL="68580" marR="68580" marT="34290" marB="34290"/>
                </a:tc>
                <a:tc>
                  <a:txBody>
                    <a:bodyPr/>
                    <a:lstStyle/>
                    <a:p>
                      <a:r>
                        <a:rPr lang="en-US" sz="1100" dirty="0"/>
                        <a:t>When you are comparing two separate groups</a:t>
                      </a:r>
                    </a:p>
                  </a:txBody>
                  <a:tcPr marL="68580" marR="68580" marT="34290" marB="34290"/>
                </a:tc>
                <a:extLst>
                  <a:ext uri="{0D108BD9-81ED-4DB2-BD59-A6C34878D82A}">
                    <a16:rowId xmlns:a16="http://schemas.microsoft.com/office/drawing/2014/main" val="1043388"/>
                  </a:ext>
                </a:extLst>
              </a:tr>
              <a:tr h="263711">
                <a:tc>
                  <a:txBody>
                    <a:bodyPr/>
                    <a:lstStyle/>
                    <a:p>
                      <a:r>
                        <a:rPr lang="en-US" sz="1100" dirty="0"/>
                        <a:t>Paired t-test</a:t>
                      </a:r>
                    </a:p>
                  </a:txBody>
                  <a:tcPr marL="68580" marR="68580" marT="34290" marB="34290"/>
                </a:tc>
                <a:tc>
                  <a:txBody>
                    <a:bodyPr/>
                    <a:lstStyle/>
                    <a:p>
                      <a:r>
                        <a:rPr lang="en-US" sz="1100" dirty="0"/>
                        <a:t>Continuous</a:t>
                      </a:r>
                    </a:p>
                  </a:txBody>
                  <a:tcPr marL="68580" marR="68580" marT="34290" marB="34290"/>
                </a:tc>
                <a:tc>
                  <a:txBody>
                    <a:bodyPr/>
                    <a:lstStyle/>
                    <a:p>
                      <a:r>
                        <a:rPr lang="en-US" sz="1100" dirty="0"/>
                        <a:t>When you are measuring one group twice</a:t>
                      </a:r>
                    </a:p>
                  </a:txBody>
                  <a:tcPr marL="68580" marR="68580" marT="34290" marB="34290"/>
                </a:tc>
                <a:extLst>
                  <a:ext uri="{0D108BD9-81ED-4DB2-BD59-A6C34878D82A}">
                    <a16:rowId xmlns:a16="http://schemas.microsoft.com/office/drawing/2014/main" val="1834719714"/>
                  </a:ext>
                </a:extLst>
              </a:tr>
              <a:tr h="461495">
                <a:tc>
                  <a:txBody>
                    <a:bodyPr/>
                    <a:lstStyle/>
                    <a:p>
                      <a:r>
                        <a:rPr lang="en-US" sz="1100" dirty="0"/>
                        <a:t>One-way ANOVA</a:t>
                      </a:r>
                    </a:p>
                  </a:txBody>
                  <a:tcPr marL="68580" marR="68580" marT="34290" marB="34290"/>
                </a:tc>
                <a:tc>
                  <a:txBody>
                    <a:bodyPr/>
                    <a:lstStyle/>
                    <a:p>
                      <a:r>
                        <a:rPr lang="en-US" sz="1100" dirty="0"/>
                        <a:t>Continuous</a:t>
                      </a:r>
                    </a:p>
                  </a:txBody>
                  <a:tcPr marL="68580" marR="68580" marT="34290" marB="34290"/>
                </a:tc>
                <a:tc>
                  <a:txBody>
                    <a:bodyPr/>
                    <a:lstStyle/>
                    <a:p>
                      <a:r>
                        <a:rPr lang="en-US" sz="1100" dirty="0"/>
                        <a:t>When you are analyzing the means of more than two groups</a:t>
                      </a:r>
                    </a:p>
                  </a:txBody>
                  <a:tcPr marL="68580" marR="68580" marT="34290" marB="34290"/>
                </a:tc>
                <a:extLst>
                  <a:ext uri="{0D108BD9-81ED-4DB2-BD59-A6C34878D82A}">
                    <a16:rowId xmlns:a16="http://schemas.microsoft.com/office/drawing/2014/main" val="2798670303"/>
                  </a:ext>
                </a:extLst>
              </a:tr>
              <a:tr h="659278">
                <a:tc>
                  <a:txBody>
                    <a:bodyPr/>
                    <a:lstStyle/>
                    <a:p>
                      <a:r>
                        <a:rPr lang="en-US" sz="1100" dirty="0"/>
                        <a:t>Two-way ANOVA</a:t>
                      </a:r>
                    </a:p>
                  </a:txBody>
                  <a:tcPr marL="68580" marR="68580" marT="34290" marB="34290"/>
                </a:tc>
                <a:tc>
                  <a:txBody>
                    <a:bodyPr/>
                    <a:lstStyle/>
                    <a:p>
                      <a:r>
                        <a:rPr lang="en-US" sz="1100" dirty="0"/>
                        <a:t>Continuous</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When you are analyzing the means of more than two groups and have two independent variables</a:t>
                      </a:r>
                    </a:p>
                  </a:txBody>
                  <a:tcPr marL="68580" marR="68580" marT="34290" marB="34290"/>
                </a:tc>
                <a:extLst>
                  <a:ext uri="{0D108BD9-81ED-4DB2-BD59-A6C34878D82A}">
                    <a16:rowId xmlns:a16="http://schemas.microsoft.com/office/drawing/2014/main" val="2067574843"/>
                  </a:ext>
                </a:extLst>
              </a:tr>
              <a:tr h="461495">
                <a:tc>
                  <a:txBody>
                    <a:bodyPr/>
                    <a:lstStyle/>
                    <a:p>
                      <a:r>
                        <a:rPr lang="en-US" sz="1100" dirty="0"/>
                        <a:t>Repeated Measures ANOVA</a:t>
                      </a:r>
                    </a:p>
                  </a:txBody>
                  <a:tcPr marL="68580" marR="68580" marT="34290" marB="34290"/>
                </a:tc>
                <a:tc>
                  <a:txBody>
                    <a:bodyPr/>
                    <a:lstStyle/>
                    <a:p>
                      <a:r>
                        <a:rPr lang="en-US" sz="1100" dirty="0"/>
                        <a:t>Continuous</a:t>
                      </a:r>
                    </a:p>
                  </a:txBody>
                  <a:tcPr marL="68580" marR="68580" marT="34290" marB="34290"/>
                </a:tc>
                <a:tc>
                  <a:txBody>
                    <a:bodyPr/>
                    <a:lstStyle/>
                    <a:p>
                      <a:r>
                        <a:rPr lang="en-US" sz="1100" dirty="0"/>
                        <a:t>When you are evaluating the same group at multiple time points</a:t>
                      </a:r>
                    </a:p>
                  </a:txBody>
                  <a:tcPr marL="68580" marR="68580" marT="34290" marB="34290"/>
                </a:tc>
                <a:extLst>
                  <a:ext uri="{0D108BD9-81ED-4DB2-BD59-A6C34878D82A}">
                    <a16:rowId xmlns:a16="http://schemas.microsoft.com/office/drawing/2014/main" val="1249629983"/>
                  </a:ext>
                </a:extLst>
              </a:tr>
              <a:tr h="263711">
                <a:tc>
                  <a:txBody>
                    <a:bodyPr/>
                    <a:lstStyle/>
                    <a:p>
                      <a:r>
                        <a:rPr lang="en-US" sz="1100" dirty="0"/>
                        <a:t>Linear regression</a:t>
                      </a:r>
                    </a:p>
                  </a:txBody>
                  <a:tcPr marL="68580" marR="68580" marT="34290" marB="34290"/>
                </a:tc>
                <a:tc>
                  <a:txBody>
                    <a:bodyPr/>
                    <a:lstStyle/>
                    <a:p>
                      <a:r>
                        <a:rPr lang="en-US" sz="1100" dirty="0"/>
                        <a:t>Continuous</a:t>
                      </a:r>
                    </a:p>
                  </a:txBody>
                  <a:tcPr marL="68580" marR="68580" marT="34290" marB="34290"/>
                </a:tc>
                <a:tc>
                  <a:txBody>
                    <a:bodyPr/>
                    <a:lstStyle/>
                    <a:p>
                      <a:r>
                        <a:rPr lang="en-US" sz="1100" dirty="0"/>
                        <a:t>Model relationships</a:t>
                      </a:r>
                    </a:p>
                  </a:txBody>
                  <a:tcPr marL="68580" marR="68580" marT="34290" marB="34290"/>
                </a:tc>
                <a:extLst>
                  <a:ext uri="{0D108BD9-81ED-4DB2-BD59-A6C34878D82A}">
                    <a16:rowId xmlns:a16="http://schemas.microsoft.com/office/drawing/2014/main" val="1644583552"/>
                  </a:ext>
                </a:extLst>
              </a:tr>
              <a:tr h="263711">
                <a:tc>
                  <a:txBody>
                    <a:bodyPr/>
                    <a:lstStyle/>
                    <a:p>
                      <a:r>
                        <a:rPr lang="en-US" sz="1100" dirty="0"/>
                        <a:t>Logistic regression</a:t>
                      </a:r>
                    </a:p>
                  </a:txBody>
                  <a:tcPr marL="68580" marR="68580" marT="34290" marB="34290"/>
                </a:tc>
                <a:tc>
                  <a:txBody>
                    <a:bodyPr/>
                    <a:lstStyle/>
                    <a:p>
                      <a:r>
                        <a:rPr lang="en-US" sz="1100" dirty="0"/>
                        <a:t>Binary </a:t>
                      </a:r>
                    </a:p>
                  </a:txBody>
                  <a:tcPr marL="68580" marR="68580" marT="34290" marB="34290"/>
                </a:tc>
                <a:tc>
                  <a:txBody>
                    <a:bodyPr/>
                    <a:lstStyle/>
                    <a:p>
                      <a:r>
                        <a:rPr lang="en-US" sz="1100" dirty="0"/>
                        <a:t>When you have binary/dichotomous variables</a:t>
                      </a:r>
                    </a:p>
                  </a:txBody>
                  <a:tcPr marL="68580" marR="68580" marT="34290" marB="34290"/>
                </a:tc>
                <a:extLst>
                  <a:ext uri="{0D108BD9-81ED-4DB2-BD59-A6C34878D82A}">
                    <a16:rowId xmlns:a16="http://schemas.microsoft.com/office/drawing/2014/main" val="1852976022"/>
                  </a:ext>
                </a:extLst>
              </a:tr>
              <a:tr h="263711">
                <a:tc>
                  <a:txBody>
                    <a:bodyPr/>
                    <a:lstStyle/>
                    <a:p>
                      <a:r>
                        <a:rPr lang="en-US" sz="1100" dirty="0"/>
                        <a:t>Chi-square test</a:t>
                      </a:r>
                    </a:p>
                  </a:txBody>
                  <a:tcPr marL="68580" marR="68580" marT="34290" marB="34290"/>
                </a:tc>
                <a:tc>
                  <a:txBody>
                    <a:bodyPr/>
                    <a:lstStyle/>
                    <a:p>
                      <a:r>
                        <a:rPr lang="en-US" sz="1100" dirty="0"/>
                        <a:t>Categorical</a:t>
                      </a:r>
                    </a:p>
                  </a:txBody>
                  <a:tcPr marL="68580" marR="68580" marT="34290" marB="34290"/>
                </a:tc>
                <a:tc>
                  <a:txBody>
                    <a:bodyPr/>
                    <a:lstStyle/>
                    <a:p>
                      <a:r>
                        <a:rPr lang="en-US" sz="1100" dirty="0"/>
                        <a:t>Comparing proportions</a:t>
                      </a:r>
                    </a:p>
                  </a:txBody>
                  <a:tcPr marL="68580" marR="68580" marT="34290" marB="34290"/>
                </a:tc>
                <a:extLst>
                  <a:ext uri="{0D108BD9-81ED-4DB2-BD59-A6C34878D82A}">
                    <a16:rowId xmlns:a16="http://schemas.microsoft.com/office/drawing/2014/main" val="207273503"/>
                  </a:ext>
                </a:extLst>
              </a:tr>
            </a:tbl>
          </a:graphicData>
        </a:graphic>
      </p:graphicFrame>
    </p:spTree>
    <p:extLst>
      <p:ext uri="{BB962C8B-B14F-4D97-AF65-F5344CB8AC3E}">
        <p14:creationId xmlns:p14="http://schemas.microsoft.com/office/powerpoint/2010/main" val="304703087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98A4139-6BA3-6361-10A4-9C36F47DCED9}"/>
              </a:ext>
            </a:extLst>
          </p:cNvPr>
          <p:cNvSpPr>
            <a:spLocks noGrp="1"/>
          </p:cNvSpPr>
          <p:nvPr>
            <p:ph type="title"/>
          </p:nvPr>
        </p:nvSpPr>
        <p:spPr>
          <a:xfrm>
            <a:off x="679268" y="365760"/>
            <a:ext cx="8153031" cy="651965"/>
          </a:xfrm>
        </p:spPr>
        <p:txBody>
          <a:bodyPr/>
          <a:lstStyle/>
          <a:p>
            <a:r>
              <a:rPr lang="en-US" dirty="0">
                <a:solidFill>
                  <a:schemeClr val="accent1"/>
                </a:solidFill>
                <a:latin typeface="Arial" panose="020B0604020202020204" pitchFamily="34" charset="0"/>
                <a:cs typeface="Arial" panose="020B0604020202020204" pitchFamily="34" charset="0"/>
              </a:rPr>
              <a:t>References</a:t>
            </a:r>
          </a:p>
        </p:txBody>
      </p:sp>
      <p:sp>
        <p:nvSpPr>
          <p:cNvPr id="2" name="Text Placeholder 1">
            <a:extLst>
              <a:ext uri="{FF2B5EF4-FFF2-40B4-BE49-F238E27FC236}">
                <a16:creationId xmlns:a16="http://schemas.microsoft.com/office/drawing/2014/main" id="{41E5E5DA-7193-9BB3-FDDB-C037D3FEBF62}"/>
              </a:ext>
            </a:extLst>
          </p:cNvPr>
          <p:cNvSpPr>
            <a:spLocks noGrp="1"/>
          </p:cNvSpPr>
          <p:nvPr>
            <p:ph idx="1"/>
          </p:nvPr>
        </p:nvSpPr>
        <p:spPr>
          <a:xfrm>
            <a:off x="679268" y="1152475"/>
            <a:ext cx="7872549" cy="3416400"/>
          </a:xfrm>
        </p:spPr>
        <p:txBody>
          <a:bodyPr/>
          <a:lstStyle/>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Aguinis, H., Vassar, M., &amp; Wayant, C. (2019). On reporting and interpreting statistical significance and P values in medical research. </a:t>
            </a:r>
            <a:r>
              <a:rPr lang="en-US" sz="1100" b="0" i="1" u="none" strike="noStrike" dirty="0">
                <a:solidFill>
                  <a:srgbClr val="000000"/>
                </a:solidFill>
                <a:effectLst/>
                <a:latin typeface="Arial" panose="020B0604020202020204" pitchFamily="34" charset="0"/>
                <a:cs typeface="Arial" panose="020B0604020202020204" pitchFamily="34" charset="0"/>
              </a:rPr>
              <a:t>BMJ Evidence-Based Medicine</a:t>
            </a:r>
            <a:r>
              <a:rPr lang="en-US" sz="1100" b="0" i="0" u="none" strike="noStrike" dirty="0">
                <a:solidFill>
                  <a:srgbClr val="000000"/>
                </a:solidFill>
                <a:effectLst/>
                <a:latin typeface="Arial" panose="020B0604020202020204" pitchFamily="34" charset="0"/>
                <a:cs typeface="Arial" panose="020B0604020202020204" pitchFamily="34" charset="0"/>
              </a:rPr>
              <a:t>, </a:t>
            </a:r>
            <a:r>
              <a:rPr lang="en-US" sz="1100" b="0" i="1" u="none" strike="noStrike" dirty="0">
                <a:solidFill>
                  <a:srgbClr val="000000"/>
                </a:solidFill>
                <a:effectLst/>
                <a:latin typeface="Arial" panose="020B0604020202020204" pitchFamily="34" charset="0"/>
                <a:cs typeface="Arial" panose="020B0604020202020204" pitchFamily="34" charset="0"/>
              </a:rPr>
              <a:t>26</a:t>
            </a:r>
            <a:r>
              <a:rPr lang="en-US" sz="1100" b="0" i="0" u="none" strike="noStrike" dirty="0">
                <a:solidFill>
                  <a:srgbClr val="000000"/>
                </a:solidFill>
                <a:effectLst/>
                <a:latin typeface="Arial" panose="020B0604020202020204" pitchFamily="34" charset="0"/>
                <a:cs typeface="Arial" panose="020B0604020202020204" pitchFamily="34" charset="0"/>
              </a:rPr>
              <a:t>(2), 39–42. https://doi.org/10.1136/bmjebm-2019-111264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Buderer, N. M., &amp; Brannan, G. (2024, May 19). </a:t>
            </a:r>
            <a:r>
              <a:rPr lang="en-US" sz="1100" b="0" i="1" u="none" strike="noStrike" dirty="0">
                <a:solidFill>
                  <a:srgbClr val="000000"/>
                </a:solidFill>
                <a:effectLst/>
                <a:latin typeface="Arial" panose="020B0604020202020204" pitchFamily="34" charset="0"/>
                <a:cs typeface="Arial" panose="020B0604020202020204" pitchFamily="34" charset="0"/>
              </a:rPr>
              <a:t>Comparing the means of independent groups: ANOVA, Ancova, MANOVA, and Mancova</a:t>
            </a:r>
            <a:r>
              <a:rPr lang="en-US" sz="1100" b="0" i="0" u="none" strike="noStrike" dirty="0">
                <a:solidFill>
                  <a:srgbClr val="000000"/>
                </a:solidFill>
                <a:effectLst/>
                <a:latin typeface="Arial" panose="020B0604020202020204" pitchFamily="34" charset="0"/>
                <a:cs typeface="Arial" panose="020B0604020202020204" pitchFamily="34" charset="0"/>
              </a:rPr>
              <a:t>. StatPearls [Internet]. https://www.ncbi.nlm.nih.gov/sites/books/NBK606084/  </a:t>
            </a:r>
          </a:p>
          <a:p>
            <a:pPr algn="l">
              <a:buSzPct val="127000"/>
            </a:pPr>
            <a:r>
              <a:rPr lang="en-US" sz="1100" b="0" i="1" u="none" strike="noStrike" dirty="0">
                <a:solidFill>
                  <a:srgbClr val="000000"/>
                </a:solidFill>
                <a:effectLst/>
                <a:latin typeface="Arial" panose="020B0604020202020204" pitchFamily="34" charset="0"/>
                <a:cs typeface="Arial" panose="020B0604020202020204" pitchFamily="34" charset="0"/>
              </a:rPr>
              <a:t>The Chi squared tests</a:t>
            </a:r>
            <a:r>
              <a:rPr lang="en-US" sz="1100" b="0" i="0" u="none" strike="noStrike" dirty="0">
                <a:solidFill>
                  <a:srgbClr val="000000"/>
                </a:solidFill>
                <a:effectLst/>
                <a:latin typeface="Arial" panose="020B0604020202020204" pitchFamily="34" charset="0"/>
                <a:cs typeface="Arial" panose="020B0604020202020204" pitchFamily="34" charset="0"/>
              </a:rPr>
              <a:t>. The BMJ. (2021, April 12). https://www.bmj.com/about-bmj/resources-readers/publications/statistics-square-one/8-chi-squared-tests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Faizi, N., &amp; Alvi, Y. (2023). Correlation. </a:t>
            </a:r>
            <a:r>
              <a:rPr lang="en-US" sz="1100" b="0" i="1" u="none" strike="noStrike" dirty="0">
                <a:solidFill>
                  <a:srgbClr val="000000"/>
                </a:solidFill>
                <a:effectLst/>
                <a:latin typeface="Arial" panose="020B0604020202020204" pitchFamily="34" charset="0"/>
                <a:cs typeface="Arial" panose="020B0604020202020204" pitchFamily="34" charset="0"/>
              </a:rPr>
              <a:t>Biostatistics Manual for Health Research</a:t>
            </a:r>
            <a:r>
              <a:rPr lang="en-US" sz="1100" b="0" i="0" u="none" strike="noStrike" dirty="0">
                <a:solidFill>
                  <a:srgbClr val="000000"/>
                </a:solidFill>
                <a:effectLst/>
                <a:latin typeface="Arial" panose="020B0604020202020204" pitchFamily="34" charset="0"/>
                <a:cs typeface="Arial" panose="020B0604020202020204" pitchFamily="34" charset="0"/>
              </a:rPr>
              <a:t>, 109–126. https://doi.org/10.1016/b978-0-443-18550-2.00002-5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Government of Canada. (2021, September 2). </a:t>
            </a:r>
            <a:r>
              <a:rPr lang="en-US" sz="1100" b="0" i="1" u="none" strike="noStrike" dirty="0">
                <a:solidFill>
                  <a:srgbClr val="000000"/>
                </a:solidFill>
                <a:effectLst/>
                <a:latin typeface="Arial" panose="020B0604020202020204" pitchFamily="34" charset="0"/>
                <a:cs typeface="Arial" panose="020B0604020202020204" pitchFamily="34" charset="0"/>
              </a:rPr>
              <a:t>Measures of Dispersion</a:t>
            </a:r>
            <a:r>
              <a:rPr lang="en-US" sz="1100" b="0" i="0" u="none" strike="noStrike" dirty="0">
                <a:solidFill>
                  <a:srgbClr val="000000"/>
                </a:solidFill>
                <a:effectLst/>
                <a:latin typeface="Arial" panose="020B0604020202020204" pitchFamily="34" charset="0"/>
                <a:cs typeface="Arial" panose="020B0604020202020204" pitchFamily="34" charset="0"/>
              </a:rPr>
              <a:t>. Statistics Canada. https://www150.statcan.gc.ca/n1/edu/power-pouvoir/ch12/5214891-eng.htm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Green, J. L., Manski, S. E., Hansen, T. A., &amp; Broatch, J. E. (2023). Descriptive statistics. </a:t>
            </a:r>
            <a:r>
              <a:rPr lang="en-US" sz="1100" b="0" i="1" u="none" strike="noStrike" dirty="0">
                <a:solidFill>
                  <a:srgbClr val="000000"/>
                </a:solidFill>
                <a:effectLst/>
                <a:latin typeface="Arial" panose="020B0604020202020204" pitchFamily="34" charset="0"/>
                <a:cs typeface="Arial" panose="020B0604020202020204" pitchFamily="34" charset="0"/>
              </a:rPr>
              <a:t>International Encyclopedia of Education(Fourth Edition)</a:t>
            </a:r>
            <a:r>
              <a:rPr lang="en-US" sz="1100" b="0" i="0" u="none" strike="noStrike" dirty="0">
                <a:solidFill>
                  <a:srgbClr val="000000"/>
                </a:solidFill>
                <a:effectLst/>
                <a:latin typeface="Arial" panose="020B0604020202020204" pitchFamily="34" charset="0"/>
                <a:cs typeface="Arial" panose="020B0604020202020204" pitchFamily="34" charset="0"/>
              </a:rPr>
              <a:t>, 723–733. https://doi.org/10.1016/b978-0-12-818630-5.10083-1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Guo, L., &amp; Zhang, S. (2017). Association between Ideal Cardiovascular Health Metrics and risk of cardiovascular events or mortality: A meta‐analysis of prospective studies. </a:t>
            </a:r>
            <a:r>
              <a:rPr lang="en-US" sz="1100" b="0" i="1" u="none" strike="noStrike" dirty="0">
                <a:solidFill>
                  <a:srgbClr val="000000"/>
                </a:solidFill>
                <a:effectLst/>
                <a:latin typeface="Arial" panose="020B0604020202020204" pitchFamily="34" charset="0"/>
                <a:cs typeface="Arial" panose="020B0604020202020204" pitchFamily="34" charset="0"/>
              </a:rPr>
              <a:t>Clinical Cardiology</a:t>
            </a:r>
            <a:r>
              <a:rPr lang="en-US" sz="1100" b="0" i="0" u="none" strike="noStrike" dirty="0">
                <a:solidFill>
                  <a:srgbClr val="000000"/>
                </a:solidFill>
                <a:effectLst/>
                <a:latin typeface="Arial" panose="020B0604020202020204" pitchFamily="34" charset="0"/>
                <a:cs typeface="Arial" panose="020B0604020202020204" pitchFamily="34" charset="0"/>
              </a:rPr>
              <a:t>, </a:t>
            </a:r>
            <a:r>
              <a:rPr lang="en-US" sz="1100" b="0" i="1" u="none" strike="noStrike" dirty="0">
                <a:solidFill>
                  <a:srgbClr val="000000"/>
                </a:solidFill>
                <a:effectLst/>
                <a:latin typeface="Arial" panose="020B0604020202020204" pitchFamily="34" charset="0"/>
                <a:cs typeface="Arial" panose="020B0604020202020204" pitchFamily="34" charset="0"/>
              </a:rPr>
              <a:t>40</a:t>
            </a:r>
            <a:r>
              <a:rPr lang="en-US" sz="1100" b="0" i="0" u="none" strike="noStrike" dirty="0">
                <a:solidFill>
                  <a:srgbClr val="000000"/>
                </a:solidFill>
                <a:effectLst/>
                <a:latin typeface="Arial" panose="020B0604020202020204" pitchFamily="34" charset="0"/>
                <a:cs typeface="Arial" panose="020B0604020202020204" pitchFamily="34" charset="0"/>
              </a:rPr>
              <a:t>(12), 1339–1346. https://doi.org/10.1002/clc.22836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Holt, M. (2022). </a:t>
            </a:r>
            <a:r>
              <a:rPr lang="en-US" sz="1100" b="0" i="1" u="none" strike="noStrike" dirty="0">
                <a:solidFill>
                  <a:srgbClr val="000000"/>
                </a:solidFill>
                <a:effectLst/>
                <a:latin typeface="Arial" panose="020B0604020202020204" pitchFamily="34" charset="0"/>
                <a:cs typeface="Arial" panose="020B0604020202020204" pitchFamily="34" charset="0"/>
              </a:rPr>
              <a:t>Statistical dispersion</a:t>
            </a:r>
            <a:r>
              <a:rPr lang="en-US" sz="1100" b="0" i="0" u="none" strike="noStrike" dirty="0">
                <a:solidFill>
                  <a:srgbClr val="000000"/>
                </a:solidFill>
                <a:effectLst/>
                <a:latin typeface="Arial" panose="020B0604020202020204" pitchFamily="34" charset="0"/>
                <a:cs typeface="Arial" panose="020B0604020202020204" pitchFamily="34" charset="0"/>
              </a:rPr>
              <a:t>. EBSCO. https://www.ebsco.com/research-starters/science/statistical-dispersion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Kotronoulas, G., Miguel, S., Dowling, M., Fernández-Ortega, P., Colomer-Lahiguera, S., Bağçivan, G., Pape, E., Drury, A., Semple, C., Dieperink, K. B., &amp; Papadopoulou, C. (2023). An overview of the fundamentals of data management, analysis, and Interpretation in Quantitative Research. </a:t>
            </a:r>
            <a:r>
              <a:rPr lang="en-US" sz="1100" b="0" i="1" u="none" strike="noStrike" dirty="0">
                <a:solidFill>
                  <a:srgbClr val="000000"/>
                </a:solidFill>
                <a:effectLst/>
                <a:latin typeface="Arial" panose="020B0604020202020204" pitchFamily="34" charset="0"/>
                <a:cs typeface="Arial" panose="020B0604020202020204" pitchFamily="34" charset="0"/>
              </a:rPr>
              <a:t>Seminars in Oncology Nursing</a:t>
            </a:r>
            <a:r>
              <a:rPr lang="en-US" sz="1100" b="0" i="0" u="none" strike="noStrike" dirty="0">
                <a:solidFill>
                  <a:srgbClr val="000000"/>
                </a:solidFill>
                <a:effectLst/>
                <a:latin typeface="Arial" panose="020B0604020202020204" pitchFamily="34" charset="0"/>
                <a:cs typeface="Arial" panose="020B0604020202020204" pitchFamily="34" charset="0"/>
              </a:rPr>
              <a:t>, </a:t>
            </a:r>
            <a:r>
              <a:rPr lang="en-US" sz="1100" b="0" i="1" u="none" strike="noStrike" dirty="0">
                <a:solidFill>
                  <a:srgbClr val="000000"/>
                </a:solidFill>
                <a:effectLst/>
                <a:latin typeface="Arial" panose="020B0604020202020204" pitchFamily="34" charset="0"/>
                <a:cs typeface="Arial" panose="020B0604020202020204" pitchFamily="34" charset="0"/>
              </a:rPr>
              <a:t>39</a:t>
            </a:r>
            <a:r>
              <a:rPr lang="en-US" sz="1100" b="0" i="0" u="none" strike="noStrike" dirty="0">
                <a:solidFill>
                  <a:srgbClr val="000000"/>
                </a:solidFill>
                <a:effectLst/>
                <a:latin typeface="Arial" panose="020B0604020202020204" pitchFamily="34" charset="0"/>
                <a:cs typeface="Arial" panose="020B0604020202020204" pitchFamily="34" charset="0"/>
              </a:rPr>
              <a:t>(2), 151398. https://doi.org/10.1016/j.soncn.2023.151398  </a:t>
            </a:r>
          </a:p>
          <a:p>
            <a:pPr marL="139700" indent="0">
              <a:buSzPct val="127000"/>
              <a:buNone/>
            </a:pPr>
            <a:endParaRPr lang="en-US" dirty="0"/>
          </a:p>
        </p:txBody>
      </p:sp>
    </p:spTree>
    <p:extLst>
      <p:ext uri="{BB962C8B-B14F-4D97-AF65-F5344CB8AC3E}">
        <p14:creationId xmlns:p14="http://schemas.microsoft.com/office/powerpoint/2010/main" val="14380743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6CB2-D9B0-816A-C15D-3DC34703697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F3722E9-B879-2781-DA56-4997D4B91969}"/>
              </a:ext>
            </a:extLst>
          </p:cNvPr>
          <p:cNvSpPr>
            <a:spLocks noGrp="1"/>
          </p:cNvSpPr>
          <p:nvPr>
            <p:ph type="title"/>
          </p:nvPr>
        </p:nvSpPr>
        <p:spPr>
          <a:xfrm>
            <a:off x="679268" y="374469"/>
            <a:ext cx="8153031" cy="643256"/>
          </a:xfrm>
        </p:spPr>
        <p:txBody>
          <a:bodyPr/>
          <a:lstStyle/>
          <a:p>
            <a:r>
              <a:rPr lang="en-US" dirty="0">
                <a:solidFill>
                  <a:schemeClr val="accent1"/>
                </a:solidFill>
                <a:latin typeface="Arial" panose="020B0604020202020204" pitchFamily="34" charset="0"/>
                <a:cs typeface="Arial" panose="020B0604020202020204" pitchFamily="34" charset="0"/>
              </a:rPr>
              <a:t>References</a:t>
            </a:r>
          </a:p>
        </p:txBody>
      </p:sp>
      <p:sp>
        <p:nvSpPr>
          <p:cNvPr id="2" name="Text Placeholder 1">
            <a:extLst>
              <a:ext uri="{FF2B5EF4-FFF2-40B4-BE49-F238E27FC236}">
                <a16:creationId xmlns:a16="http://schemas.microsoft.com/office/drawing/2014/main" id="{24AD34DD-0251-901F-7463-4C2635148B8C}"/>
              </a:ext>
            </a:extLst>
          </p:cNvPr>
          <p:cNvSpPr>
            <a:spLocks noGrp="1"/>
          </p:cNvSpPr>
          <p:nvPr>
            <p:ph idx="1"/>
          </p:nvPr>
        </p:nvSpPr>
        <p:spPr>
          <a:xfrm>
            <a:off x="679268" y="1152475"/>
            <a:ext cx="7872549" cy="3416400"/>
          </a:xfrm>
        </p:spPr>
        <p:txBody>
          <a:bodyPr/>
          <a:lstStyle/>
          <a:p>
            <a:pPr algn="l">
              <a:buSzPct val="127000"/>
            </a:pPr>
            <a:r>
              <a:rPr lang="en-US" sz="1100" b="0" i="0" u="none" strike="noStrike" dirty="0" err="1">
                <a:solidFill>
                  <a:srgbClr val="000000"/>
                </a:solidFill>
                <a:effectLst/>
                <a:latin typeface="Arial" panose="020B0604020202020204" pitchFamily="34" charset="0"/>
                <a:cs typeface="Arial" panose="020B0604020202020204" pitchFamily="34" charset="0"/>
              </a:rPr>
              <a:t>LibreTexts</a:t>
            </a:r>
            <a:r>
              <a:rPr lang="en-US" sz="1100" b="0" i="0" u="none" strike="noStrike" dirty="0">
                <a:solidFill>
                  <a:srgbClr val="000000"/>
                </a:solidFill>
                <a:effectLst/>
                <a:latin typeface="Arial" panose="020B0604020202020204" pitchFamily="34" charset="0"/>
                <a:cs typeface="Arial" panose="020B0604020202020204" pitchFamily="34" charset="0"/>
              </a:rPr>
              <a:t>. (2020, August 11). </a:t>
            </a:r>
            <a:r>
              <a:rPr lang="en-US" sz="1100" b="0" i="1" u="none" strike="noStrike" dirty="0">
                <a:solidFill>
                  <a:srgbClr val="000000"/>
                </a:solidFill>
                <a:effectLst/>
                <a:latin typeface="Arial" panose="020B0604020202020204" pitchFamily="34" charset="0"/>
                <a:cs typeface="Arial" panose="020B0604020202020204" pitchFamily="34" charset="0"/>
              </a:rPr>
              <a:t>Measures of location</a:t>
            </a:r>
            <a:r>
              <a:rPr lang="en-US" sz="1100" b="0" i="0" u="none" strike="noStrike" dirty="0">
                <a:solidFill>
                  <a:srgbClr val="000000"/>
                </a:solidFill>
                <a:effectLst/>
                <a:latin typeface="Arial" panose="020B0604020202020204" pitchFamily="34" charset="0"/>
                <a:cs typeface="Arial" panose="020B0604020202020204" pitchFamily="34" charset="0"/>
              </a:rPr>
              <a:t>. Statistics LibreTexts. https://stats.libretexts.org/Courses/Las_Positas_College/Math_40%3A_Statistics_and_Probability/03%3A_Data_Description/3.03%3A_Measures_of_Position/3.3.01%3A_Measures_of_Location-_Deciles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Marshall, G., &amp; Jonker, L. (2011). An introduction to inferential statistics: A review and practical guide. </a:t>
            </a:r>
            <a:r>
              <a:rPr lang="en-US" sz="1100" b="0" i="1" u="none" strike="noStrike" dirty="0">
                <a:solidFill>
                  <a:srgbClr val="000000"/>
                </a:solidFill>
                <a:effectLst/>
                <a:latin typeface="Arial" panose="020B0604020202020204" pitchFamily="34" charset="0"/>
                <a:cs typeface="Arial" panose="020B0604020202020204" pitchFamily="34" charset="0"/>
              </a:rPr>
              <a:t>Radiography</a:t>
            </a:r>
            <a:r>
              <a:rPr lang="en-US" sz="1100" b="0" i="0" u="none" strike="noStrike" dirty="0">
                <a:solidFill>
                  <a:srgbClr val="000000"/>
                </a:solidFill>
                <a:effectLst/>
                <a:latin typeface="Arial" panose="020B0604020202020204" pitchFamily="34" charset="0"/>
                <a:cs typeface="Arial" panose="020B0604020202020204" pitchFamily="34" charset="0"/>
              </a:rPr>
              <a:t>, </a:t>
            </a:r>
            <a:r>
              <a:rPr lang="en-US" sz="1100" b="0" i="1" u="none" strike="noStrike" dirty="0">
                <a:solidFill>
                  <a:srgbClr val="000000"/>
                </a:solidFill>
                <a:effectLst/>
                <a:latin typeface="Arial" panose="020B0604020202020204" pitchFamily="34" charset="0"/>
                <a:cs typeface="Arial" panose="020B0604020202020204" pitchFamily="34" charset="0"/>
              </a:rPr>
              <a:t>17</a:t>
            </a:r>
            <a:r>
              <a:rPr lang="en-US" sz="1100" b="0" i="0" u="none" strike="noStrike" dirty="0">
                <a:solidFill>
                  <a:srgbClr val="000000"/>
                </a:solidFill>
                <a:effectLst/>
                <a:latin typeface="Arial" panose="020B0604020202020204" pitchFamily="34" charset="0"/>
                <a:cs typeface="Arial" panose="020B0604020202020204" pitchFamily="34" charset="0"/>
              </a:rPr>
              <a:t>(1). https://doi.org/10.1016/j.radi.2009.12.006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McDermid, R. (2021). Statistics in medicine. </a:t>
            </a:r>
            <a:r>
              <a:rPr lang="en-US" sz="1100" b="0" i="1" u="none" strike="noStrike" dirty="0" err="1">
                <a:solidFill>
                  <a:srgbClr val="000000"/>
                </a:solidFill>
                <a:effectLst/>
                <a:latin typeface="Arial" panose="020B0604020202020204" pitchFamily="34" charset="0"/>
                <a:cs typeface="Arial" panose="020B0604020202020204" pitchFamily="34" charset="0"/>
              </a:rPr>
              <a:t>Anaesthesia</a:t>
            </a:r>
            <a:r>
              <a:rPr lang="en-US" sz="1100" b="0" i="1" u="none" strike="noStrike" dirty="0">
                <a:solidFill>
                  <a:srgbClr val="000000"/>
                </a:solidFill>
                <a:effectLst/>
                <a:latin typeface="Arial" panose="020B0604020202020204" pitchFamily="34" charset="0"/>
                <a:cs typeface="Arial" panose="020B0604020202020204" pitchFamily="34" charset="0"/>
              </a:rPr>
              <a:t> &amp; Intensive Care Medicine</a:t>
            </a:r>
            <a:r>
              <a:rPr lang="en-US" sz="1100" b="0" i="0" u="none" strike="noStrike" dirty="0">
                <a:solidFill>
                  <a:srgbClr val="000000"/>
                </a:solidFill>
                <a:effectLst/>
                <a:latin typeface="Arial" panose="020B0604020202020204" pitchFamily="34" charset="0"/>
                <a:cs typeface="Arial" panose="020B0604020202020204" pitchFamily="34" charset="0"/>
              </a:rPr>
              <a:t>, </a:t>
            </a:r>
            <a:r>
              <a:rPr lang="en-US" sz="1100" b="0" i="1" u="none" strike="noStrike" dirty="0">
                <a:solidFill>
                  <a:srgbClr val="000000"/>
                </a:solidFill>
                <a:effectLst/>
                <a:latin typeface="Arial" panose="020B0604020202020204" pitchFamily="34" charset="0"/>
                <a:cs typeface="Arial" panose="020B0604020202020204" pitchFamily="34" charset="0"/>
              </a:rPr>
              <a:t>22</a:t>
            </a:r>
            <a:r>
              <a:rPr lang="en-US" sz="1100" b="0" i="0" u="none" strike="noStrike" dirty="0">
                <a:solidFill>
                  <a:srgbClr val="000000"/>
                </a:solidFill>
                <a:effectLst/>
                <a:latin typeface="Arial" panose="020B0604020202020204" pitchFamily="34" charset="0"/>
                <a:cs typeface="Arial" panose="020B0604020202020204" pitchFamily="34" charset="0"/>
              </a:rPr>
              <a:t>(7), 454–462. https://doi.org/10.1016/j.mpaic.2021.05.009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McHugh, M. L. (2013). The chi-square test of Independence. </a:t>
            </a:r>
            <a:r>
              <a:rPr lang="en-US" sz="1100" b="0" i="1" u="none" strike="noStrike" dirty="0">
                <a:solidFill>
                  <a:srgbClr val="000000"/>
                </a:solidFill>
                <a:effectLst/>
                <a:latin typeface="Arial" panose="020B0604020202020204" pitchFamily="34" charset="0"/>
                <a:cs typeface="Arial" panose="020B0604020202020204" pitchFamily="34" charset="0"/>
              </a:rPr>
              <a:t>Biochemia Medica</a:t>
            </a:r>
            <a:r>
              <a:rPr lang="en-US" sz="1100" b="0" i="0" u="none" strike="noStrike" dirty="0">
                <a:solidFill>
                  <a:srgbClr val="000000"/>
                </a:solidFill>
                <a:effectLst/>
                <a:latin typeface="Arial" panose="020B0604020202020204" pitchFamily="34" charset="0"/>
                <a:cs typeface="Arial" panose="020B0604020202020204" pitchFamily="34" charset="0"/>
              </a:rPr>
              <a:t>, 143–149. https://doi.org/10.11613/bm.2013.018  </a:t>
            </a:r>
          </a:p>
          <a:p>
            <a:pPr algn="l">
              <a:buSzPct val="127000"/>
            </a:pPr>
            <a:r>
              <a:rPr lang="en-US" sz="1100" b="0" i="1" u="none" strike="noStrike" dirty="0">
                <a:solidFill>
                  <a:srgbClr val="000000"/>
                </a:solidFill>
                <a:effectLst/>
                <a:latin typeface="Arial" panose="020B0604020202020204" pitchFamily="34" charset="0"/>
                <a:cs typeface="Arial" panose="020B0604020202020204" pitchFamily="34" charset="0"/>
              </a:rPr>
              <a:t>Measures of central tendency</a:t>
            </a:r>
            <a:r>
              <a:rPr lang="en-US" sz="1100" b="0" i="0" u="none" strike="noStrike" dirty="0">
                <a:solidFill>
                  <a:srgbClr val="000000"/>
                </a:solidFill>
                <a:effectLst/>
                <a:latin typeface="Arial" panose="020B0604020202020204" pitchFamily="34" charset="0"/>
                <a:cs typeface="Arial" panose="020B0604020202020204" pitchFamily="34" charset="0"/>
              </a:rPr>
              <a:t>. Australian Bureau of Statistics. (n.d.-a). https://www.abs.gov.au/statistics/understanding-statistics/statistical-terms-and-concepts/measures-central-tendency  </a:t>
            </a:r>
          </a:p>
          <a:p>
            <a:pPr algn="l">
              <a:buSzPct val="127000"/>
            </a:pPr>
            <a:r>
              <a:rPr lang="en-US" sz="1100" b="0" i="1" u="none" strike="noStrike" dirty="0">
                <a:solidFill>
                  <a:srgbClr val="000000"/>
                </a:solidFill>
                <a:effectLst/>
                <a:latin typeface="Arial" panose="020B0604020202020204" pitchFamily="34" charset="0"/>
                <a:cs typeface="Arial" panose="020B0604020202020204" pitchFamily="34" charset="0"/>
              </a:rPr>
              <a:t>Measures of shape</a:t>
            </a:r>
            <a:r>
              <a:rPr lang="en-US" sz="1100" b="0" i="0" u="none" strike="noStrike" dirty="0">
                <a:solidFill>
                  <a:srgbClr val="000000"/>
                </a:solidFill>
                <a:effectLst/>
                <a:latin typeface="Arial" panose="020B0604020202020204" pitchFamily="34" charset="0"/>
                <a:cs typeface="Arial" panose="020B0604020202020204" pitchFamily="34" charset="0"/>
              </a:rPr>
              <a:t>. Australian Bureau of Statistics. (n.d.-b). https://www.abs.gov.au/statistics/understanding-statistics/statistical-terms-and-concepts/measures-shape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Mohr, D. L., Wilson, W. J., &amp; Freund, R. J. (2022). Linear regression. </a:t>
            </a:r>
            <a:r>
              <a:rPr lang="en-US" sz="1100" b="0" i="1" u="none" strike="noStrike" dirty="0">
                <a:solidFill>
                  <a:srgbClr val="000000"/>
                </a:solidFill>
                <a:effectLst/>
                <a:latin typeface="Arial" panose="020B0604020202020204" pitchFamily="34" charset="0"/>
                <a:cs typeface="Arial" panose="020B0604020202020204" pitchFamily="34" charset="0"/>
              </a:rPr>
              <a:t>Statistical Methods</a:t>
            </a:r>
            <a:r>
              <a:rPr lang="en-US" sz="1100" b="0" i="0" u="none" strike="noStrike" dirty="0">
                <a:solidFill>
                  <a:srgbClr val="000000"/>
                </a:solidFill>
                <a:effectLst/>
                <a:latin typeface="Arial" panose="020B0604020202020204" pitchFamily="34" charset="0"/>
                <a:cs typeface="Arial" panose="020B0604020202020204" pitchFamily="34" charset="0"/>
              </a:rPr>
              <a:t>, 301–349. https://doi.org/10.1016/b978-0-12-823043-5.00007-2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National Institutes of Health. (n.d.). </a:t>
            </a:r>
            <a:r>
              <a:rPr lang="en-US" sz="1100" b="0" i="1" u="none" strike="noStrike" dirty="0">
                <a:solidFill>
                  <a:srgbClr val="000000"/>
                </a:solidFill>
                <a:effectLst/>
                <a:latin typeface="Arial" panose="020B0604020202020204" pitchFamily="34" charset="0"/>
                <a:cs typeface="Arial" panose="020B0604020202020204" pitchFamily="34" charset="0"/>
              </a:rPr>
              <a:t>Finding and using health statistics</a:t>
            </a:r>
            <a:r>
              <a:rPr lang="en-US" sz="1100" b="0" i="0" u="none" strike="noStrike" dirty="0">
                <a:solidFill>
                  <a:srgbClr val="000000"/>
                </a:solidFill>
                <a:effectLst/>
                <a:latin typeface="Arial" panose="020B0604020202020204" pitchFamily="34" charset="0"/>
                <a:cs typeface="Arial" panose="020B0604020202020204" pitchFamily="34" charset="0"/>
              </a:rPr>
              <a:t>. U.S. National Library of Medicine. https://www.nlm.nih.gov/oet/ed/stats/02-900.html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Reimers, A. K., Knapp, G., &amp; Reimers, C.-D. (2018). Effects of exercise on the resting heart rate: A systematic review and meta-analysis of Interventional Studies. </a:t>
            </a:r>
            <a:r>
              <a:rPr lang="en-US" sz="1100" b="0" i="1" u="none" strike="noStrike" dirty="0">
                <a:solidFill>
                  <a:srgbClr val="000000"/>
                </a:solidFill>
                <a:effectLst/>
                <a:latin typeface="Arial" panose="020B0604020202020204" pitchFamily="34" charset="0"/>
                <a:cs typeface="Arial" panose="020B0604020202020204" pitchFamily="34" charset="0"/>
              </a:rPr>
              <a:t>Journal of Clinical Medicine</a:t>
            </a:r>
            <a:r>
              <a:rPr lang="en-US" sz="1100" b="0" i="0" u="none" strike="noStrike" dirty="0">
                <a:solidFill>
                  <a:srgbClr val="000000"/>
                </a:solidFill>
                <a:effectLst/>
                <a:latin typeface="Arial" panose="020B0604020202020204" pitchFamily="34" charset="0"/>
                <a:cs typeface="Arial" panose="020B0604020202020204" pitchFamily="34" charset="0"/>
              </a:rPr>
              <a:t>, </a:t>
            </a:r>
            <a:r>
              <a:rPr lang="en-US" sz="1100" b="0" i="1" u="none" strike="noStrike" dirty="0">
                <a:solidFill>
                  <a:srgbClr val="000000"/>
                </a:solidFill>
                <a:effectLst/>
                <a:latin typeface="Arial" panose="020B0604020202020204" pitchFamily="34" charset="0"/>
                <a:cs typeface="Arial" panose="020B0604020202020204" pitchFamily="34" charset="0"/>
              </a:rPr>
              <a:t>7</a:t>
            </a:r>
            <a:r>
              <a:rPr lang="en-US" sz="1100" b="0" i="0" u="none" strike="noStrike" dirty="0">
                <a:solidFill>
                  <a:srgbClr val="000000"/>
                </a:solidFill>
                <a:effectLst/>
                <a:latin typeface="Arial" panose="020B0604020202020204" pitchFamily="34" charset="0"/>
                <a:cs typeface="Arial" panose="020B0604020202020204" pitchFamily="34" charset="0"/>
              </a:rPr>
              <a:t>(12), 503. https://doi.org/10.3390/jcm7120503  </a:t>
            </a:r>
          </a:p>
          <a:p>
            <a:pPr marL="139700" indent="0" algn="l">
              <a:buNone/>
            </a:pPr>
            <a:endParaRPr lang="en-US" b="0" i="0" u="none" strike="noStrike" dirty="0">
              <a:solidFill>
                <a:srgbClr val="000000"/>
              </a:solidFill>
              <a:effectLst/>
              <a:latin typeface="Arial" panose="020B0604020202020204" pitchFamily="34" charset="0"/>
              <a:cs typeface="Arial" panose="020B0604020202020204" pitchFamily="34" charset="0"/>
            </a:endParaRPr>
          </a:p>
          <a:p>
            <a:pPr marL="139700" indent="0">
              <a:buNone/>
            </a:pPr>
            <a:endParaRPr lang="en-US" dirty="0"/>
          </a:p>
        </p:txBody>
      </p:sp>
    </p:spTree>
    <p:extLst>
      <p:ext uri="{BB962C8B-B14F-4D97-AF65-F5344CB8AC3E}">
        <p14:creationId xmlns:p14="http://schemas.microsoft.com/office/powerpoint/2010/main" val="6398140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8CE85-0060-60C1-2DBC-453904DFD9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A92EBC-5948-E677-29AE-9E519C2C81F7}"/>
              </a:ext>
            </a:extLst>
          </p:cNvPr>
          <p:cNvSpPr>
            <a:spLocks noGrp="1"/>
          </p:cNvSpPr>
          <p:nvPr>
            <p:ph type="title"/>
          </p:nvPr>
        </p:nvSpPr>
        <p:spPr>
          <a:xfrm>
            <a:off x="731520" y="348343"/>
            <a:ext cx="8100780" cy="669382"/>
          </a:xfrm>
        </p:spPr>
        <p:txBody>
          <a:bodyPr/>
          <a:lstStyle/>
          <a:p>
            <a:r>
              <a:rPr lang="en-US" dirty="0">
                <a:solidFill>
                  <a:schemeClr val="accent1"/>
                </a:solidFill>
                <a:latin typeface="Arial" panose="020B0604020202020204" pitchFamily="34" charset="0"/>
                <a:cs typeface="Arial" panose="020B0604020202020204" pitchFamily="34" charset="0"/>
              </a:rPr>
              <a:t>References</a:t>
            </a:r>
          </a:p>
        </p:txBody>
      </p:sp>
      <p:sp>
        <p:nvSpPr>
          <p:cNvPr id="2" name="Text Placeholder 1">
            <a:extLst>
              <a:ext uri="{FF2B5EF4-FFF2-40B4-BE49-F238E27FC236}">
                <a16:creationId xmlns:a16="http://schemas.microsoft.com/office/drawing/2014/main" id="{C5A7885A-9BB5-139A-7748-18969DB887CF}"/>
              </a:ext>
            </a:extLst>
          </p:cNvPr>
          <p:cNvSpPr>
            <a:spLocks noGrp="1"/>
          </p:cNvSpPr>
          <p:nvPr>
            <p:ph idx="1"/>
          </p:nvPr>
        </p:nvSpPr>
        <p:spPr>
          <a:xfrm>
            <a:off x="731520" y="1152475"/>
            <a:ext cx="7689669" cy="3416400"/>
          </a:xfrm>
        </p:spPr>
        <p:txBody>
          <a:bodyPr/>
          <a:lstStyle/>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Runeson, P. (2016). Mere numbers aren’t enough. </a:t>
            </a:r>
            <a:r>
              <a:rPr lang="en-US" sz="1100" b="0" i="1" u="none" strike="noStrike" dirty="0">
                <a:solidFill>
                  <a:srgbClr val="000000"/>
                </a:solidFill>
                <a:effectLst/>
                <a:latin typeface="Arial" panose="020B0604020202020204" pitchFamily="34" charset="0"/>
                <a:cs typeface="Arial" panose="020B0604020202020204" pitchFamily="34" charset="0"/>
              </a:rPr>
              <a:t>Perspectives on Data Science for Software Engineering</a:t>
            </a:r>
            <a:r>
              <a:rPr lang="en-US" sz="1100" b="0" i="0" u="none" strike="noStrike" dirty="0">
                <a:solidFill>
                  <a:srgbClr val="000000"/>
                </a:solidFill>
                <a:effectLst/>
                <a:latin typeface="Arial" panose="020B0604020202020204" pitchFamily="34" charset="0"/>
                <a:cs typeface="Arial" panose="020B0604020202020204" pitchFamily="34" charset="0"/>
              </a:rPr>
              <a:t>, 303–307. https://doi.org/10.1016/b978-0-12-804206-9.00055-6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Salas-Parra, R. D., Castro-Ochoa, K. J., &amp; Machado-Aranda, D. A. (2023). Basic science statistics. </a:t>
            </a:r>
            <a:r>
              <a:rPr lang="en-US" sz="1100" b="0" i="1" u="none" strike="noStrike" dirty="0">
                <a:solidFill>
                  <a:srgbClr val="000000"/>
                </a:solidFill>
                <a:effectLst/>
                <a:latin typeface="Arial" panose="020B0604020202020204" pitchFamily="34" charset="0"/>
                <a:cs typeface="Arial" panose="020B0604020202020204" pitchFamily="34" charset="0"/>
              </a:rPr>
              <a:t>Translational Surgery</a:t>
            </a:r>
            <a:r>
              <a:rPr lang="en-US" sz="1100" b="0" i="0" u="none" strike="noStrike" dirty="0">
                <a:solidFill>
                  <a:srgbClr val="000000"/>
                </a:solidFill>
                <a:effectLst/>
                <a:latin typeface="Arial" panose="020B0604020202020204" pitchFamily="34" charset="0"/>
                <a:cs typeface="Arial" panose="020B0604020202020204" pitchFamily="34" charset="0"/>
              </a:rPr>
              <a:t>, 195–199. https://doi.org/10.1016/b978-0-323-90300-4.00022-7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Shreffler, J., &amp; Huecker, M. (2023, March 13). </a:t>
            </a:r>
            <a:r>
              <a:rPr lang="en-US" sz="1100" b="0" i="1" u="none" strike="noStrike" dirty="0">
                <a:solidFill>
                  <a:srgbClr val="000000"/>
                </a:solidFill>
                <a:effectLst/>
                <a:latin typeface="Arial" panose="020B0604020202020204" pitchFamily="34" charset="0"/>
                <a:cs typeface="Arial" panose="020B0604020202020204" pitchFamily="34" charset="0"/>
              </a:rPr>
              <a:t>Hypothesis testing, P values, confidence intervals, and significance</a:t>
            </a:r>
            <a:r>
              <a:rPr lang="en-US" sz="1100" b="0" i="0" u="none" strike="noStrike" dirty="0">
                <a:solidFill>
                  <a:srgbClr val="000000"/>
                </a:solidFill>
                <a:effectLst/>
                <a:latin typeface="Arial" panose="020B0604020202020204" pitchFamily="34" charset="0"/>
                <a:cs typeface="Arial" panose="020B0604020202020204" pitchFamily="34" charset="0"/>
              </a:rPr>
              <a:t>. StatPearls [Internet]. https://www.ncbi.nlm.nih.gov/books/NBK557421/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Smalheiser, N. R. (2017). ANOVA. </a:t>
            </a:r>
            <a:r>
              <a:rPr lang="en-US" sz="1100" b="0" i="1" u="none" strike="noStrike" dirty="0">
                <a:solidFill>
                  <a:srgbClr val="000000"/>
                </a:solidFill>
                <a:effectLst/>
                <a:latin typeface="Arial" panose="020B0604020202020204" pitchFamily="34" charset="0"/>
                <a:cs typeface="Arial" panose="020B0604020202020204" pitchFamily="34" charset="0"/>
              </a:rPr>
              <a:t>Data Literacy</a:t>
            </a:r>
            <a:r>
              <a:rPr lang="en-US" sz="1100" b="0" i="0" u="none" strike="noStrike" dirty="0">
                <a:solidFill>
                  <a:srgbClr val="000000"/>
                </a:solidFill>
                <a:effectLst/>
                <a:latin typeface="Arial" panose="020B0604020202020204" pitchFamily="34" charset="0"/>
                <a:cs typeface="Arial" panose="020B0604020202020204" pitchFamily="34" charset="0"/>
              </a:rPr>
              <a:t>, 149–155. https://doi.org/10.1016/b978-0-12-811306-6.00011-7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Tenny, S., Brannan, J., &amp; Brannan, G. (2022, September 18). </a:t>
            </a:r>
            <a:r>
              <a:rPr lang="en-US" sz="1100" b="0" i="1" u="none" strike="noStrike" dirty="0">
                <a:solidFill>
                  <a:srgbClr val="000000"/>
                </a:solidFill>
                <a:effectLst/>
                <a:latin typeface="Arial" panose="020B0604020202020204" pitchFamily="34" charset="0"/>
                <a:cs typeface="Arial" panose="020B0604020202020204" pitchFamily="34" charset="0"/>
              </a:rPr>
              <a:t>Qualitative study</a:t>
            </a:r>
            <a:r>
              <a:rPr lang="en-US" sz="1100" b="0" i="0" u="none" strike="noStrike" dirty="0">
                <a:solidFill>
                  <a:srgbClr val="000000"/>
                </a:solidFill>
                <a:effectLst/>
                <a:latin typeface="Arial" panose="020B0604020202020204" pitchFamily="34" charset="0"/>
                <a:cs typeface="Arial" panose="020B0604020202020204" pitchFamily="34" charset="0"/>
              </a:rPr>
              <a:t>. StatPearls [Internet]. https://www.ncbi.nlm.nih.gov/books/NBK470395/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Wadhwa, R. R., &amp; Azzam, D. (2023, July 17). </a:t>
            </a:r>
            <a:r>
              <a:rPr lang="en-US" sz="1100" b="0" i="1" u="none" strike="noStrike" dirty="0">
                <a:solidFill>
                  <a:srgbClr val="000000"/>
                </a:solidFill>
                <a:effectLst/>
                <a:latin typeface="Arial" panose="020B0604020202020204" pitchFamily="34" charset="0"/>
                <a:cs typeface="Arial" panose="020B0604020202020204" pitchFamily="34" charset="0"/>
              </a:rPr>
              <a:t>Variance</a:t>
            </a:r>
            <a:r>
              <a:rPr lang="en-US" sz="1100" b="0" i="0" u="none" strike="noStrike" dirty="0">
                <a:solidFill>
                  <a:srgbClr val="000000"/>
                </a:solidFill>
                <a:effectLst/>
                <a:latin typeface="Arial" panose="020B0604020202020204" pitchFamily="34" charset="0"/>
                <a:cs typeface="Arial" panose="020B0604020202020204" pitchFamily="34" charset="0"/>
              </a:rPr>
              <a:t>. StatPearls [Internet]. https://www.ncbi.nlm.nih.gov/books/NBK551689/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Wadhwa, R. R., &amp; Marappa-Ganeshan, R. (2023, January 16). </a:t>
            </a:r>
            <a:r>
              <a:rPr lang="en-US" sz="1100" b="0" i="1" u="none" strike="noStrike" dirty="0">
                <a:solidFill>
                  <a:srgbClr val="000000"/>
                </a:solidFill>
                <a:effectLst/>
                <a:latin typeface="Arial" panose="020B0604020202020204" pitchFamily="34" charset="0"/>
                <a:cs typeface="Arial" panose="020B0604020202020204" pitchFamily="34" charset="0"/>
              </a:rPr>
              <a:t>T test</a:t>
            </a:r>
            <a:r>
              <a:rPr lang="en-US" sz="1100" b="0" i="0" u="none" strike="noStrike" dirty="0">
                <a:solidFill>
                  <a:srgbClr val="000000"/>
                </a:solidFill>
                <a:effectLst/>
                <a:latin typeface="Arial" panose="020B0604020202020204" pitchFamily="34" charset="0"/>
                <a:cs typeface="Arial" panose="020B0604020202020204" pitchFamily="34" charset="0"/>
              </a:rPr>
              <a:t>. StatPearls [Internet]. https://www.ncbi.nlm.nih.gov/books/NBK553048/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Wert, J. E., Neidt, C. O., &amp; Ahmann, J. S. (1954). Quartiles, deciles, and percentiles. </a:t>
            </a:r>
            <a:r>
              <a:rPr lang="en-US" sz="1100" b="0" i="1" u="none" strike="noStrike" dirty="0">
                <a:solidFill>
                  <a:srgbClr val="000000"/>
                </a:solidFill>
                <a:effectLst/>
                <a:latin typeface="Arial" panose="020B0604020202020204" pitchFamily="34" charset="0"/>
                <a:cs typeface="Arial" panose="020B0604020202020204" pitchFamily="34" charset="0"/>
              </a:rPr>
              <a:t>Statistical Methods in Educational and Psychological Research.</a:t>
            </a:r>
            <a:r>
              <a:rPr lang="en-US" sz="1100" b="0" i="0" u="none" strike="noStrike" dirty="0">
                <a:solidFill>
                  <a:srgbClr val="000000"/>
                </a:solidFill>
                <a:effectLst/>
                <a:latin typeface="Arial" panose="020B0604020202020204" pitchFamily="34" charset="0"/>
                <a:cs typeface="Arial" panose="020B0604020202020204" pitchFamily="34" charset="0"/>
              </a:rPr>
              <a:t>, 39–49. https://doi.org/10.1037/11779-003  </a:t>
            </a:r>
          </a:p>
          <a:p>
            <a:pPr algn="l">
              <a:buSzPct val="127000"/>
            </a:pPr>
            <a:r>
              <a:rPr lang="en-US" sz="1100" b="0" i="0" u="none" strike="noStrike" dirty="0">
                <a:solidFill>
                  <a:srgbClr val="000000"/>
                </a:solidFill>
                <a:effectLst/>
                <a:latin typeface="Arial" panose="020B0604020202020204" pitchFamily="34" charset="0"/>
                <a:cs typeface="Arial" panose="020B0604020202020204" pitchFamily="34" charset="0"/>
              </a:rPr>
              <a:t>World Health Organization. (2019). </a:t>
            </a:r>
            <a:r>
              <a:rPr lang="en-US" sz="1100" b="0" i="1" u="none" strike="noStrike" dirty="0">
                <a:solidFill>
                  <a:srgbClr val="000000"/>
                </a:solidFill>
                <a:effectLst/>
                <a:latin typeface="Arial" panose="020B0604020202020204" pitchFamily="34" charset="0"/>
                <a:cs typeface="Arial" panose="020B0604020202020204" pitchFamily="34" charset="0"/>
              </a:rPr>
              <a:t>Using qualitative research to strengthen guideline development</a:t>
            </a:r>
            <a:r>
              <a:rPr lang="en-US" sz="1100" b="0" i="0" u="none" strike="noStrike" dirty="0">
                <a:solidFill>
                  <a:srgbClr val="000000"/>
                </a:solidFill>
                <a:effectLst/>
                <a:latin typeface="Arial" panose="020B0604020202020204" pitchFamily="34" charset="0"/>
                <a:cs typeface="Arial" panose="020B0604020202020204" pitchFamily="34" charset="0"/>
              </a:rPr>
              <a:t>. World Health Organization. https://www.who.int/news/item/08-08-2019-using-qualitative-research-to-strengthen-guideline-development  </a:t>
            </a:r>
          </a:p>
          <a:p>
            <a:pPr>
              <a:buSzPct val="127000"/>
            </a:pPr>
            <a:endParaRPr lang="en-US" dirty="0"/>
          </a:p>
        </p:txBody>
      </p:sp>
    </p:spTree>
    <p:extLst>
      <p:ext uri="{BB962C8B-B14F-4D97-AF65-F5344CB8AC3E}">
        <p14:creationId xmlns:p14="http://schemas.microsoft.com/office/powerpoint/2010/main" val="12876752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E7B06-6528-B06B-7612-F8E4515126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4565C62-FD96-9CEE-49A1-5F568A6C9AFE}"/>
              </a:ext>
            </a:extLst>
          </p:cNvPr>
          <p:cNvSpPr>
            <a:spLocks noGrp="1"/>
          </p:cNvSpPr>
          <p:nvPr>
            <p:ph type="title"/>
          </p:nvPr>
        </p:nvSpPr>
        <p:spPr>
          <a:xfrm>
            <a:off x="311700" y="2293079"/>
            <a:ext cx="8520600" cy="572700"/>
          </a:xfrm>
        </p:spPr>
        <p:txBody>
          <a:bodyPr/>
          <a:lstStyle/>
          <a:p>
            <a:pPr algn="ctr"/>
            <a:r>
              <a:rPr kumimoji="0" lang="en-US" sz="2800" b="1" i="0" u="none" strike="noStrike" kern="0" cap="none" spc="0" normalizeH="0" baseline="0" noProof="0" dirty="0">
                <a:ln>
                  <a:noFill/>
                </a:ln>
                <a:solidFill>
                  <a:srgbClr val="003BA3"/>
                </a:solidFill>
                <a:effectLst/>
                <a:uLnTx/>
                <a:uFillTx/>
                <a:latin typeface="Arial" panose="020B0604020202020204" pitchFamily="34" charset="0"/>
                <a:cs typeface="Arial" panose="020B0604020202020204" pitchFamily="34" charset="0"/>
                <a:sym typeface="Montserrat"/>
              </a:rPr>
              <a:t>Thank you!</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8471407"/>
      </p:ext>
    </p:extLst>
  </p:cSld>
  <p:clrMapOvr>
    <a:masterClrMapping/>
  </p:clrMapOvr>
</p:sld>
</file>

<file path=ppt/theme/theme1.xml><?xml version="1.0" encoding="utf-8"?>
<a:theme xmlns:a="http://schemas.openxmlformats.org/drawingml/2006/main" name="Management Consulting Toolkit by Slidesgo">
  <a:themeElements>
    <a:clrScheme name="Simple Light">
      <a:dk1>
        <a:srgbClr val="000000"/>
      </a:dk1>
      <a:lt1>
        <a:srgbClr val="FFFFFF"/>
      </a:lt1>
      <a:dk2>
        <a:srgbClr val="4A8CFF"/>
      </a:dk2>
      <a:lt2>
        <a:srgbClr val="EFEFEF"/>
      </a:lt2>
      <a:accent1>
        <a:srgbClr val="003BA3"/>
      </a:accent1>
      <a:accent2>
        <a:srgbClr val="000000"/>
      </a:accent2>
      <a:accent3>
        <a:srgbClr val="4A8CFF"/>
      </a:accent3>
      <a:accent4>
        <a:srgbClr val="EFEFEF"/>
      </a:accent4>
      <a:accent5>
        <a:srgbClr val="003BA3"/>
      </a:accent5>
      <a:accent6>
        <a:srgbClr val="000000"/>
      </a:accent6>
      <a:hlink>
        <a:srgbClr val="003BA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2443</TotalTime>
  <Words>6114</Words>
  <Application>Microsoft Macintosh PowerPoint</Application>
  <PresentationFormat>On-screen Show (16:9)</PresentationFormat>
  <Paragraphs>656</Paragraphs>
  <Slides>58</Slides>
  <Notes>37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Arial</vt:lpstr>
      <vt:lpstr>-webkit-standard</vt:lpstr>
      <vt:lpstr>Cambria Math</vt:lpstr>
      <vt:lpstr>Barlow</vt:lpstr>
      <vt:lpstr>-apple-system</vt:lpstr>
      <vt:lpstr>Montserrat</vt:lpstr>
      <vt:lpstr>Management Consulting Toolkit by Slidesgo</vt:lpstr>
      <vt:lpstr>Data Analysis – Examples and Explanation</vt:lpstr>
      <vt:lpstr>Learning Objectives</vt:lpstr>
      <vt:lpstr>What is Qualitative Data Analysis?</vt:lpstr>
      <vt:lpstr>Example 1</vt:lpstr>
      <vt:lpstr>What is Quantitative Data Analysis?</vt:lpstr>
      <vt:lpstr>Example 2</vt:lpstr>
      <vt:lpstr>Types of Statistical Analysis</vt:lpstr>
      <vt:lpstr>What are Descriptive Statistics?</vt:lpstr>
      <vt:lpstr>Central Tendency</vt:lpstr>
      <vt:lpstr>Dispersion</vt:lpstr>
      <vt:lpstr>Dispersion Continued</vt:lpstr>
      <vt:lpstr>Location</vt:lpstr>
      <vt:lpstr>Location</vt:lpstr>
      <vt:lpstr>Proportions and rates</vt:lpstr>
      <vt:lpstr>Proportions and rates</vt:lpstr>
      <vt:lpstr>Exploratory Data Analysis</vt:lpstr>
      <vt:lpstr>Tools in Python</vt:lpstr>
      <vt:lpstr>Steps of EDA</vt:lpstr>
      <vt:lpstr>Steps …</vt:lpstr>
      <vt:lpstr>Steps …</vt:lpstr>
      <vt:lpstr>Analysis Types</vt:lpstr>
      <vt:lpstr>Analysis Type</vt:lpstr>
      <vt:lpstr>Analysis Types</vt:lpstr>
      <vt:lpstr>Analysis Types</vt:lpstr>
      <vt:lpstr>Why EDA is Important </vt:lpstr>
      <vt:lpstr>Demos</vt:lpstr>
      <vt:lpstr>Distributions</vt:lpstr>
      <vt:lpstr>PowerPoint Presentation</vt:lpstr>
      <vt:lpstr>PowerPoint Presentation</vt:lpstr>
      <vt:lpstr>PowerPoint Presentation</vt:lpstr>
      <vt:lpstr>PowerPoint Presentation</vt:lpstr>
      <vt:lpstr>PowerPoint Presentation</vt:lpstr>
      <vt:lpstr>Normal Distribution - Continous</vt:lpstr>
      <vt:lpstr>PowerPoint Presentation</vt:lpstr>
      <vt:lpstr>T- Distribution</vt:lpstr>
      <vt:lpstr>Exponential Distribution</vt:lpstr>
      <vt:lpstr>What are Inferential Statistics?</vt:lpstr>
      <vt:lpstr>p-values</vt:lpstr>
      <vt:lpstr>p-values</vt:lpstr>
      <vt:lpstr>Confidence Intervals</vt:lpstr>
      <vt:lpstr>Confidence Intervals</vt:lpstr>
      <vt:lpstr>Inferential Statistics (Numerical) – Pearson Correlation Coefficient</vt:lpstr>
      <vt:lpstr>Inferential Statistics (Numerical) – Pearson Correlation Coefficient</vt:lpstr>
      <vt:lpstr>Inferential Statistics (Numerical) – Student’s t-test </vt:lpstr>
      <vt:lpstr>Inferential Statistics (Numerical) – Student’s t-test </vt:lpstr>
      <vt:lpstr>Inferential Statistics (Numerical) – ANOVA</vt:lpstr>
      <vt:lpstr>Inferential Statistics (Numerical) – ANOVA</vt:lpstr>
      <vt:lpstr>Inferential Statistics (Numerical) – ANOVA</vt:lpstr>
      <vt:lpstr>Inferential Statistics (Numerical) – ANOVA</vt:lpstr>
      <vt:lpstr>Inferential Statistics (Numerical) – Regression Analysis</vt:lpstr>
      <vt:lpstr>Inferential Statistics (Numerical) – Regression Analysis</vt:lpstr>
      <vt:lpstr>Inferential Statistics (Categorical)– Chi-square test</vt:lpstr>
      <vt:lpstr>Inferential Statistics (Categorical)– Chi-square test</vt:lpstr>
      <vt:lpstr>Selecting the Test of Best Fit</vt:lpstr>
      <vt:lpstr>References</vt:lpstr>
      <vt:lpstr>References</vt:lpstr>
      <vt:lpstr>References</vt:lpstr>
      <vt:lpstr>Thank you!</vt:lpstr>
    </vt:vector>
  </TitlesOfParts>
  <Company>GFMER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analysis in quantitative research - Julia Duvall</dc:title>
  <dc:creator>Julia Duvall</dc:creator>
  <cp:lastModifiedBy>Mian Muhammad Awais</cp:lastModifiedBy>
  <cp:revision>29</cp:revision>
  <dcterms:modified xsi:type="dcterms:W3CDTF">2026-03-24T06:41:26Z</dcterms:modified>
</cp:coreProperties>
</file>