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Proxima Nova"/>
      <p:regular r:id="rId52"/>
      <p:bold r:id="rId53"/>
      <p:italic r:id="rId54"/>
      <p:boldItalic r:id="rId55"/>
    </p:embeddedFont>
    <p:embeddedFont>
      <p:font typeface="Robo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ProximaNova-bold.fntdata"/><Relationship Id="rId52" Type="http://schemas.openxmlformats.org/officeDocument/2006/relationships/font" Target="fonts/ProximaNova-regular.fntdata"/><Relationship Id="rId11" Type="http://schemas.openxmlformats.org/officeDocument/2006/relationships/slide" Target="slides/slide6.xml"/><Relationship Id="rId55" Type="http://schemas.openxmlformats.org/officeDocument/2006/relationships/font" Target="fonts/ProximaNova-boldItalic.fntdata"/><Relationship Id="rId10" Type="http://schemas.openxmlformats.org/officeDocument/2006/relationships/slide" Target="slides/slide5.xml"/><Relationship Id="rId54" Type="http://schemas.openxmlformats.org/officeDocument/2006/relationships/font" Target="fonts/ProximaNova-italic.fntdata"/><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55ba28b5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55ba28b5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55ba28b5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55ba28b5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I'm not here to lecture you – I'm here to have a conversation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course is designed for everyone, regardless of your background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Today, we're going to explore AI together, not as experts, but as curious humans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only thing you need to bring is an open mind</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55ba28b5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55ba28b5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Let's do a quick poll: "Where have you heard about AI recently?"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 want to acknowledge something important: AI can feel scary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might be thinking: "Will a robot take my future job?"</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might be thinking: "This is only for CS geniuses, not someone like 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might be thinking: "Pakistan is too behind for this – why bother?"</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55ba28b5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55ba28b5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what I want you to remember most today: AI is built BY humans FOR humans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AI tool you've ever used was created by people – people who ate biryani, chai, and had deadlines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doesn't wake up thinking, "How can I make humans obsolete?"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is a tool – like a smartphone, like a calculator, like a cooking app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55ba28b58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55ba28b58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Key Talking Points: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isn't just a Silicon Valley conversation – this is happening in Karachi, Lahore, Islamabad right now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Pakistani companies ARE adopting AI – banking, telecom, e-commerce, even local startups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global freelancing boom means you can work for international clients without leaving your home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Pakistan's IT exports are growing – AI skills make you more valuable in that market</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55ba28b58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55ba28b58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You've seen movies where robots take over the world – let's forget all that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Think of AI like a fresh intern – a junior assistant who just joined your team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intern is incredibly fast at learning patterns, but needs clear instructions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intern has no common sense, no emotions, no personal judgment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intern will do exactly what you ask – which means if you ask poorly, you get poor results</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55ba28b58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55ba28b58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is like that friend who's watched 10,000 cricket matches and can now predict what might happen next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"understand" cricket – it's just seen so many matches that it knows patterns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has "seen" millions of examples of human language, images, conversations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Based on those patterns, it makes educated guesses about what you want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pattern recognition at massive scale – not magical thinking</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55ba28b58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55ba28b58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Ta</a:t>
            </a:r>
            <a:r>
              <a:rPr lang="en" sz="1200">
                <a:solidFill>
                  <a:srgbClr val="0F1115"/>
                </a:solidFill>
                <a:highlight>
                  <a:srgbClr val="FFFFFF"/>
                </a:highlight>
                <a:latin typeface="Roboto"/>
                <a:ea typeface="Roboto"/>
                <a:cs typeface="Roboto"/>
                <a:sym typeface="Roboto"/>
              </a:rPr>
              <a:t>Before calculators, people did complex math in their heads or on paper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Teachers worried: "Students will forget how to do math!"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Today, we use calculators for complex stuff, but we still need to understand what we're calculating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is a calculator for: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Writing and language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Creating images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Analyzing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Generating ideas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still need to know what you want – AI just helps you get there faster</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rPr lang="en"/>
              <a:t>lking Points: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calculators, people did complex math in their heads or on paper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Teachers worried: "Students will forget how to do math!"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Today, we use calculators for complex stuff, but we still need to understand what we're calculating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is a calculator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Writing and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Creating 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Analyzing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Generating ideas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still need to know what you want – AI just helps you get there faster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55ba28b58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55ba28b58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55ba28b58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55ba28b58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55ba28b58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55ba28b58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hree things had to come together: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Data – We've created massive amounts of information (every photo, every Google search, every social media post)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Computing power – Faster, cheaper computers can process all this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Better algorithms – Smarter ways to learn from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Businesses face problems too big for humans alone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Think about YouTube: Humans CAN'T watch every video to recommend content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solves problems at scale – millions of decisions per second</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55ba28b58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55ba28b58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55ba28b58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55ba28b58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55ba28b58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55ba28b58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55ba28b58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55ba28b58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Key Talking Points: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course has one goal: Make you confident and capable with AI</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We're focusing on SKILLS, not just tools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Tools change every year – skills last a lifetime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By the end, you'll know:</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to ask the right questions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to solve real problems with AI</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to build AI-assisted solutions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to make yourself valuable in any job market</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55ba28b58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55ba28b58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Today's hot AI tool might be obsolete in 2 years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But the SKILL of working with AI will always be valuable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skills we'll build: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Prompting – Giving clear instructions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Critical thinking – Evaluating AI outputs (is this correct? is this biased?)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framing – Knowing WHAT problem to solve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Ethical judgment – Using AI responsibly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Integration – Combining AI with human skills</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55ba28b58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55ba28b58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55ba28b58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55ba28b58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Some of the most successful AI practitioners I know studied: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Philosophy (understanding ethics and reasoning)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Psychology (understanding human behavior)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Business (understanding problems worth solving)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Fine arts (understanding creativity and aesthetics)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Literature (understanding language and storytelling)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needs diverse perspectives, not just coders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unique background is your superpower</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55ba28b58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55ba28b58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55ba28b58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55ba28b58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55ba28b58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955ba28b58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Key Talking Points: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Pakistan has one of the youngest populations in the world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 have English proficiency (huge advantage for global work)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 have a growing freelance culture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 have problems that AI can help solve (education, healthcare, agriculture, access to services)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world is looking for affordable, skilled talent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Pakistan's moment – but only if we prepare</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55ba28b58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55ba28b58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55ba28b58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55ba28b58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55ba28b58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55ba28b58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55ba28b58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55ba28b58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Key Talking Points: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When ATMs were introduced in the 1970s, everyone panicked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"Bank tellers will disappear!"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actually happened: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Banks could open more branches (costs went down)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More branches meant more tellers needed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Tellers' jobs changed from counting cash to selling services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Number of bank tellers actually INCREASED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Technology made banking cheaper → banks expanded → more jobs</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55ba28b58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55ba28b58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Title: Did Spreadsheets Make Accountants Obsolete?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Key Talking Points: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Before Excel: Accountants with ledgers, calculators, months of manual work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Excel arrives: "Now anyone can do accounting!"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happened: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Accountants who embraced Excel became more valuable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could analyze more data, provide more insights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moved from "recording numbers" to "interpreting numbers"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Demand for strategic financial advice EXPLODED</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55ba28b58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55ba28b58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55ba28b58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55ba28b58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55ba28b58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55ba28b58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hrinking demand for: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Pure data entry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Basic content writing (formulaic, template-based)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Simple translation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Routine customer service (basic queries)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Growing demand for: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Strategic thinking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Creative direction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Complex problem-solving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Human connection and empathy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collaboration skills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pattern: Routine tasks → AI. Complex judgment → Humans.</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55ba28b58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55ba28b58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955ba28b58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955ba28b58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55ba28b58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955ba28b58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955ba28b58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955ba28b58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55ba28b58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55ba28b58_1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55ba28b58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55ba28b58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55ba28b58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955ba28b58_1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55ba28b58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55ba28b58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55ba28b58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55ba28b58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55ba28b58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955ba28b58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55ba28b58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55ba28b58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55ba28b58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55ba28b58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55ba28b58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55ba28b58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55ba28b58_1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55ba28b58_1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55ba28b58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955ba28b58_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55ba28b58_1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55ba28b58_1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Generative AI: Your Gateway to the Future</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PART 1: MOTIVATION + AI BIG PICTURE (2 HOURS)</a:t>
            </a:r>
            <a:endParaRPr/>
          </a:p>
          <a:p>
            <a:pPr indent="0" lvl="0" marL="0" rtl="0" algn="l">
              <a:spcBef>
                <a:spcPts val="0"/>
              </a:spcBef>
              <a:spcAft>
                <a:spcPts val="0"/>
              </a:spcAft>
              <a:buNone/>
            </a:pPr>
            <a:r>
              <a:t/>
            </a:r>
            <a:endParaRPr/>
          </a:p>
        </p:txBody>
      </p:sp>
      <p:sp>
        <p:nvSpPr>
          <p:cNvPr id="66" name="Google Shape;66;p14"/>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Welcome! Let's Talk About the Elephant in the Room</a:t>
            </a:r>
            <a:endParaRPr/>
          </a:p>
        </p:txBody>
      </p:sp>
      <p:sp>
        <p:nvSpPr>
          <p:cNvPr id="72" name="Google Shape;72;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"Raise your hand if you've ever used ChatGPT, Google Assistant, or asked your phone to show you the way somewhere. Now, keep your hand up if you actually know how it works under the hood?"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304165" lvl="0" marL="457200" rtl="0" algn="l">
              <a:spcBef>
                <a:spcPts val="1200"/>
              </a:spcBef>
              <a:spcAft>
                <a:spcPts val="0"/>
              </a:spcAft>
              <a:buSzPct val="100000"/>
              <a:buChar char="●"/>
            </a:pPr>
            <a:r>
              <a:rPr lang="en"/>
              <a:t>Think about the last time you used Google Maps to navigate through Saddar or Gulberg traffic</a:t>
            </a:r>
            <a:endParaRPr/>
          </a:p>
          <a:p>
            <a:pPr indent="-304165" lvl="0" marL="457200" rtl="0" algn="l">
              <a:spcBef>
                <a:spcPts val="0"/>
              </a:spcBef>
              <a:spcAft>
                <a:spcPts val="0"/>
              </a:spcAft>
              <a:buSzPct val="100000"/>
              <a:buChar char="●"/>
            </a:pPr>
            <a:r>
              <a:rPr lang="en"/>
              <a:t>You trusted it completely – but did you worry about how it works?</a:t>
            </a:r>
            <a:endParaRPr/>
          </a:p>
          <a:p>
            <a:pPr indent="-304165" lvl="0" marL="457200" rtl="0" algn="l">
              <a:spcBef>
                <a:spcPts val="0"/>
              </a:spcBef>
              <a:spcAft>
                <a:spcPts val="0"/>
              </a:spcAft>
              <a:buSzPct val="100000"/>
              <a:buChar char="●"/>
            </a:pPr>
            <a:r>
              <a:rPr lang="en"/>
              <a:t>That's the magic: we use tools without needing to build them</a:t>
            </a:r>
            <a:endParaRPr/>
          </a:p>
        </p:txBody>
      </p:sp>
      <p:sp>
        <p:nvSpPr>
          <p:cNvPr id="73" name="Google Shape;73;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 name="Google Shape;74;p15"/>
          <p:cNvPicPr preferRelativeResize="0"/>
          <p:nvPr/>
        </p:nvPicPr>
        <p:blipFill>
          <a:blip r:embed="rId3">
            <a:alphaModFix/>
          </a:blip>
          <a:stretch>
            <a:fillRect/>
          </a:stretch>
        </p:blipFill>
        <p:spPr>
          <a:xfrm>
            <a:off x="4832400" y="1152475"/>
            <a:ext cx="3999900" cy="3416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 Honest – What Do You Really Think About AI?</a:t>
            </a:r>
            <a:endParaRPr/>
          </a:p>
        </p:txBody>
      </p:sp>
      <p:sp>
        <p:nvSpPr>
          <p:cNvPr id="80" name="Google Shape;80;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1200"/>
              </a:spcAft>
              <a:buNone/>
            </a:pPr>
            <a:r>
              <a:rPr lang="en"/>
              <a:t>"Turn to the person next to you and share ONE fear you have about AI. Just one. No judgments."</a:t>
            </a:r>
            <a:endParaRPr/>
          </a:p>
        </p:txBody>
      </p:sp>
      <p:sp>
        <p:nvSpPr>
          <p:cNvPr id="81" name="Google Shape;81;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"Will AI replace me?"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"I'm not technical enough"</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"Pakistan doesn't have AI jobs"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"It's too late to learn"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"AI is just a hype"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Good News First: AI is Not Here to Replace You</a:t>
            </a:r>
            <a:endParaRPr/>
          </a:p>
        </p:txBody>
      </p:sp>
      <p:sp>
        <p:nvSpPr>
          <p:cNvPr id="87" name="Google Shape;8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"When calculators were invented, do you think accountants lost their jobs? Or did their jobs just change?"</a:t>
            </a:r>
            <a:endParaRPr/>
          </a:p>
          <a:p>
            <a:pPr indent="0" lvl="0" marL="0" rtl="0" algn="l">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Real-life Example:</a:t>
            </a:r>
            <a:endParaRPr sz="1200">
              <a:solidFill>
                <a:srgbClr val="0F1115"/>
              </a:solidFill>
              <a:highlight>
                <a:srgbClr val="FFFFFF"/>
              </a:highlight>
              <a:latin typeface="Roboto"/>
              <a:ea typeface="Roboto"/>
              <a:cs typeface="Roboto"/>
              <a:sym typeface="Roboto"/>
            </a:endParaRPr>
          </a:p>
          <a:p>
            <a:pPr indent="0" lvl="0" marL="0" rtl="0" algn="l">
              <a:spcBef>
                <a:spcPts val="1200"/>
              </a:spcBef>
              <a:spcAft>
                <a:spcPts val="1200"/>
              </a:spcAft>
              <a:buNone/>
            </a:pPr>
            <a:r>
              <a:rPr lang="en" sz="1200">
                <a:solidFill>
                  <a:srgbClr val="0F1115"/>
                </a:solidFill>
                <a:highlight>
                  <a:srgbClr val="FFFFFF"/>
                </a:highlight>
                <a:latin typeface="Roboto"/>
                <a:ea typeface="Roboto"/>
                <a:cs typeface="Roboto"/>
                <a:sym typeface="Roboto"/>
              </a:rPr>
              <a:t>Remember when Excel first came out? Accountants were terrified. Today, accountants who use Excel earn more than those who don't. The tool didn't replace them – it upgraded them. Same with AI.</a:t>
            </a:r>
            <a:endParaRPr/>
          </a:p>
        </p:txBody>
      </p:sp>
      <p:sp>
        <p:nvSpPr>
          <p:cNvPr id="88" name="Google Shape;8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9" name="Google Shape;89;p17"/>
          <p:cNvSpPr/>
          <p:nvPr/>
        </p:nvSpPr>
        <p:spPr>
          <a:xfrm>
            <a:off x="5927388" y="1017725"/>
            <a:ext cx="1866000" cy="9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1970s: Accountants with ledgers and calculators</a:t>
            </a:r>
            <a:endParaRPr/>
          </a:p>
        </p:txBody>
      </p:sp>
      <p:sp>
        <p:nvSpPr>
          <p:cNvPr id="90" name="Google Shape;90;p17"/>
          <p:cNvSpPr/>
          <p:nvPr/>
        </p:nvSpPr>
        <p:spPr>
          <a:xfrm>
            <a:off x="5955450" y="2337150"/>
            <a:ext cx="1809900" cy="9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700"/>
              </a:spcBef>
              <a:spcAft>
                <a:spcPts val="0"/>
              </a:spcAft>
              <a:buNone/>
            </a:pPr>
            <a:r>
              <a:rPr lang="en" sz="1200">
                <a:solidFill>
                  <a:srgbClr val="0F1115"/>
                </a:solidFill>
                <a:highlight>
                  <a:srgbClr val="FFFFFF"/>
                </a:highlight>
                <a:latin typeface="Roboto"/>
                <a:ea typeface="Roboto"/>
                <a:cs typeface="Roboto"/>
                <a:sym typeface="Roboto"/>
              </a:rPr>
              <a:t>1980s: Introduction of Excel – fear phase</a:t>
            </a:r>
            <a:endParaRPr sz="1200">
              <a:solidFill>
                <a:srgbClr val="0F1115"/>
              </a:solidFill>
              <a:highlight>
                <a:srgbClr val="FFFFFF"/>
              </a:highlight>
              <a:latin typeface="Roboto"/>
              <a:ea typeface="Roboto"/>
              <a:cs typeface="Roboto"/>
              <a:sym typeface="Roboto"/>
            </a:endParaRPr>
          </a:p>
          <a:p>
            <a:pPr indent="0" lvl="0" marL="0" rtl="0" algn="ctr">
              <a:spcBef>
                <a:spcPts val="1200"/>
              </a:spcBef>
              <a:spcAft>
                <a:spcPts val="0"/>
              </a:spcAft>
              <a:buNone/>
            </a:pPr>
            <a:r>
              <a:t/>
            </a:r>
            <a:endParaRPr/>
          </a:p>
        </p:txBody>
      </p:sp>
      <p:sp>
        <p:nvSpPr>
          <p:cNvPr id="91" name="Google Shape;91;p17"/>
          <p:cNvSpPr/>
          <p:nvPr/>
        </p:nvSpPr>
        <p:spPr>
          <a:xfrm>
            <a:off x="5699700" y="3656575"/>
            <a:ext cx="2265300" cy="9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1700"/>
              </a:spcBef>
              <a:spcAft>
                <a:spcPts val="0"/>
              </a:spcAft>
              <a:buNone/>
            </a:pPr>
            <a:r>
              <a:rPr lang="en" sz="1200">
                <a:solidFill>
                  <a:srgbClr val="0F1115"/>
                </a:solidFill>
                <a:highlight>
                  <a:srgbClr val="FFFFFF"/>
                </a:highlight>
                <a:latin typeface="Roboto"/>
                <a:ea typeface="Roboto"/>
                <a:cs typeface="Roboto"/>
                <a:sym typeface="Roboto"/>
              </a:rPr>
              <a:t>2024: Accountants using AI-powered financial analysis tools</a:t>
            </a:r>
            <a:endParaRPr sz="1200">
              <a:solidFill>
                <a:srgbClr val="0F1115"/>
              </a:solidFill>
              <a:highlight>
                <a:srgbClr val="FFFFFF"/>
              </a:highlight>
              <a:latin typeface="Roboto"/>
              <a:ea typeface="Roboto"/>
              <a:cs typeface="Roboto"/>
              <a:sym typeface="Roboto"/>
            </a:endParaRPr>
          </a:p>
          <a:p>
            <a:pPr indent="0" lvl="0" marL="0" rtl="0" algn="ctr">
              <a:spcBef>
                <a:spcPts val="1200"/>
              </a:spcBef>
              <a:spcAft>
                <a:spcPts val="0"/>
              </a:spcAft>
              <a:buNone/>
            </a:pPr>
            <a:r>
              <a:t/>
            </a:r>
            <a:endParaRPr/>
          </a:p>
        </p:txBody>
      </p:sp>
      <p:cxnSp>
        <p:nvCxnSpPr>
          <p:cNvPr id="92" name="Google Shape;92;p17"/>
          <p:cNvCxnSpPr>
            <a:stCxn id="89" idx="2"/>
            <a:endCxn id="90" idx="0"/>
          </p:cNvCxnSpPr>
          <p:nvPr/>
        </p:nvCxnSpPr>
        <p:spPr>
          <a:xfrm>
            <a:off x="6860388" y="1930025"/>
            <a:ext cx="0" cy="407100"/>
          </a:xfrm>
          <a:prstGeom prst="straightConnector1">
            <a:avLst/>
          </a:prstGeom>
          <a:noFill/>
          <a:ln cap="flat" cmpd="sng" w="9525">
            <a:solidFill>
              <a:schemeClr val="dk2"/>
            </a:solidFill>
            <a:prstDash val="solid"/>
            <a:round/>
            <a:headEnd len="med" w="med" type="none"/>
            <a:tailEnd len="med" w="med" type="none"/>
          </a:ln>
        </p:spPr>
      </p:cxnSp>
      <p:cxnSp>
        <p:nvCxnSpPr>
          <p:cNvPr id="93" name="Google Shape;93;p17"/>
          <p:cNvCxnSpPr/>
          <p:nvPr/>
        </p:nvCxnSpPr>
        <p:spPr>
          <a:xfrm>
            <a:off x="6832338" y="3249450"/>
            <a:ext cx="0" cy="407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Pakistan Context – Why This Matters for YOU</a:t>
            </a:r>
            <a:endParaRPr/>
          </a:p>
        </p:txBody>
      </p:sp>
      <p:sp>
        <p:nvSpPr>
          <p:cNvPr id="99" name="Google Shape;9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"How many of you know someone who works remotely for a foreign company? Or freelances online? What do they do?"</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Meet Bilal from Faisalabad. He studied commerce, not computer science. Two years ago, he learned how to use AI tools for content creation. Today, he works remotely for a US marketing agency, earning more than most fresh graduates in traditional jobs.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AI Really Is – The Junior Assistant Analogy</a:t>
            </a:r>
            <a:endParaRPr/>
          </a:p>
        </p:txBody>
      </p:sp>
      <p:sp>
        <p:nvSpPr>
          <p:cNvPr id="105" name="Google Shape;10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you had a super-fast intern who had no common sense, what kind of instructions would you need to give them?"</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Imagine asking someone: "Make me something for dinner." They might give you raw ingredients. But if you say, "Please cook chicken karahi with minimal oil, medium spice, and serve with naan" – you get exactly what you want. AI is the same: clear instructions matter.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as a Fast Learner (Not a Genius)</a:t>
            </a:r>
            <a:endParaRPr/>
          </a:p>
        </p:txBody>
      </p:sp>
      <p:sp>
        <p:nvSpPr>
          <p:cNvPr id="111" name="Google Shape;111;p2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"How do you think your phone keyboard predicts your next word? Is it 'thinking' about what you want to say?"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When you type "Chai" on your phone, it might suggest "pi" or "chai garam hai". Your phone isn't thirsty or thinking about tea – it's just learned from millions of people that "chai" is often followed by those words.</a:t>
            </a:r>
            <a:endParaRPr/>
          </a:p>
        </p:txBody>
      </p:sp>
      <p:sp>
        <p:nvSpPr>
          <p:cNvPr id="112" name="Google Shape;112;p2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13" name="Google Shape;113;p20"/>
          <p:cNvSpPr/>
          <p:nvPr/>
        </p:nvSpPr>
        <p:spPr>
          <a:xfrm>
            <a:off x="5450250" y="1301100"/>
            <a:ext cx="2274300" cy="83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Thousands of text messages</a:t>
            </a:r>
            <a:endParaRPr/>
          </a:p>
        </p:txBody>
      </p:sp>
      <p:sp>
        <p:nvSpPr>
          <p:cNvPr id="114" name="Google Shape;114;p20"/>
          <p:cNvSpPr/>
          <p:nvPr/>
        </p:nvSpPr>
        <p:spPr>
          <a:xfrm>
            <a:off x="5450250" y="2627463"/>
            <a:ext cx="2274300" cy="83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Pattern Learning</a:t>
            </a:r>
            <a:endParaRPr/>
          </a:p>
        </p:txBody>
      </p:sp>
      <p:sp>
        <p:nvSpPr>
          <p:cNvPr id="115" name="Google Shape;115;p20"/>
          <p:cNvSpPr/>
          <p:nvPr/>
        </p:nvSpPr>
        <p:spPr>
          <a:xfrm>
            <a:off x="5450250" y="4019925"/>
            <a:ext cx="2274300" cy="83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Chai → suggestions: pi, garam, time</a:t>
            </a:r>
            <a:endParaRPr/>
          </a:p>
        </p:txBody>
      </p:sp>
      <p:cxnSp>
        <p:nvCxnSpPr>
          <p:cNvPr id="116" name="Google Shape;116;p20"/>
          <p:cNvCxnSpPr>
            <a:stCxn id="113" idx="2"/>
            <a:endCxn id="114" idx="0"/>
          </p:cNvCxnSpPr>
          <p:nvPr/>
        </p:nvCxnSpPr>
        <p:spPr>
          <a:xfrm>
            <a:off x="6587400" y="2134200"/>
            <a:ext cx="0" cy="493200"/>
          </a:xfrm>
          <a:prstGeom prst="straightConnector1">
            <a:avLst/>
          </a:prstGeom>
          <a:noFill/>
          <a:ln cap="flat" cmpd="sng" w="9525">
            <a:solidFill>
              <a:schemeClr val="dk2"/>
            </a:solidFill>
            <a:prstDash val="solid"/>
            <a:round/>
            <a:headEnd len="med" w="med" type="none"/>
            <a:tailEnd len="med" w="med" type="none"/>
          </a:ln>
        </p:spPr>
      </p:cxnSp>
      <p:cxnSp>
        <p:nvCxnSpPr>
          <p:cNvPr id="117" name="Google Shape;117;p20"/>
          <p:cNvCxnSpPr>
            <a:stCxn id="114" idx="2"/>
            <a:endCxn id="115" idx="0"/>
          </p:cNvCxnSpPr>
          <p:nvPr/>
        </p:nvCxnSpPr>
        <p:spPr>
          <a:xfrm>
            <a:off x="6587400" y="3460563"/>
            <a:ext cx="0" cy="559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as a Calculator – But for Language and Images</a:t>
            </a:r>
            <a:endParaRPr/>
          </a:p>
        </p:txBody>
      </p:sp>
      <p:sp>
        <p:nvSpPr>
          <p:cNvPr id="123" name="Google Shape;12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you have a calculator, do you still need to understand math? Why?"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A civil engineer uses software to calculate bridge strength. The software does millions of calculations per second. But the engineer still needs to know: "Is this bridge design safe for Karachi's traffic?" The tool doesn't replace judgment.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AI is NOT (Debunking Myths)</a:t>
            </a:r>
            <a:endParaRPr/>
          </a:p>
        </p:txBody>
      </p:sp>
      <p:sp>
        <p:nvSpPr>
          <p:cNvPr id="129" name="Google Shape;12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you chat with an AI and it says 'I understand how you feel' – does it actually understand? What's really happening?"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When your phone's autocorrect changes "I love my mom" to "I love my mob" – it's not trying to be funny or insult your mother. It just learned a pattern that didn't fit your intention. No emotion, no meaning – just pattern matching.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Myth vs Fact</a:t>
            </a:r>
            <a:endParaRPr/>
          </a:p>
        </p:txBody>
      </p:sp>
      <p:sp>
        <p:nvSpPr>
          <p:cNvPr id="135" name="Google Shape;13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Myth: AI thinks like humans → Fact: AI recognizes patterns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Myth: AI has feelings → Fact: AI mimics language about feelings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Myth: AI can do anything → Fact: AI works within its training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Myth: AI is always right → Fact: AI makes mistakes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Myth: AI will replace humans → Fact: AI augments human capabilities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Did AI Explode Now? (Hint: It's Not Magic)</a:t>
            </a:r>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"How many hours of video do you think get uploaded to YouTube every minute? How could humans possibly organize all that?"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JazzCash processes millions of transactions daily. If humans had to check each transaction for fraud, it would take thousands of people. AI can scan every transaction in real-time, flagging suspicious ones instantly.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 What is GENERATIVE AI? The Creation Part</a:t>
            </a:r>
            <a:endParaRPr/>
          </a:p>
        </p:txBody>
      </p:sp>
      <p:sp>
        <p:nvSpPr>
          <p:cNvPr id="147" name="Google Shape;14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"What's the difference between a food delivery app suggesting restaurants (choosing) versus creating a new recipe you've never tasted (generating)?"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0"/>
              </a:spcAft>
              <a:buNone/>
            </a:pPr>
            <a:r>
              <a:rPr lang="en"/>
              <a:t>Traditional AI: Daraz showing you products similar to what you've bought before.</a:t>
            </a:r>
            <a:endParaRPr/>
          </a:p>
          <a:p>
            <a:pPr indent="0" lvl="0" marL="0" rtl="0" algn="l">
              <a:spcBef>
                <a:spcPts val="1200"/>
              </a:spcBef>
              <a:spcAft>
                <a:spcPts val="1200"/>
              </a:spcAft>
              <a:buNone/>
            </a:pPr>
            <a:r>
              <a:rPr lang="en"/>
              <a:t>Generative AI: Creating a personalized product description for a new item, writing it in your preferred style, in Urdu or English, highlighting features you specifically care about.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Traditional Software vs Generative AI – The Big Difference</a:t>
            </a:r>
            <a:endParaRPr/>
          </a:p>
        </p:txBody>
      </p:sp>
      <p:sp>
        <p:nvSpPr>
          <p:cNvPr id="153" name="Google Shape;15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"If you ask traditional software to do something it wasn't programmed for, what happens? What about generative AI?"</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0"/>
              </a:spcAft>
              <a:buNone/>
            </a:pPr>
            <a:r>
              <a:rPr lang="en"/>
              <a:t>Your banking app: You can only do what the developers built. You can't say "create a new type of savings account for me" – the app will crash or do nothing.</a:t>
            </a:r>
            <a:endParaRPr/>
          </a:p>
          <a:p>
            <a:pPr indent="0" lvl="0" marL="0" rtl="0" algn="l">
              <a:spcBef>
                <a:spcPts val="1200"/>
              </a:spcBef>
              <a:spcAft>
                <a:spcPts val="1200"/>
              </a:spcAft>
              <a:buNone/>
            </a:pPr>
            <a:r>
              <a:rPr lang="en"/>
              <a:t>ChatGPT: You can say "create a new type of savings account for students in Pakistan" – it will generate ideas, even though it's never seen exactly that request before.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Everyday Generative AI – You're Already Using It</a:t>
            </a:r>
            <a:endParaRPr/>
          </a:p>
        </p:txBody>
      </p:sp>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650">
                <a:solidFill>
                  <a:srgbClr val="0F1115"/>
                </a:solidFill>
                <a:highlight>
                  <a:srgbClr val="FFFFFF"/>
                </a:highlight>
              </a:rPr>
              <a:t>Point to Ponder:</a:t>
            </a:r>
            <a:br>
              <a:rPr lang="en" sz="1650">
                <a:solidFill>
                  <a:srgbClr val="0F1115"/>
                </a:solidFill>
                <a:highlight>
                  <a:srgbClr val="FFFFFF"/>
                </a:highlight>
              </a:rPr>
            </a:br>
            <a:r>
              <a:rPr i="1" lang="en" sz="1650">
                <a:solidFill>
                  <a:srgbClr val="0F1115"/>
                </a:solidFill>
                <a:highlight>
                  <a:srgbClr val="FFFFFF"/>
                </a:highlight>
              </a:rPr>
              <a:t>"Think about your last 24 hours. Where might you have interacted with generative AI without realizing it?"</a:t>
            </a:r>
            <a:endParaRPr i="1" sz="1650">
              <a:solidFill>
                <a:srgbClr val="0F1115"/>
              </a:solidFill>
              <a:highlight>
                <a:srgbClr val="FFFFFF"/>
              </a:highlight>
            </a:endParaRPr>
          </a:p>
          <a:p>
            <a:pPr indent="0" lvl="0" marL="0" rtl="0" algn="l">
              <a:spcBef>
                <a:spcPts val="1200"/>
              </a:spcBef>
              <a:spcAft>
                <a:spcPts val="0"/>
              </a:spcAft>
              <a:buClr>
                <a:schemeClr val="dk1"/>
              </a:buClr>
              <a:buSzPts val="1100"/>
              <a:buFont typeface="Arial"/>
              <a:buNone/>
            </a:pPr>
            <a:r>
              <a:rPr lang="en" sz="1650">
                <a:solidFill>
                  <a:srgbClr val="0F1115"/>
                </a:solidFill>
                <a:highlight>
                  <a:srgbClr val="FFFFFF"/>
                </a:highlight>
              </a:rPr>
              <a:t>Real-life Example:</a:t>
            </a:r>
            <a:br>
              <a:rPr lang="en" sz="1650">
                <a:solidFill>
                  <a:srgbClr val="0F1115"/>
                </a:solidFill>
                <a:highlight>
                  <a:srgbClr val="FFFFFF"/>
                </a:highlight>
              </a:rPr>
            </a:br>
            <a:r>
              <a:rPr lang="en" sz="1650">
                <a:solidFill>
                  <a:srgbClr val="0F1115"/>
                </a:solidFill>
                <a:highlight>
                  <a:srgbClr val="FFFFFF"/>
                </a:highlight>
              </a:rPr>
              <a:t>Sara, a university student in Islamabad, uses:</a:t>
            </a:r>
            <a:endParaRPr sz="1650">
              <a:solidFill>
                <a:srgbClr val="0F1115"/>
              </a:solidFill>
              <a:highlight>
                <a:srgbClr val="FFFFFF"/>
              </a:highlight>
            </a:endParaRPr>
          </a:p>
          <a:p>
            <a:pPr indent="-333375" lvl="0" marL="457200" rtl="0" algn="l">
              <a:spcBef>
                <a:spcPts val="1200"/>
              </a:spcBef>
              <a:spcAft>
                <a:spcPts val="0"/>
              </a:spcAft>
              <a:buClr>
                <a:srgbClr val="0F1115"/>
              </a:buClr>
              <a:buSzPts val="1650"/>
              <a:buFont typeface="Arial"/>
              <a:buChar char="●"/>
            </a:pPr>
            <a:r>
              <a:rPr lang="en" sz="1650">
                <a:solidFill>
                  <a:srgbClr val="0F1115"/>
                </a:solidFill>
                <a:highlight>
                  <a:srgbClr val="FFFFFF"/>
                </a:highlight>
              </a:rPr>
              <a:t>Grammarly for her assignments (AI writing suggestions)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Instagram filters that transform her photos (AI image generation)</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YouTube recommendations (AI predicting what she'll watch next)</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WhatsApp voice-to-text (AI transcribing her Urdu messages)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All before breakfast</a:t>
            </a:r>
            <a:r>
              <a:rPr lang="en" sz="1650">
                <a:solidFill>
                  <a:srgbClr val="0F1115"/>
                </a:solidFill>
                <a:highlight>
                  <a:srgbClr val="FFFFFF"/>
                </a:highlight>
              </a:rPr>
              <a:t>!</a:t>
            </a:r>
            <a:endParaRPr sz="16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This Course Will Help You Achieve</a:t>
            </a:r>
            <a:endParaRPr/>
          </a:p>
        </p:txBody>
      </p:sp>
      <p:sp>
        <p:nvSpPr>
          <p:cNvPr id="165" name="Google Shape;16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you could solve ONE problem in your life or community with AI, what would it be?"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Last year's students came from business, arts, engineering backgrounds. One business student created an AI tool that helps small shopkeepers in his village track inventory using simple WhatsApp messages. He didn't write complex code – he connected existing tools creatively.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Skills Over Tools – Why This Matters</a:t>
            </a:r>
            <a:endParaRPr/>
          </a:p>
        </p:txBody>
      </p:sp>
      <p:sp>
        <p:nvSpPr>
          <p:cNvPr id="171" name="Google Shape;17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you only learn to use today's ChatGPT, what happens when something better comes along next year?"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Think about photographers. Those who only learned film cameras struggled when digital arrived. But photographers who understood composition, lighting, and storytelling – they adapted easily. The tool changed, their skills remained valuable.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Mindset Shift – From Consumer to Creator</a:t>
            </a:r>
            <a:endParaRPr/>
          </a:p>
        </p:txBody>
      </p:sp>
      <p:sp>
        <p:nvSpPr>
          <p:cNvPr id="177" name="Google Shape;17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"What's something you've always wanted to create – a blog, a business, an app, a design – but felt you lacked the skills?"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Fatima from Karachi always wanted to start a YouTube channel teaching baking, but felt her video editing skills were weak. Now she uses AI tools to edit videos, generate thumbnails, and even write video descriptions. She's not a video editor – she's a baker who uses AI to share her passion.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Background Doesn't Define Your Potential</a:t>
            </a:r>
            <a:endParaRPr/>
          </a:p>
        </p:txBody>
      </p:sp>
      <p:sp>
        <p:nvSpPr>
          <p:cNvPr id="183" name="Google Shape;18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"What's something unique about YOUR background that could make you valuable in an AI world?"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Ahmed studied Islamic Studies. He now works at a tech company developing AI tools for Arabic language processing. His understanding of classical Arabic texts helps train better language models. His background is his competitive advantage.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Consistency Over Talent – The Real Secret</a:t>
            </a:r>
            <a:endParaRPr/>
          </a:p>
        </p:txBody>
      </p:sp>
      <p:sp>
        <p:nvSpPr>
          <p:cNvPr id="189" name="Google Shape;18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"Think of something you're good at today. Did you learn it overnight, or did you practice over time?"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I meet students who say: "I tried ChatGPT once and it gave a bad answer, so AI isn't for me." Imagine trying cricket once, getting out first ball, and saying "cricket isn't for me." Learning any tool takes practice.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 One Is Late to AI</a:t>
            </a:r>
            <a:endParaRPr/>
          </a:p>
        </p:txBody>
      </p:sp>
      <p:sp>
        <p:nvSpPr>
          <p:cNvPr id="195" name="Google Shape;19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someone started learning AI in 2020, how much of what they learned about generative AI would still be relevant today?"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In 2021, the hot topic was "how to fine-tune GPT-3." In 2023, most people just use ChatGPT directly. The "experts" from 2021 are learning alongside beginners. Everyone is a beginner in some aspect of this field.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Pakistan Opportunity – Why Now?</a:t>
            </a:r>
            <a:endParaRPr/>
          </a:p>
        </p:txBody>
      </p:sp>
      <p:sp>
        <p:nvSpPr>
          <p:cNvPr id="201" name="Google Shape;20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"What's a problem in your city or village that AI could potentially help solve?"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Students at a university in rural Sindh created an AI-powered chatbot that helps farmers get crop prices in Sindhi language. No international company is building solutions for Pakistani farmers – Pakistanis must build for Pakistan.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PART 2: JOB MARKET, CAREERS &amp; INDUSTRY EXPECTATIONS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Welcome Back – Let's Talk About Your Future</a:t>
            </a:r>
            <a:endParaRPr/>
          </a:p>
        </p:txBody>
      </p:sp>
      <p:sp>
        <p:nvSpPr>
          <p:cNvPr id="212" name="Google Shape;212;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"Before we dive in, quick check: Who's feeling more optimistic about AI than when you walked in?"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I always ask students this question. Usually, about 20% raise their hands at the start of Part 1. By now, it's usually 80%+. Let's see!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Big Question Everyone Asks</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Student Question / Point to Ponder:</a:t>
            </a:r>
            <a:endParaRPr/>
          </a:p>
          <a:p>
            <a:pPr indent="0" lvl="0" marL="0" rtl="0" algn="l">
              <a:spcBef>
                <a:spcPts val="1200"/>
              </a:spcBef>
              <a:spcAft>
                <a:spcPts val="0"/>
              </a:spcAft>
              <a:buNone/>
            </a:pPr>
            <a:r>
              <a:rPr lang="en"/>
              <a:t>"If you had a magic wand and could remove ALL boring, repetitive tasks from your dream job, what would you remove? Would that make your job better or worse?"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Think about bank tellers. ATMs didn't eliminate them – but their job changed. Instead of just counting cash, they now handle complex customer problems, sell financial products, and provide personalized service. The boring part got automated; the interesting part expanded.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ATM Story – A Perfect Example</a:t>
            </a:r>
            <a:endParaRPr/>
          </a:p>
        </p:txBody>
      </p:sp>
      <p:sp>
        <p:nvSpPr>
          <p:cNvPr id="224" name="Google Shape;22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ATM transactions are automated, what new human skills become MORE valuable in banking?"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Today, if you go to a bank in Pakistan, the teller might help you open an account, understand your financial goals, recommend products, solve problems. They're not just cash counters – they're financial guides. The routine part is automated, so humans can focus on human things.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Excel and Accountants – Another Perfect Example</a:t>
            </a:r>
            <a:endParaRPr/>
          </a:p>
        </p:txBody>
      </p:sp>
      <p:sp>
        <p:nvSpPr>
          <p:cNvPr id="230" name="Google Shape;23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"If AI handles data entry and basic analysis, what higher-value work can accountants now focus 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A chartered accountant in Lahore used to spend 70% of her time compiling data. Now, AI tools do that in minutes. She spends her time advising clients on tax strategy, business growth, and financial planning – work that's more interesting AND better paid.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Actually Happening in Pakistan's Job Market</a:t>
            </a:r>
            <a:endParaRPr/>
          </a:p>
        </p:txBody>
      </p:sp>
      <p:sp>
        <p:nvSpPr>
          <p:cNvPr id="236" name="Google Shape;23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3375" lvl="0" marL="457200" rtl="0" algn="l">
              <a:spcBef>
                <a:spcPts val="1200"/>
              </a:spcBef>
              <a:spcAft>
                <a:spcPts val="0"/>
              </a:spcAft>
              <a:buClr>
                <a:srgbClr val="0F1115"/>
              </a:buClr>
              <a:buSzPts val="1650"/>
              <a:buFont typeface="Arial"/>
              <a:buChar char="●"/>
            </a:pPr>
            <a:r>
              <a:rPr lang="en" sz="1650">
                <a:solidFill>
                  <a:srgbClr val="0F1115"/>
                </a:solidFill>
                <a:highlight>
                  <a:srgbClr val="FFFFFF"/>
                </a:highlight>
              </a:rPr>
              <a:t>Pakistan's IT exports reached $2.6 billion in recent years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Freelancing: Pakistan is among top 5 countries for online freelancers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Local companies ARE hiring AI-skilled people:</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Banks: Fraud detection, customer service chatbots</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Telecom: Network optimization, customer churn prediction</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E-commerce: Recommendation engines, demand forecasting</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Startups: AI-powered solutions for local problems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This isn't future – this is happening NOW</a:t>
            </a:r>
            <a:endParaRPr sz="165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Global Opportunity – Work From Pakistan, Get Paid in Dollars</a:t>
            </a:r>
            <a:endParaRPr/>
          </a:p>
        </p:txBody>
      </p:sp>
      <p:sp>
        <p:nvSpPr>
          <p:cNvPr id="242" name="Google Shape;242;p41"/>
          <p:cNvSpPr txBox="1"/>
          <p:nvPr>
            <p:ph idx="1" type="body"/>
          </p:nvPr>
        </p:nvSpPr>
        <p:spPr>
          <a:xfrm>
            <a:off x="311700" y="1271475"/>
            <a:ext cx="8520600" cy="3416400"/>
          </a:xfrm>
          <a:prstGeom prst="rect">
            <a:avLst/>
          </a:prstGeom>
        </p:spPr>
        <p:txBody>
          <a:bodyPr anchorCtr="0" anchor="t" bIns="91425" lIns="91425" spcFirstLastPara="1" rIns="91425" wrap="square" tIns="91425">
            <a:normAutofit/>
          </a:bodyPr>
          <a:lstStyle/>
          <a:p>
            <a:pPr indent="-333375" lvl="0" marL="457200" rtl="0" algn="l">
              <a:spcBef>
                <a:spcPts val="1200"/>
              </a:spcBef>
              <a:spcAft>
                <a:spcPts val="0"/>
              </a:spcAft>
              <a:buClr>
                <a:srgbClr val="0F1115"/>
              </a:buClr>
              <a:buSzPts val="1650"/>
              <a:buFont typeface="Arial"/>
              <a:buChar char="●"/>
            </a:pPr>
            <a:r>
              <a:rPr lang="en" sz="1650">
                <a:solidFill>
                  <a:srgbClr val="0F1115"/>
                </a:solidFill>
                <a:highlight>
                  <a:srgbClr val="FFFFFF"/>
                </a:highlight>
              </a:rPr>
              <a:t>Remote work has exploded since 2020</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Companies in US, UK, Europe, UAE are hiring Pakistani talent</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They're looking for AI skills at competitive rates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You can work from your home in Pakistan and earn global salaries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Platforms: Upwork, Fiverr, Toptal, and direct remote jobs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The barrier to entry? Skills, not location</a:t>
            </a:r>
            <a:endParaRPr sz="165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t>
            </a:r>
            <a:r>
              <a:rPr lang="en"/>
              <a:t>obs That Are Shrinking vs Jobs That Are Growing</a:t>
            </a:r>
            <a:endParaRPr/>
          </a:p>
        </p:txBody>
      </p:sp>
      <p:sp>
        <p:nvSpPr>
          <p:cNvPr id="248" name="Google Shape;24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 to Ponder:</a:t>
            </a:r>
            <a:endParaRPr/>
          </a:p>
          <a:p>
            <a:pPr indent="0" lvl="0" marL="0" rtl="0" algn="l">
              <a:spcBef>
                <a:spcPts val="1200"/>
              </a:spcBef>
              <a:spcAft>
                <a:spcPts val="0"/>
              </a:spcAft>
              <a:buNone/>
            </a:pPr>
            <a:r>
              <a:rPr lang="en"/>
              <a:t>"Look at your field of study. What are the routine tasks? What are the complex judgment tasks?"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Real-life Example:</a:t>
            </a:r>
            <a:endParaRPr/>
          </a:p>
          <a:p>
            <a:pPr indent="0" lvl="0" marL="0" rtl="0" algn="l">
              <a:spcBef>
                <a:spcPts val="1200"/>
              </a:spcBef>
              <a:spcAft>
                <a:spcPts val="1200"/>
              </a:spcAft>
              <a:buNone/>
            </a:pPr>
            <a:r>
              <a:rPr lang="en"/>
              <a:t>In journalism: Basic news summaries might be automated. But investigative journalism, opinion pieces, human-interest stories – these grow in value. The journalist's job shifts from "reporting facts" to "providing meaning and context."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Jobs That Didn't Exist 2 Years Ago</a:t>
            </a:r>
            <a:endParaRPr/>
          </a:p>
        </p:txBody>
      </p:sp>
      <p:sp>
        <p:nvSpPr>
          <p:cNvPr id="254" name="Google Shape;254;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3375" lvl="0" marL="457200" rtl="0" algn="l">
              <a:spcBef>
                <a:spcPts val="1200"/>
              </a:spcBef>
              <a:spcAft>
                <a:spcPts val="0"/>
              </a:spcAft>
              <a:buClr>
                <a:srgbClr val="0F1115"/>
              </a:buClr>
              <a:buSzPts val="1650"/>
              <a:buFont typeface="Arial"/>
              <a:buChar char="●"/>
            </a:pPr>
            <a:r>
              <a:rPr lang="en" sz="1650">
                <a:solidFill>
                  <a:srgbClr val="0F1115"/>
                </a:solidFill>
                <a:highlight>
                  <a:srgbClr val="FFFFFF"/>
                </a:highlight>
              </a:rPr>
              <a:t>The AI boom has created entirely new roles</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Companies are hiring for positions that didn't exist in 2021</a:t>
            </a:r>
            <a:endParaRPr sz="1650">
              <a:solidFill>
                <a:srgbClr val="0F1115"/>
              </a:solidFill>
              <a:highlight>
                <a:srgbClr val="FFFFFF"/>
              </a:highlight>
            </a:endParaRPr>
          </a:p>
          <a:p>
            <a:pPr indent="-333375" lvl="0" marL="457200" rtl="0" algn="l">
              <a:spcBef>
                <a:spcPts val="0"/>
              </a:spcBef>
              <a:spcAft>
                <a:spcPts val="0"/>
              </a:spcAft>
              <a:buClr>
                <a:srgbClr val="0F1115"/>
              </a:buClr>
              <a:buSzPts val="1650"/>
              <a:buFont typeface="Arial"/>
              <a:buChar char="●"/>
            </a:pPr>
            <a:r>
              <a:rPr lang="en" sz="1650">
                <a:solidFill>
                  <a:srgbClr val="0F1115"/>
                </a:solidFill>
                <a:highlight>
                  <a:srgbClr val="FFFFFF"/>
                </a:highlight>
              </a:rPr>
              <a:t>Examples:</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Prompt Engineer – expert at talking to AI</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AI Ethics Specialist – ensuring AI is fair and responsible</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AI Content Strategist – guiding AI content creation</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AI Product Manager – building AI-powered products</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AI Trainer – teaching AI to get better</a:t>
            </a:r>
            <a:endParaRPr sz="1650">
              <a:solidFill>
                <a:srgbClr val="0F1115"/>
              </a:solidFill>
              <a:highlight>
                <a:srgbClr val="FFFFFF"/>
              </a:highlight>
            </a:endParaRPr>
          </a:p>
          <a:p>
            <a:pPr indent="-333375" lvl="1" marL="914400" rtl="0" algn="l">
              <a:spcBef>
                <a:spcPts val="0"/>
              </a:spcBef>
              <a:spcAft>
                <a:spcPts val="0"/>
              </a:spcAft>
              <a:buClr>
                <a:srgbClr val="0F1115"/>
              </a:buClr>
              <a:buSzPts val="1650"/>
              <a:buFont typeface="Arial"/>
              <a:buChar char="○"/>
            </a:pPr>
            <a:r>
              <a:rPr lang="en" sz="1650">
                <a:solidFill>
                  <a:srgbClr val="0F1115"/>
                </a:solidFill>
                <a:highlight>
                  <a:srgbClr val="FFFFFF"/>
                </a:highlight>
              </a:rPr>
              <a:t>AI Quality Evaluator – checking AI outputs for accuracy</a:t>
            </a:r>
            <a:endParaRPr sz="16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1 – AI Engineer (The Builder)</a:t>
            </a:r>
            <a:endParaRPr/>
          </a:p>
        </p:txBody>
      </p:sp>
      <p:sp>
        <p:nvSpPr>
          <p:cNvPr id="260" name="Google Shape;260;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Actually build AI systems, train models, deploy solutions</a:t>
            </a:r>
            <a:endParaRPr/>
          </a:p>
          <a:p>
            <a:pPr indent="-342900" lvl="0" marL="457200" rtl="0" algn="l">
              <a:spcBef>
                <a:spcPts val="0"/>
              </a:spcBef>
              <a:spcAft>
                <a:spcPts val="0"/>
              </a:spcAft>
              <a:buSzPts val="1800"/>
              <a:buChar char="●"/>
            </a:pPr>
            <a:r>
              <a:rPr lang="en"/>
              <a:t>Daily tasks: Writing code, training models, testing performance, fixing bugs</a:t>
            </a:r>
            <a:endParaRPr/>
          </a:p>
          <a:p>
            <a:pPr indent="-342900" lvl="0" marL="457200" rtl="0" algn="l">
              <a:spcBef>
                <a:spcPts val="0"/>
              </a:spcBef>
              <a:spcAft>
                <a:spcPts val="0"/>
              </a:spcAft>
              <a:buSzPts val="1800"/>
              <a:buChar char="●"/>
            </a:pPr>
            <a:r>
              <a:rPr lang="en"/>
              <a:t>Who it's for: CS/IT students who enjoy programming, math, logic</a:t>
            </a:r>
            <a:endParaRPr/>
          </a:p>
          <a:p>
            <a:pPr indent="-342900" lvl="0" marL="457200" rtl="0" algn="l">
              <a:spcBef>
                <a:spcPts val="0"/>
              </a:spcBef>
              <a:spcAft>
                <a:spcPts val="0"/>
              </a:spcAft>
              <a:buSzPts val="1800"/>
              <a:buChar char="●"/>
            </a:pPr>
            <a:r>
              <a:rPr lang="en"/>
              <a:t>Skills needed: Python, math/stats, problem-solving, continuous learning</a:t>
            </a:r>
            <a:endParaRPr/>
          </a:p>
          <a:p>
            <a:pPr indent="-342900" lvl="0" marL="457200" rtl="0" algn="l">
              <a:spcBef>
                <a:spcPts val="0"/>
              </a:spcBef>
              <a:spcAft>
                <a:spcPts val="0"/>
              </a:spcAft>
              <a:buSzPts val="1800"/>
              <a:buChar char="●"/>
            </a:pPr>
            <a:r>
              <a:rPr lang="en"/>
              <a:t>Pakistan demand: High in software houses, tech companies, banks</a:t>
            </a:r>
            <a:endParaRPr/>
          </a:p>
          <a:p>
            <a:pPr indent="-342900" lvl="0" marL="457200" rtl="0" algn="l">
              <a:spcBef>
                <a:spcPts val="0"/>
              </a:spcBef>
              <a:spcAft>
                <a:spcPts val="0"/>
              </a:spcAft>
              <a:buSzPts val="1800"/>
              <a:buChar char="●"/>
            </a:pPr>
            <a:r>
              <a:rPr lang="en"/>
              <a:t>Global demand: Extremely high, especially for experienced engineers</a:t>
            </a:r>
            <a:endParaRPr/>
          </a:p>
          <a:p>
            <a:pPr indent="-342900" lvl="0" marL="457200" rtl="0" algn="l">
              <a:spcBef>
                <a:spcPts val="0"/>
              </a:spcBef>
              <a:spcAft>
                <a:spcPts val="0"/>
              </a:spcAft>
              <a:buSzPts val="1800"/>
              <a:buChar char="●"/>
            </a:pPr>
            <a:r>
              <a:rPr lang="en"/>
              <a:t>Entry path: CS degree + projects + internships + portfolio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2 – Prompt Engineer (The Communicator)</a:t>
            </a:r>
            <a:endParaRPr/>
          </a:p>
        </p:txBody>
      </p:sp>
      <p:sp>
        <p:nvSpPr>
          <p:cNvPr id="266" name="Google Shape;26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What they do: Craft instructions that get the best results from AI</a:t>
            </a:r>
            <a:endParaRPr/>
          </a:p>
          <a:p>
            <a:pPr indent="-342900" lvl="0" marL="457200" rtl="0" algn="l">
              <a:spcBef>
                <a:spcPts val="0"/>
              </a:spcBef>
              <a:spcAft>
                <a:spcPts val="0"/>
              </a:spcAft>
              <a:buSzPts val="1800"/>
              <a:buChar char="●"/>
            </a:pPr>
            <a:r>
              <a:rPr lang="en"/>
              <a:t>Daily tasks: Writing prompts, testing variations, documenting patterns, training others</a:t>
            </a:r>
            <a:endParaRPr/>
          </a:p>
          <a:p>
            <a:pPr indent="-342900" lvl="0" marL="457200" rtl="0" algn="l">
              <a:spcBef>
                <a:spcPts val="0"/>
              </a:spcBef>
              <a:spcAft>
                <a:spcPts val="0"/>
              </a:spcAft>
              <a:buSzPts val="1800"/>
              <a:buChar char="●"/>
            </a:pPr>
            <a:r>
              <a:rPr lang="en"/>
              <a:t>Who it's for: ANY background – especially good writers, creative thinkers, patient people</a:t>
            </a:r>
            <a:endParaRPr/>
          </a:p>
          <a:p>
            <a:pPr indent="-342900" lvl="0" marL="457200" rtl="0" algn="l">
              <a:spcBef>
                <a:spcPts val="0"/>
              </a:spcBef>
              <a:spcAft>
                <a:spcPts val="0"/>
              </a:spcAft>
              <a:buSzPts val="1800"/>
              <a:buChar char="●"/>
            </a:pPr>
            <a:r>
              <a:rPr lang="en"/>
              <a:t>Skills needed: Clear communication, creativity, logical thinking, patience</a:t>
            </a:r>
            <a:endParaRPr/>
          </a:p>
          <a:p>
            <a:pPr indent="-342900" lvl="0" marL="457200" rtl="0" algn="l">
              <a:spcBef>
                <a:spcPts val="0"/>
              </a:spcBef>
              <a:spcAft>
                <a:spcPts val="0"/>
              </a:spcAft>
              <a:buSzPts val="1800"/>
              <a:buChar char="●"/>
            </a:pPr>
            <a:r>
              <a:rPr lang="en"/>
              <a:t>Pakistan demand: Growing in content agencies, marketing firms, tech companies</a:t>
            </a:r>
            <a:endParaRPr/>
          </a:p>
          <a:p>
            <a:pPr indent="-342900" lvl="0" marL="457200" rtl="0" algn="l">
              <a:spcBef>
                <a:spcPts val="0"/>
              </a:spcBef>
              <a:spcAft>
                <a:spcPts val="0"/>
              </a:spcAft>
              <a:buSzPts val="1800"/>
              <a:buChar char="●"/>
            </a:pPr>
            <a:r>
              <a:rPr lang="en"/>
              <a:t>Global demand: EXPLODING – companies desperate for people who can "talk to AI"</a:t>
            </a:r>
            <a:endParaRPr/>
          </a:p>
          <a:p>
            <a:pPr indent="-342900" lvl="0" marL="457200" rtl="0" algn="l">
              <a:spcBef>
                <a:spcPts val="0"/>
              </a:spcBef>
              <a:spcAft>
                <a:spcPts val="0"/>
              </a:spcAft>
              <a:buSzPts val="1800"/>
              <a:buChar char="●"/>
            </a:pPr>
            <a:r>
              <a:rPr lang="en"/>
              <a:t>Entry path: Practice + portfolio of prompts + understanding of AI behavior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3 – Data Analyst (The Interpreter)</a:t>
            </a:r>
            <a:endParaRPr/>
          </a:p>
        </p:txBody>
      </p:sp>
      <p:sp>
        <p:nvSpPr>
          <p:cNvPr id="272" name="Google Shape;27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Analyze data to help companies make better decisions</a:t>
            </a:r>
            <a:endParaRPr/>
          </a:p>
          <a:p>
            <a:pPr indent="-342900" lvl="0" marL="457200" rtl="0" algn="l">
              <a:spcBef>
                <a:spcPts val="0"/>
              </a:spcBef>
              <a:spcAft>
                <a:spcPts val="0"/>
              </a:spcAft>
              <a:buSzPts val="1800"/>
              <a:buChar char="●"/>
            </a:pPr>
            <a:r>
              <a:rPr lang="en"/>
              <a:t>Daily tasks: Cleaning data, finding patterns, creating reports, making visualizations</a:t>
            </a:r>
            <a:endParaRPr/>
          </a:p>
          <a:p>
            <a:pPr indent="-342900" lvl="0" marL="457200" rtl="0" algn="l">
              <a:spcBef>
                <a:spcPts val="0"/>
              </a:spcBef>
              <a:spcAft>
                <a:spcPts val="0"/>
              </a:spcAft>
              <a:buSzPts val="1800"/>
              <a:buChar char="●"/>
            </a:pPr>
            <a:r>
              <a:rPr lang="en"/>
              <a:t>Who it's for: Students who enjoy numbers, patterns, and telling stories with data</a:t>
            </a:r>
            <a:endParaRPr/>
          </a:p>
          <a:p>
            <a:pPr indent="-342900" lvl="0" marL="457200" rtl="0" algn="l">
              <a:spcBef>
                <a:spcPts val="0"/>
              </a:spcBef>
              <a:spcAft>
                <a:spcPts val="0"/>
              </a:spcAft>
              <a:buSzPts val="1800"/>
              <a:buChar char="●"/>
            </a:pPr>
            <a:r>
              <a:rPr lang="en"/>
              <a:t>Skills needed: Basic statistics, Excel, SQL, curiosity, business understanding</a:t>
            </a:r>
            <a:endParaRPr/>
          </a:p>
          <a:p>
            <a:pPr indent="-342900" lvl="0" marL="457200" rtl="0" algn="l">
              <a:spcBef>
                <a:spcPts val="0"/>
              </a:spcBef>
              <a:spcAft>
                <a:spcPts val="0"/>
              </a:spcAft>
              <a:buSzPts val="1800"/>
              <a:buChar char="●"/>
            </a:pPr>
            <a:r>
              <a:rPr lang="en"/>
              <a:t>Pakistan demand: High in banks, telecom, e-commerce, government</a:t>
            </a:r>
            <a:endParaRPr/>
          </a:p>
          <a:p>
            <a:pPr indent="-342900" lvl="0" marL="457200" rtl="0" algn="l">
              <a:spcBef>
                <a:spcPts val="0"/>
              </a:spcBef>
              <a:spcAft>
                <a:spcPts val="0"/>
              </a:spcAft>
              <a:buSzPts val="1800"/>
              <a:buChar char="●"/>
            </a:pPr>
            <a:r>
              <a:rPr lang="en"/>
              <a:t>Global demand: Very high – every company needs data insights</a:t>
            </a:r>
            <a:endParaRPr/>
          </a:p>
          <a:p>
            <a:pPr indent="-342900" lvl="0" marL="457200" rtl="0" algn="l">
              <a:spcBef>
                <a:spcPts val="0"/>
              </a:spcBef>
              <a:spcAft>
                <a:spcPts val="0"/>
              </a:spcAft>
              <a:buSzPts val="1800"/>
              <a:buChar char="●"/>
            </a:pPr>
            <a:r>
              <a:rPr lang="en"/>
              <a:t>Entry path: Any degree + data skills + portfolio of analysis projects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4 – AI Product Manager (The Strategist)</a:t>
            </a:r>
            <a:endParaRPr/>
          </a:p>
        </p:txBody>
      </p:sp>
      <p:sp>
        <p:nvSpPr>
          <p:cNvPr id="278" name="Google Shape;278;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Decide WHAT AI products to build, guide development, understand users</a:t>
            </a:r>
            <a:endParaRPr/>
          </a:p>
          <a:p>
            <a:pPr indent="-342900" lvl="0" marL="457200" rtl="0" algn="l">
              <a:spcBef>
                <a:spcPts val="0"/>
              </a:spcBef>
              <a:spcAft>
                <a:spcPts val="0"/>
              </a:spcAft>
              <a:buSzPts val="1800"/>
              <a:buChar char="●"/>
            </a:pPr>
            <a:r>
              <a:rPr lang="en"/>
              <a:t>Daily tas</a:t>
            </a:r>
            <a:r>
              <a:rPr lang="en"/>
              <a:t>k</a:t>
            </a:r>
            <a:r>
              <a:rPr lang="en"/>
              <a:t>s: Talking to customers, writing requirements, prioritizing features, working with engineers</a:t>
            </a:r>
            <a:endParaRPr/>
          </a:p>
          <a:p>
            <a:pPr indent="-342900" lvl="0" marL="457200" rtl="0" algn="l">
              <a:spcBef>
                <a:spcPts val="0"/>
              </a:spcBef>
              <a:spcAft>
                <a:spcPts val="0"/>
              </a:spcAft>
              <a:buSzPts val="1800"/>
              <a:buChar char="●"/>
            </a:pPr>
            <a:r>
              <a:rPr lang="en"/>
              <a:t>Who it's for: Business students, anyone with strategic thinking and empathy</a:t>
            </a:r>
            <a:endParaRPr/>
          </a:p>
          <a:p>
            <a:pPr indent="-342900" lvl="0" marL="457200" rtl="0" algn="l">
              <a:spcBef>
                <a:spcPts val="0"/>
              </a:spcBef>
              <a:spcAft>
                <a:spcPts val="0"/>
              </a:spcAft>
              <a:buSzPts val="1800"/>
              <a:buChar char="●"/>
            </a:pPr>
            <a:r>
              <a:rPr lang="en"/>
              <a:t>Skills needed: Communication, business sense, user understanding, basic tech literacy</a:t>
            </a:r>
            <a:endParaRPr/>
          </a:p>
          <a:p>
            <a:pPr indent="-342900" lvl="0" marL="457200" rtl="0" algn="l">
              <a:spcBef>
                <a:spcPts val="0"/>
              </a:spcBef>
              <a:spcAft>
                <a:spcPts val="0"/>
              </a:spcAft>
              <a:buSzPts val="1800"/>
              <a:buChar char="●"/>
            </a:pPr>
            <a:r>
              <a:rPr lang="en"/>
              <a:t>Pakistan demand: Growing in tech companies and startups</a:t>
            </a:r>
            <a:endParaRPr/>
          </a:p>
          <a:p>
            <a:pPr indent="-342900" lvl="0" marL="457200" rtl="0" algn="l">
              <a:spcBef>
                <a:spcPts val="0"/>
              </a:spcBef>
              <a:spcAft>
                <a:spcPts val="0"/>
              </a:spcAft>
              <a:buSzPts val="1800"/>
              <a:buChar char="●"/>
            </a:pPr>
            <a:r>
              <a:rPr lang="en"/>
              <a:t>Global demand: Very high – need people who bridge business and tech</a:t>
            </a:r>
            <a:endParaRPr/>
          </a:p>
          <a:p>
            <a:pPr indent="-342900" lvl="0" marL="457200" rtl="0" algn="l">
              <a:spcBef>
                <a:spcPts val="0"/>
              </a:spcBef>
              <a:spcAft>
                <a:spcPts val="0"/>
              </a:spcAft>
              <a:buSzPts val="1800"/>
              <a:buChar char="●"/>
            </a:pPr>
            <a:r>
              <a:rPr lang="en"/>
              <a:t>Entry path: Business degree + tech exposure + experience + projects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5 – AI Ethics &amp; Policy (The Guardian)</a:t>
            </a:r>
            <a:endParaRPr/>
          </a:p>
        </p:txBody>
      </p:sp>
      <p:sp>
        <p:nvSpPr>
          <p:cNvPr id="284" name="Google Shape;284;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Ensure AI is fair, unbiased, respects privacy, follows laws</a:t>
            </a:r>
            <a:endParaRPr/>
          </a:p>
          <a:p>
            <a:pPr indent="-342900" lvl="0" marL="457200" rtl="0" algn="l">
              <a:spcBef>
                <a:spcPts val="0"/>
              </a:spcBef>
              <a:spcAft>
                <a:spcPts val="0"/>
              </a:spcAft>
              <a:buSzPts val="1800"/>
              <a:buChar char="●"/>
            </a:pPr>
            <a:r>
              <a:rPr lang="en"/>
              <a:t>Daily tasks: Reviewing AI systems for bias, writing guidelines, advising companies</a:t>
            </a:r>
            <a:endParaRPr/>
          </a:p>
          <a:p>
            <a:pPr indent="-342900" lvl="0" marL="457200" rtl="0" algn="l">
              <a:spcBef>
                <a:spcPts val="0"/>
              </a:spcBef>
              <a:spcAft>
                <a:spcPts val="0"/>
              </a:spcAft>
              <a:buSzPts val="1800"/>
              <a:buChar char="●"/>
            </a:pPr>
            <a:r>
              <a:rPr lang="en"/>
              <a:t>Who it's for: Law students, philosophy students, social sciences, anyone concerned about fairness</a:t>
            </a:r>
            <a:endParaRPr/>
          </a:p>
          <a:p>
            <a:pPr indent="-342900" lvl="0" marL="457200" rtl="0" algn="l">
              <a:spcBef>
                <a:spcPts val="0"/>
              </a:spcBef>
              <a:spcAft>
                <a:spcPts val="0"/>
              </a:spcAft>
              <a:buSzPts val="1800"/>
              <a:buChar char="●"/>
            </a:pPr>
            <a:r>
              <a:rPr lang="en"/>
              <a:t>Skills needed: Critical thinking, ethics understanding, policy knowledge, communication</a:t>
            </a:r>
            <a:endParaRPr/>
          </a:p>
          <a:p>
            <a:pPr indent="-342900" lvl="0" marL="457200" rtl="0" algn="l">
              <a:spcBef>
                <a:spcPts val="0"/>
              </a:spcBef>
              <a:spcAft>
                <a:spcPts val="0"/>
              </a:spcAft>
              <a:buSzPts val="1800"/>
              <a:buChar char="●"/>
            </a:pPr>
            <a:r>
              <a:rPr lang="en"/>
              <a:t>Pakistan demand: Emerging – banks, government, large companies</a:t>
            </a:r>
            <a:endParaRPr/>
          </a:p>
          <a:p>
            <a:pPr indent="-342900" lvl="0" marL="457200" rtl="0" algn="l">
              <a:spcBef>
                <a:spcPts val="0"/>
              </a:spcBef>
              <a:spcAft>
                <a:spcPts val="0"/>
              </a:spcAft>
              <a:buSzPts val="1800"/>
              <a:buChar char="●"/>
            </a:pPr>
            <a:r>
              <a:rPr lang="en"/>
              <a:t>Global demand: EXPLODING – every major company needs ethics oversight</a:t>
            </a:r>
            <a:endParaRPr/>
          </a:p>
          <a:p>
            <a:pPr indent="-342900" lvl="0" marL="457200" rtl="0" algn="l">
              <a:spcBef>
                <a:spcPts val="0"/>
              </a:spcBef>
              <a:spcAft>
                <a:spcPts val="0"/>
              </a:spcAft>
              <a:buSzPts val="1800"/>
              <a:buChar char="●"/>
            </a:pPr>
            <a:r>
              <a:rPr lang="en"/>
              <a:t>Entry path: Relevant degree + AI understanding + ethics focus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6 – AI Content &amp; Marketing (The Creator)</a:t>
            </a:r>
            <a:endParaRPr/>
          </a:p>
        </p:txBody>
      </p:sp>
      <p:sp>
        <p:nvSpPr>
          <p:cNvPr id="290" name="Google Shape;290;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Use AI to create content, campaigns, marketing materials</a:t>
            </a:r>
            <a:endParaRPr/>
          </a:p>
          <a:p>
            <a:pPr indent="-342900" lvl="0" marL="457200" rtl="0" algn="l">
              <a:spcBef>
                <a:spcPts val="0"/>
              </a:spcBef>
              <a:spcAft>
                <a:spcPts val="0"/>
              </a:spcAft>
              <a:buSzPts val="1800"/>
              <a:buChar char="●"/>
            </a:pPr>
            <a:r>
              <a:rPr lang="en"/>
              <a:t>Daily tasks: Generating ideas, editing AI outputs, creating content, analyzing performance</a:t>
            </a:r>
            <a:endParaRPr/>
          </a:p>
          <a:p>
            <a:pPr indent="-342900" lvl="0" marL="457200" rtl="0" algn="l">
              <a:spcBef>
                <a:spcPts val="0"/>
              </a:spcBef>
              <a:spcAft>
                <a:spcPts val="0"/>
              </a:spcAft>
              <a:buSzPts val="1800"/>
              <a:buChar char="●"/>
            </a:pPr>
            <a:r>
              <a:rPr lang="en"/>
              <a:t>Who it's for: Arts students, media students, creative thinkers, writers</a:t>
            </a:r>
            <a:endParaRPr/>
          </a:p>
          <a:p>
            <a:pPr indent="-342900" lvl="0" marL="457200" rtl="0" algn="l">
              <a:spcBef>
                <a:spcPts val="0"/>
              </a:spcBef>
              <a:spcAft>
                <a:spcPts val="0"/>
              </a:spcAft>
              <a:buSzPts val="1800"/>
              <a:buChar char="●"/>
            </a:pPr>
            <a:r>
              <a:rPr lang="en"/>
              <a:t>Skills needed: Creativity, writing, visual thinking, understanding audiences</a:t>
            </a:r>
            <a:endParaRPr/>
          </a:p>
          <a:p>
            <a:pPr indent="-342900" lvl="0" marL="457200" rtl="0" algn="l">
              <a:spcBef>
                <a:spcPts val="0"/>
              </a:spcBef>
              <a:spcAft>
                <a:spcPts val="0"/>
              </a:spcAft>
              <a:buSzPts val="1800"/>
              <a:buChar char="●"/>
            </a:pPr>
            <a:r>
              <a:rPr lang="en"/>
              <a:t>Pakistan demand: High in digital agencies, marketing departments, media</a:t>
            </a:r>
            <a:endParaRPr/>
          </a:p>
          <a:p>
            <a:pPr indent="-342900" lvl="0" marL="457200" rtl="0" algn="l">
              <a:spcBef>
                <a:spcPts val="0"/>
              </a:spcBef>
              <a:spcAft>
                <a:spcPts val="0"/>
              </a:spcAft>
              <a:buSzPts val="1800"/>
              <a:buChar char="●"/>
            </a:pPr>
            <a:r>
              <a:rPr lang="en"/>
              <a:t>Global demand: Very high – every company needs content</a:t>
            </a:r>
            <a:endParaRPr/>
          </a:p>
          <a:p>
            <a:pPr indent="-342900" lvl="0" marL="457200" rtl="0" algn="l">
              <a:spcBef>
                <a:spcPts val="0"/>
              </a:spcBef>
              <a:spcAft>
                <a:spcPts val="0"/>
              </a:spcAft>
              <a:buSzPts val="1800"/>
              <a:buChar char="●"/>
            </a:pPr>
            <a:r>
              <a:rPr lang="en"/>
              <a:t>Entry path: Creative degree + AI tool proficiency + portfolio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7 – AI Automation Developer (The Efficiency Expert)</a:t>
            </a:r>
            <a:endParaRPr/>
          </a:p>
        </p:txBody>
      </p:sp>
      <p:sp>
        <p:nvSpPr>
          <p:cNvPr id="296" name="Google Shape;296;p50"/>
          <p:cNvSpPr txBox="1"/>
          <p:nvPr>
            <p:ph idx="1" type="body"/>
          </p:nvPr>
        </p:nvSpPr>
        <p:spPr>
          <a:xfrm>
            <a:off x="311700" y="13361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Build systems that automate repetitive work using AI</a:t>
            </a:r>
            <a:endParaRPr/>
          </a:p>
          <a:p>
            <a:pPr indent="-342900" lvl="0" marL="457200" rtl="0" algn="l">
              <a:spcBef>
                <a:spcPts val="0"/>
              </a:spcBef>
              <a:spcAft>
                <a:spcPts val="0"/>
              </a:spcAft>
              <a:buSzPts val="1800"/>
              <a:buChar char="●"/>
            </a:pPr>
            <a:r>
              <a:rPr lang="en"/>
              <a:t>Daily tasks: Identifying processes to automate, building workflows, testing solutions</a:t>
            </a:r>
            <a:endParaRPr/>
          </a:p>
          <a:p>
            <a:pPr indent="-342900" lvl="0" marL="457200" rtl="0" algn="l">
              <a:spcBef>
                <a:spcPts val="0"/>
              </a:spcBef>
              <a:spcAft>
                <a:spcPts val="0"/>
              </a:spcAft>
              <a:buSzPts val="1800"/>
              <a:buChar char="●"/>
            </a:pPr>
            <a:r>
              <a:rPr lang="en"/>
              <a:t>Who it's for: Anyone who loves efficiency, problem-solving, making things work better</a:t>
            </a:r>
            <a:endParaRPr/>
          </a:p>
          <a:p>
            <a:pPr indent="-342900" lvl="0" marL="457200" rtl="0" algn="l">
              <a:spcBef>
                <a:spcPts val="0"/>
              </a:spcBef>
              <a:spcAft>
                <a:spcPts val="0"/>
              </a:spcAft>
              <a:buSzPts val="1800"/>
              <a:buChar char="●"/>
            </a:pPr>
            <a:r>
              <a:rPr lang="en"/>
              <a:t>Skills needed: Logical thinking, process understanding, basic tech skills</a:t>
            </a:r>
            <a:endParaRPr/>
          </a:p>
          <a:p>
            <a:pPr indent="-342900" lvl="0" marL="457200" rtl="0" algn="l">
              <a:spcBef>
                <a:spcPts val="0"/>
              </a:spcBef>
              <a:spcAft>
                <a:spcPts val="0"/>
              </a:spcAft>
              <a:buSzPts val="1800"/>
              <a:buChar char="●"/>
            </a:pPr>
            <a:r>
              <a:rPr lang="en"/>
              <a:t>Pakistan demand: Growing in all industries – every company needs efficiency</a:t>
            </a:r>
            <a:endParaRPr/>
          </a:p>
          <a:p>
            <a:pPr indent="-342900" lvl="0" marL="457200" rtl="0" algn="l">
              <a:spcBef>
                <a:spcPts val="0"/>
              </a:spcBef>
              <a:spcAft>
                <a:spcPts val="0"/>
              </a:spcAft>
              <a:buSzPts val="1800"/>
              <a:buChar char="●"/>
            </a:pPr>
            <a:r>
              <a:rPr lang="en"/>
              <a:t>Global demand: High – businesses want to save time and money</a:t>
            </a:r>
            <a:endParaRPr/>
          </a:p>
          <a:p>
            <a:pPr indent="-342900" lvl="0" marL="457200" rtl="0" algn="l">
              <a:spcBef>
                <a:spcPts val="0"/>
              </a:spcBef>
              <a:spcAft>
                <a:spcPts val="0"/>
              </a:spcAft>
              <a:buSzPts val="1800"/>
              <a:buChar char="●"/>
            </a:pPr>
            <a:r>
              <a:rPr lang="en"/>
              <a:t>Entry path: Any background + curiosity + hands-on practice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Path 8 – AI Quality &amp; Evaluation (The Tester)</a:t>
            </a:r>
            <a:endParaRPr/>
          </a:p>
        </p:txBody>
      </p:sp>
      <p:sp>
        <p:nvSpPr>
          <p:cNvPr id="302" name="Google Shape;30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they do: Test AI outputs, find mistakes, help improve systems</a:t>
            </a:r>
            <a:endParaRPr/>
          </a:p>
          <a:p>
            <a:pPr indent="-342900" lvl="0" marL="457200" rtl="0" algn="l">
              <a:spcBef>
                <a:spcPts val="0"/>
              </a:spcBef>
              <a:spcAft>
                <a:spcPts val="0"/>
              </a:spcAft>
              <a:buSzPts val="1800"/>
              <a:buChar char="●"/>
            </a:pPr>
            <a:r>
              <a:rPr lang="en"/>
              <a:t>Daily tasks: Reviewing AI responses, identifying errors, providing feedback</a:t>
            </a:r>
            <a:endParaRPr/>
          </a:p>
          <a:p>
            <a:pPr indent="-342900" lvl="0" marL="457200" rtl="0" algn="l">
              <a:spcBef>
                <a:spcPts val="0"/>
              </a:spcBef>
              <a:spcAft>
                <a:spcPts val="0"/>
              </a:spcAft>
              <a:buSzPts val="1800"/>
              <a:buChar char="●"/>
            </a:pPr>
            <a:r>
              <a:rPr lang="en"/>
              <a:t>Who it's for: Detail-oriented people, anyone who likes finding errors, patient individuals</a:t>
            </a:r>
            <a:endParaRPr/>
          </a:p>
          <a:p>
            <a:pPr indent="-342900" lvl="0" marL="457200" rtl="0" algn="l">
              <a:spcBef>
                <a:spcPts val="0"/>
              </a:spcBef>
              <a:spcAft>
                <a:spcPts val="0"/>
              </a:spcAft>
              <a:buSzPts val="1800"/>
              <a:buChar char="●"/>
            </a:pPr>
            <a:r>
              <a:rPr lang="en"/>
              <a:t>Skills needed: Attention to detail, patience, clear communication</a:t>
            </a:r>
            <a:endParaRPr/>
          </a:p>
          <a:p>
            <a:pPr indent="-342900" lvl="0" marL="457200" rtl="0" algn="l">
              <a:spcBef>
                <a:spcPts val="0"/>
              </a:spcBef>
              <a:spcAft>
                <a:spcPts val="0"/>
              </a:spcAft>
              <a:buSzPts val="1800"/>
              <a:buChar char="●"/>
            </a:pPr>
            <a:r>
              <a:rPr lang="en"/>
              <a:t>Pakistan demand: Emerging – AI companies need testers</a:t>
            </a:r>
            <a:endParaRPr/>
          </a:p>
          <a:p>
            <a:pPr indent="-342900" lvl="0" marL="457200" rtl="0" algn="l">
              <a:spcBef>
                <a:spcPts val="0"/>
              </a:spcBef>
              <a:spcAft>
                <a:spcPts val="0"/>
              </a:spcAft>
              <a:buSzPts val="1800"/>
              <a:buChar char="●"/>
            </a:pPr>
            <a:r>
              <a:rPr lang="en"/>
              <a:t>Global demand: HIGH – AI systems need human feedback to improve</a:t>
            </a:r>
            <a:endParaRPr/>
          </a:p>
          <a:p>
            <a:pPr indent="-342900" lvl="0" marL="457200" rtl="0" algn="l">
              <a:spcBef>
                <a:spcPts val="0"/>
              </a:spcBef>
              <a:spcAft>
                <a:spcPts val="0"/>
              </a:spcAft>
              <a:buSzPts val="1800"/>
              <a:buChar char="●"/>
            </a:pPr>
            <a:r>
              <a:rPr lang="en"/>
              <a:t>Entry path: No degree required! Often entry-level remote work</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Reality Check – What Companies ACTUALLY Value</a:t>
            </a:r>
            <a:endParaRPr/>
          </a:p>
        </p:txBody>
      </p:sp>
      <p:sp>
        <p:nvSpPr>
          <p:cNvPr id="308" name="Google Shape;30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I've talked to dozens of employers in Pakistan and globally</a:t>
            </a:r>
            <a:endParaRPr/>
          </a:p>
          <a:p>
            <a:pPr indent="0" lvl="0" marL="0" rtl="0" algn="l">
              <a:spcBef>
                <a:spcPts val="1200"/>
              </a:spcBef>
              <a:spcAft>
                <a:spcPts val="0"/>
              </a:spcAft>
              <a:buNone/>
            </a:pPr>
            <a:r>
              <a:rPr lang="en"/>
              <a:t>Here's what they consistently say they value:</a:t>
            </a:r>
            <a:endParaRPr/>
          </a:p>
          <a:p>
            <a:pPr indent="-342900" lvl="0" marL="457200" rtl="0" algn="l">
              <a:spcBef>
                <a:spcPts val="1200"/>
              </a:spcBef>
              <a:spcAft>
                <a:spcPts val="0"/>
              </a:spcAft>
              <a:buSzPts val="1800"/>
              <a:buChar char="●"/>
            </a:pPr>
            <a:r>
              <a:rPr lang="en"/>
              <a:t>Problem-solving ability – Can you figure things out?</a:t>
            </a:r>
            <a:endParaRPr/>
          </a:p>
          <a:p>
            <a:pPr indent="-342900" lvl="0" marL="457200" rtl="0" algn="l">
              <a:spcBef>
                <a:spcPts val="0"/>
              </a:spcBef>
              <a:spcAft>
                <a:spcPts val="0"/>
              </a:spcAft>
              <a:buSzPts val="1800"/>
              <a:buChar char="●"/>
            </a:pPr>
            <a:r>
              <a:rPr lang="en"/>
              <a:t>Communication skills – Can you explain your work?</a:t>
            </a:r>
            <a:endParaRPr/>
          </a:p>
          <a:p>
            <a:pPr indent="-342900" lvl="0" marL="457200" rtl="0" algn="l">
              <a:spcBef>
                <a:spcPts val="0"/>
              </a:spcBef>
              <a:spcAft>
                <a:spcPts val="0"/>
              </a:spcAft>
              <a:buSzPts val="1800"/>
              <a:buChar char="●"/>
            </a:pPr>
            <a:r>
              <a:rPr lang="en"/>
              <a:t>Learning agility – Can you adapt when things change?</a:t>
            </a:r>
            <a:endParaRPr/>
          </a:p>
          <a:p>
            <a:pPr indent="-342900" lvl="0" marL="457200" rtl="0" algn="l">
              <a:spcBef>
                <a:spcPts val="0"/>
              </a:spcBef>
              <a:spcAft>
                <a:spcPts val="0"/>
              </a:spcAft>
              <a:buSzPts val="1800"/>
              <a:buChar char="●"/>
            </a:pPr>
            <a:r>
              <a:rPr lang="en"/>
              <a:t>Ethics and responsibility – Can we trust you?</a:t>
            </a:r>
            <a:endParaRPr/>
          </a:p>
          <a:p>
            <a:pPr indent="-342900" lvl="0" marL="457200" rtl="0" algn="l">
              <a:spcBef>
                <a:spcPts val="0"/>
              </a:spcBef>
              <a:spcAft>
                <a:spcPts val="0"/>
              </a:spcAft>
              <a:buSzPts val="1800"/>
              <a:buChar char="●"/>
            </a:pPr>
            <a:r>
              <a:rPr lang="en"/>
              <a:t>Team collaboration – Can you work with others?</a:t>
            </a:r>
            <a:endParaRPr/>
          </a:p>
          <a:p>
            <a:pPr indent="-342900" lvl="0" marL="457200" rtl="0" algn="l">
              <a:spcBef>
                <a:spcPts val="0"/>
              </a:spcBef>
              <a:spcAft>
                <a:spcPts val="0"/>
              </a:spcAft>
              <a:buSzPts val="1800"/>
              <a:buChar char="●"/>
            </a:pPr>
            <a:r>
              <a:rPr lang="en"/>
              <a:t>Technical skills can be taught. These are harder to teach.</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Projects Beat Certificates Every Time</a:t>
            </a:r>
            <a:endParaRPr/>
          </a:p>
        </p:txBody>
      </p:sp>
      <p:sp>
        <p:nvSpPr>
          <p:cNvPr id="314" name="Google Shape;31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AI, what you can DO matters more than what you've STUDIED</a:t>
            </a:r>
            <a:endParaRPr/>
          </a:p>
          <a:p>
            <a:pPr indent="0" lvl="0" marL="0" rtl="0" algn="l">
              <a:spcBef>
                <a:spcPts val="1200"/>
              </a:spcBef>
              <a:spcAft>
                <a:spcPts val="0"/>
              </a:spcAft>
              <a:buNone/>
            </a:pPr>
            <a:r>
              <a:rPr lang="en"/>
              <a:t>Two candidates:</a:t>
            </a:r>
            <a:endParaRPr/>
          </a:p>
          <a:p>
            <a:pPr indent="0" lvl="0" marL="0" rtl="0" algn="l">
              <a:spcBef>
                <a:spcPts val="1200"/>
              </a:spcBef>
              <a:spcAft>
                <a:spcPts val="0"/>
              </a:spcAft>
              <a:buNone/>
            </a:pPr>
            <a:r>
              <a:rPr lang="en"/>
              <a:t>Candidate A: 5 certificates, no projects</a:t>
            </a:r>
            <a:endParaRPr/>
          </a:p>
          <a:p>
            <a:pPr indent="0" lvl="0" marL="0" rtl="0" algn="l">
              <a:spcBef>
                <a:spcPts val="1200"/>
              </a:spcBef>
              <a:spcAft>
                <a:spcPts val="0"/>
              </a:spcAft>
              <a:buNone/>
            </a:pPr>
            <a:r>
              <a:rPr lang="en"/>
              <a:t>Candidate B: 3 real projects (even small ones), no certificates</a:t>
            </a:r>
            <a:endParaRPr/>
          </a:p>
          <a:p>
            <a:pPr indent="0" lvl="0" marL="0" rtl="0" algn="l">
              <a:spcBef>
                <a:spcPts val="1200"/>
              </a:spcBef>
              <a:spcAft>
                <a:spcPts val="0"/>
              </a:spcAft>
              <a:buNone/>
            </a:pPr>
            <a:r>
              <a:rPr lang="en"/>
              <a:t>Candidate B gets the job almost every time</a:t>
            </a:r>
            <a:endParaRPr/>
          </a:p>
          <a:p>
            <a:pPr indent="0" lvl="0" marL="0" rtl="0" algn="l">
              <a:spcBef>
                <a:spcPts val="1200"/>
              </a:spcBef>
              <a:spcAft>
                <a:spcPts val="0"/>
              </a:spcAft>
              <a:buNone/>
            </a:pPr>
            <a:r>
              <a:rPr lang="en"/>
              <a:t>Why? Projects prove you can actually do the work</a:t>
            </a:r>
            <a:endParaRPr/>
          </a:p>
          <a:p>
            <a:pPr indent="0" lvl="0" marL="0" rtl="0" algn="l">
              <a:spcBef>
                <a:spcPts val="1200"/>
              </a:spcBef>
              <a:spcAft>
                <a:spcPts val="1200"/>
              </a:spcAft>
              <a:buNone/>
            </a:pPr>
            <a:r>
              <a:rPr lang="en"/>
              <a:t>Certificates prove you can complete courses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GitHub and Portfolios – Your New Resume</a:t>
            </a:r>
            <a:endParaRPr/>
          </a:p>
        </p:txBody>
      </p:sp>
      <p:sp>
        <p:nvSpPr>
          <p:cNvPr id="320" name="Google Shape;320;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Employers WILL Google you</a:t>
            </a:r>
            <a:endParaRPr/>
          </a:p>
          <a:p>
            <a:pPr indent="0" lvl="0" marL="0" rtl="0" algn="l">
              <a:spcBef>
                <a:spcPts val="1200"/>
              </a:spcBef>
              <a:spcAft>
                <a:spcPts val="0"/>
              </a:spcAft>
              <a:buNone/>
            </a:pPr>
            <a:r>
              <a:rPr lang="en"/>
              <a:t>They WILL look for your work online</a:t>
            </a:r>
            <a:endParaRPr/>
          </a:p>
          <a:p>
            <a:pPr indent="0" lvl="0" marL="0" rtl="0" algn="l">
              <a:spcBef>
                <a:spcPts val="1200"/>
              </a:spcBef>
              <a:spcAft>
                <a:spcPts val="0"/>
              </a:spcAft>
              <a:buNone/>
            </a:pPr>
            <a:r>
              <a:rPr lang="en"/>
              <a:t>What they want to see:</a:t>
            </a:r>
            <a:endParaRPr/>
          </a:p>
          <a:p>
            <a:pPr indent="-342900" lvl="0" marL="457200" rtl="0" algn="l">
              <a:spcBef>
                <a:spcPts val="1200"/>
              </a:spcBef>
              <a:spcAft>
                <a:spcPts val="0"/>
              </a:spcAft>
              <a:buSzPts val="1800"/>
              <a:buChar char="●"/>
            </a:pPr>
            <a:r>
              <a:rPr lang="en"/>
              <a:t>GitHub profile with projects (even small ones)</a:t>
            </a:r>
            <a:endParaRPr/>
          </a:p>
          <a:p>
            <a:pPr indent="-342900" lvl="0" marL="457200" rtl="0" algn="l">
              <a:spcBef>
                <a:spcPts val="0"/>
              </a:spcBef>
              <a:spcAft>
                <a:spcPts val="0"/>
              </a:spcAft>
              <a:buSzPts val="1800"/>
              <a:buChar char="●"/>
            </a:pPr>
            <a:r>
              <a:rPr lang="en"/>
              <a:t>LinkedIn showing your learning journey</a:t>
            </a:r>
            <a:endParaRPr/>
          </a:p>
          <a:p>
            <a:pPr indent="-342900" lvl="0" marL="457200" rtl="0" algn="l">
              <a:spcBef>
                <a:spcPts val="0"/>
              </a:spcBef>
              <a:spcAft>
                <a:spcPts val="0"/>
              </a:spcAft>
              <a:buSzPts val="1800"/>
              <a:buChar char="●"/>
            </a:pPr>
            <a:r>
              <a:rPr lang="en"/>
              <a:t>Personal website or portfolio</a:t>
            </a:r>
            <a:endParaRPr/>
          </a:p>
          <a:p>
            <a:pPr indent="-342900" lvl="0" marL="457200" rtl="0" algn="l">
              <a:spcBef>
                <a:spcPts val="0"/>
              </a:spcBef>
              <a:spcAft>
                <a:spcPts val="0"/>
              </a:spcAft>
              <a:buSzPts val="1800"/>
              <a:buChar char="●"/>
            </a:pPr>
            <a:r>
              <a:rPr lang="en"/>
              <a:t>Blog posts about what you're learning</a:t>
            </a:r>
            <a:endParaRPr/>
          </a:p>
          <a:p>
            <a:pPr indent="-342900" lvl="0" marL="457200" rtl="0" algn="l">
              <a:spcBef>
                <a:spcPts val="0"/>
              </a:spcBef>
              <a:spcAft>
                <a:spcPts val="0"/>
              </a:spcAft>
              <a:buSzPts val="1800"/>
              <a:buChar char="●"/>
            </a:pPr>
            <a:r>
              <a:rPr lang="en"/>
              <a:t>Contributions to discussions</a:t>
            </a:r>
            <a:endParaRPr/>
          </a:p>
          <a:p>
            <a:pPr indent="-342900" lvl="0" marL="457200" rtl="0" algn="l">
              <a:spcBef>
                <a:spcPts val="0"/>
              </a:spcBef>
              <a:spcAft>
                <a:spcPts val="0"/>
              </a:spcAft>
              <a:buSzPts val="1800"/>
              <a:buChar char="●"/>
            </a:pPr>
            <a:r>
              <a:rPr lang="en"/>
              <a:t>This is especially important for remote/global jobs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Internships and Freelancing – Start Small, Think Big</a:t>
            </a:r>
            <a:endParaRPr/>
          </a:p>
        </p:txBody>
      </p:sp>
      <p:sp>
        <p:nvSpPr>
          <p:cNvPr id="326" name="Google Shape;326;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Classic catch-22: Can't get job without experience, can't get experience without job</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Solutions:</a:t>
            </a:r>
            <a:endParaRPr/>
          </a:p>
          <a:p>
            <a:pPr indent="-342900" lvl="0" marL="457200" rtl="0" algn="l">
              <a:spcBef>
                <a:spcPts val="1200"/>
              </a:spcBef>
              <a:spcAft>
                <a:spcPts val="0"/>
              </a:spcAft>
              <a:buSzPts val="1800"/>
              <a:buChar char="●"/>
            </a:pPr>
            <a:r>
              <a:rPr lang="en"/>
              <a:t>Freelancing – Start with small projects on Upwork/Fiverr</a:t>
            </a:r>
            <a:endParaRPr/>
          </a:p>
          <a:p>
            <a:pPr indent="-342900" lvl="0" marL="457200" rtl="0" algn="l">
              <a:spcBef>
                <a:spcPts val="0"/>
              </a:spcBef>
              <a:spcAft>
                <a:spcPts val="0"/>
              </a:spcAft>
              <a:buSzPts val="1800"/>
              <a:buChar char="●"/>
            </a:pPr>
            <a:r>
              <a:rPr lang="en"/>
              <a:t>Internships – Local companies often need AI help</a:t>
            </a:r>
            <a:endParaRPr/>
          </a:p>
          <a:p>
            <a:pPr indent="-342900" lvl="0" marL="457200" rtl="0" algn="l">
              <a:spcBef>
                <a:spcPts val="0"/>
              </a:spcBef>
              <a:spcAft>
                <a:spcPts val="0"/>
              </a:spcAft>
              <a:buSzPts val="1800"/>
              <a:buChar char="●"/>
            </a:pPr>
            <a:r>
              <a:rPr lang="en"/>
              <a:t>Own projects – Build something for yourself or your community</a:t>
            </a:r>
            <a:endParaRPr/>
          </a:p>
          <a:p>
            <a:pPr indent="-342900" lvl="0" marL="457200" rtl="0" algn="l">
              <a:spcBef>
                <a:spcPts val="0"/>
              </a:spcBef>
              <a:spcAft>
                <a:spcPts val="0"/>
              </a:spcAft>
              <a:buSzPts val="1800"/>
              <a:buChar char="●"/>
            </a:pPr>
            <a:r>
              <a:rPr lang="en"/>
              <a:t>Volunteer – Help a nonprofit with AI (builds portfolio and does good)</a:t>
            </a:r>
            <a:endParaRPr/>
          </a:p>
          <a:p>
            <a:pPr indent="-342900" lvl="0" marL="457200" rtl="0" algn="l">
              <a:spcBef>
                <a:spcPts val="0"/>
              </a:spcBef>
              <a:spcAft>
                <a:spcPts val="0"/>
              </a:spcAft>
              <a:buSzPts val="1800"/>
              <a:buChar char="●"/>
            </a:pPr>
            <a:r>
              <a:rPr lang="en"/>
              <a:t>Collaborate – Work with classmates on projects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Ethics in AI – Why This Makes You More Employable</a:t>
            </a:r>
            <a:endParaRPr/>
          </a:p>
        </p:txBody>
      </p:sp>
      <p:sp>
        <p:nvSpPr>
          <p:cNvPr id="332" name="Google Shape;332;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Companies are terrified of AI mistakes damaging their reputation</a:t>
            </a:r>
            <a:endParaRPr/>
          </a:p>
          <a:p>
            <a:pPr indent="0" lvl="0" marL="0" rtl="0" algn="l">
              <a:spcBef>
                <a:spcPts val="1200"/>
              </a:spcBef>
              <a:spcAft>
                <a:spcPts val="0"/>
              </a:spcAft>
              <a:buNone/>
            </a:pPr>
            <a:r>
              <a:rPr lang="en"/>
              <a:t>They need people who understand:</a:t>
            </a:r>
            <a:endParaRPr/>
          </a:p>
          <a:p>
            <a:pPr indent="-342900" lvl="0" marL="457200" rtl="0" algn="l">
              <a:spcBef>
                <a:spcPts val="1200"/>
              </a:spcBef>
              <a:spcAft>
                <a:spcPts val="0"/>
              </a:spcAft>
              <a:buSzPts val="1800"/>
              <a:buChar char="●"/>
            </a:pPr>
            <a:r>
              <a:rPr lang="en"/>
              <a:t>Data privacy – Not sharing sensitive information</a:t>
            </a:r>
            <a:endParaRPr/>
          </a:p>
          <a:p>
            <a:pPr indent="-342900" lvl="0" marL="457200" rtl="0" algn="l">
              <a:spcBef>
                <a:spcPts val="0"/>
              </a:spcBef>
              <a:spcAft>
                <a:spcPts val="0"/>
              </a:spcAft>
              <a:buSzPts val="1800"/>
              <a:buChar char="●"/>
            </a:pPr>
            <a:r>
              <a:rPr lang="en"/>
              <a:t>Bias awareness – Knowing AI can be unfair</a:t>
            </a:r>
            <a:endParaRPr/>
          </a:p>
          <a:p>
            <a:pPr indent="-342900" lvl="0" marL="457200" rtl="0" algn="l">
              <a:spcBef>
                <a:spcPts val="0"/>
              </a:spcBef>
              <a:spcAft>
                <a:spcPts val="0"/>
              </a:spcAft>
              <a:buSzPts val="1800"/>
              <a:buChar char="●"/>
            </a:pPr>
            <a:r>
              <a:rPr lang="en"/>
              <a:t>Hallucination risks – AI can make things up</a:t>
            </a:r>
            <a:endParaRPr/>
          </a:p>
          <a:p>
            <a:pPr indent="-342900" lvl="0" marL="457200" rtl="0" algn="l">
              <a:spcBef>
                <a:spcPts val="0"/>
              </a:spcBef>
              <a:spcAft>
                <a:spcPts val="0"/>
              </a:spcAft>
              <a:buSzPts val="1800"/>
              <a:buChar char="●"/>
            </a:pPr>
            <a:r>
              <a:rPr lang="en"/>
              <a:t>Misuse prevention – Using AI for good, not harm</a:t>
            </a:r>
            <a:endParaRPr/>
          </a:p>
          <a:p>
            <a:pPr indent="-342900" lvl="0" marL="457200" rtl="0" algn="l">
              <a:spcBef>
                <a:spcPts val="0"/>
              </a:spcBef>
              <a:spcAft>
                <a:spcPts val="0"/>
              </a:spcAft>
              <a:buSzPts val="1800"/>
              <a:buChar char="●"/>
            </a:pPr>
            <a:r>
              <a:rPr lang="en"/>
              <a:t>Ethical AI practitioners are in HIGH demand</a:t>
            </a:r>
            <a:endParaRPr/>
          </a:p>
          <a:p>
            <a:pPr indent="-342900" lvl="0" marL="457200" rtl="0" algn="l">
              <a:spcBef>
                <a:spcPts val="0"/>
              </a:spcBef>
              <a:spcAft>
                <a:spcPts val="0"/>
              </a:spcAft>
              <a:buSzPts val="1800"/>
              <a:buChar char="●"/>
            </a:pPr>
            <a:r>
              <a:rPr lang="en"/>
              <a:t>This isn't just "nice to have" – it's essential</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Privacy – Especially Important in Pakistan</a:t>
            </a:r>
            <a:endParaRPr/>
          </a:p>
        </p:txBody>
      </p:sp>
      <p:sp>
        <p:nvSpPr>
          <p:cNvPr id="338" name="Google Shape;33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using AI, you often share data</a:t>
            </a:r>
            <a:endParaRPr/>
          </a:p>
          <a:p>
            <a:pPr indent="0" lvl="0" marL="0" rtl="0" algn="l">
              <a:spcBef>
                <a:spcPts val="1200"/>
              </a:spcBef>
              <a:spcAft>
                <a:spcPts val="0"/>
              </a:spcAft>
              <a:buNone/>
            </a:pPr>
            <a:r>
              <a:rPr lang="en"/>
              <a:t>In Pakistan, we don't always have strong data protection laws</a:t>
            </a:r>
            <a:endParaRPr/>
          </a:p>
          <a:p>
            <a:pPr indent="0" lvl="0" marL="0" rtl="0" algn="l">
              <a:spcBef>
                <a:spcPts val="1200"/>
              </a:spcBef>
              <a:spcAft>
                <a:spcPts val="0"/>
              </a:spcAft>
              <a:buNone/>
            </a:pPr>
            <a:r>
              <a:rPr lang="en"/>
              <a:t>Important rules:</a:t>
            </a:r>
            <a:endParaRPr/>
          </a:p>
          <a:p>
            <a:pPr indent="-342900" lvl="0" marL="457200" rtl="0" algn="l">
              <a:spcBef>
                <a:spcPts val="1200"/>
              </a:spcBef>
              <a:spcAft>
                <a:spcPts val="0"/>
              </a:spcAft>
              <a:buSzPts val="1800"/>
              <a:buChar char="●"/>
            </a:pPr>
            <a:r>
              <a:rPr lang="en"/>
              <a:t>Never share sensitive customer data with public AI tools</a:t>
            </a:r>
            <a:endParaRPr/>
          </a:p>
          <a:p>
            <a:pPr indent="-342900" lvl="0" marL="457200" rtl="0" algn="l">
              <a:spcBef>
                <a:spcPts val="0"/>
              </a:spcBef>
              <a:spcAft>
                <a:spcPts val="0"/>
              </a:spcAft>
              <a:buSzPts val="1800"/>
              <a:buChar char="●"/>
            </a:pPr>
            <a:r>
              <a:rPr lang="en"/>
              <a:t>Be careful with personal information</a:t>
            </a:r>
            <a:endParaRPr/>
          </a:p>
          <a:p>
            <a:pPr indent="-342900" lvl="0" marL="457200" rtl="0" algn="l">
              <a:spcBef>
                <a:spcPts val="0"/>
              </a:spcBef>
              <a:spcAft>
                <a:spcPts val="0"/>
              </a:spcAft>
              <a:buSzPts val="1800"/>
              <a:buChar char="●"/>
            </a:pPr>
            <a:r>
              <a:rPr lang="en"/>
              <a:t>Understand what data you're sharing</a:t>
            </a:r>
            <a:endParaRPr/>
          </a:p>
          <a:p>
            <a:pPr indent="-342900" lvl="0" marL="457200" rtl="0" algn="l">
              <a:spcBef>
                <a:spcPts val="0"/>
              </a:spcBef>
              <a:spcAft>
                <a:spcPts val="0"/>
              </a:spcAft>
              <a:buSzPts val="1800"/>
              <a:buChar char="●"/>
            </a:pPr>
            <a:r>
              <a:rPr lang="en"/>
              <a:t>Know your company's data policies</a:t>
            </a:r>
            <a:endParaRPr/>
          </a:p>
          <a:p>
            <a:pPr indent="-342900" lvl="0" marL="457200" rtl="0" algn="l">
              <a:spcBef>
                <a:spcPts val="0"/>
              </a:spcBef>
              <a:spcAft>
                <a:spcPts val="0"/>
              </a:spcAft>
              <a:buSzPts val="1800"/>
              <a:buChar char="●"/>
            </a:pPr>
            <a:r>
              <a:rPr lang="en"/>
              <a:t>Companies value people who take privacy seriously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Bias and Fairness – Why AI Can Be Unfair</a:t>
            </a:r>
            <a:endParaRPr/>
          </a:p>
        </p:txBody>
      </p:sp>
      <p:sp>
        <p:nvSpPr>
          <p:cNvPr id="344" name="Google Shape;344;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learns from human-created data</a:t>
            </a:r>
            <a:endParaRPr/>
          </a:p>
          <a:p>
            <a:pPr indent="0" lvl="0" marL="0" rtl="0" algn="l">
              <a:spcBef>
                <a:spcPts val="1200"/>
              </a:spcBef>
              <a:spcAft>
                <a:spcPts val="0"/>
              </a:spcAft>
              <a:buNone/>
            </a:pPr>
            <a:r>
              <a:rPr lang="en"/>
              <a:t>If humans are biased, AI learns those biases</a:t>
            </a:r>
            <a:endParaRPr/>
          </a:p>
          <a:p>
            <a:pPr indent="0" lvl="0" marL="0" rtl="0" algn="l">
              <a:spcBef>
                <a:spcPts val="1200"/>
              </a:spcBef>
              <a:spcAft>
                <a:spcPts val="0"/>
              </a:spcAft>
              <a:buNone/>
            </a:pPr>
            <a:r>
              <a:rPr lang="en"/>
              <a:t>Examples:</a:t>
            </a:r>
            <a:endParaRPr/>
          </a:p>
          <a:p>
            <a:pPr indent="-342900" lvl="0" marL="457200" rtl="0" algn="l">
              <a:spcBef>
                <a:spcPts val="1200"/>
              </a:spcBef>
              <a:spcAft>
                <a:spcPts val="0"/>
              </a:spcAft>
              <a:buSzPts val="1800"/>
              <a:buChar char="●"/>
            </a:pPr>
            <a:r>
              <a:rPr lang="en"/>
              <a:t>Hiring AI that favors men over women</a:t>
            </a:r>
            <a:endParaRPr/>
          </a:p>
          <a:p>
            <a:pPr indent="-342900" lvl="0" marL="457200" rtl="0" algn="l">
              <a:spcBef>
                <a:spcPts val="0"/>
              </a:spcBef>
              <a:spcAft>
                <a:spcPts val="0"/>
              </a:spcAft>
              <a:buSzPts val="1800"/>
              <a:buChar char="●"/>
            </a:pPr>
            <a:r>
              <a:rPr lang="en"/>
              <a:t>Loan AI that discriminates against certain groups</a:t>
            </a:r>
            <a:endParaRPr/>
          </a:p>
          <a:p>
            <a:pPr indent="-342900" lvl="0" marL="457200" rtl="0" algn="l">
              <a:spcBef>
                <a:spcPts val="0"/>
              </a:spcBef>
              <a:spcAft>
                <a:spcPts val="0"/>
              </a:spcAft>
              <a:buSzPts val="1800"/>
              <a:buChar char="●"/>
            </a:pPr>
            <a:r>
              <a:rPr lang="en"/>
              <a:t>Image AI that struggles with non-Western faces</a:t>
            </a:r>
            <a:endParaRPr/>
          </a:p>
          <a:p>
            <a:pPr indent="-342900" lvl="0" marL="457200" rtl="0" algn="l">
              <a:spcBef>
                <a:spcPts val="0"/>
              </a:spcBef>
              <a:spcAft>
                <a:spcPts val="0"/>
              </a:spcAft>
              <a:buSzPts val="1800"/>
              <a:buChar char="●"/>
            </a:pPr>
            <a:r>
              <a:rPr lang="en"/>
              <a:t>Companies need people who can spot and fix these issues</a:t>
            </a:r>
            <a:endParaRPr/>
          </a:p>
          <a:p>
            <a:pPr indent="-342900" lvl="0" marL="457200" rtl="0" algn="l">
              <a:spcBef>
                <a:spcPts val="0"/>
              </a:spcBef>
              <a:spcAft>
                <a:spcPts val="0"/>
              </a:spcAft>
              <a:buSzPts val="1800"/>
              <a:buChar char="●"/>
            </a:pPr>
            <a:r>
              <a:rPr lang="en"/>
              <a:t>Understanding bias makes you MORE valuable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